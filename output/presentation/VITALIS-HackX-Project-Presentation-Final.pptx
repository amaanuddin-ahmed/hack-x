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e466e0cf5ee4139" /><Relationship Type="http://schemas.openxmlformats.org/officeDocument/2006/relationships/extended-properties" Target="/docProps/app.xml" Id="R632cdde73cbc46de" /><Relationship Type="http://schemas.openxmlformats.org/officeDocument/2006/relationships/officeDocument" Target="/ppt/presentation.xml" Id="Rcffb1114d3314fee" /></Relationships>
</file>

<file path=ppt/presentation.xml><?xml version="1.0" encoding="utf-8"?>
<p:presentation xmlns:p="http://schemas.openxmlformats.org/presentationml/2006/main">
  <p:sldMasterIdLst>
    <p:sldMasterId xmlns:r="http://schemas.openxmlformats.org/officeDocument/2006/relationships" id="2147483648" r:id="R10451108b19e408c"/>
  </p:sldMasterIdLst>
  <p:notesMasterIdLst>
    <p:notesMasterId xmlns:r="http://schemas.openxmlformats.org/officeDocument/2006/relationships" r:id="Rc59494aa2b1b47a2"/>
  </p:notesMasterIdLst>
  <p:sldIdLst>
    <p:sldId xmlns:r="http://schemas.openxmlformats.org/officeDocument/2006/relationships" id="256" r:id="R4b6bdfadb2d247f5"/>
    <p:sldId xmlns:r="http://schemas.openxmlformats.org/officeDocument/2006/relationships" id="257" r:id="Rafe92a3ae14d413e"/>
    <p:sldId xmlns:r="http://schemas.openxmlformats.org/officeDocument/2006/relationships" id="258" r:id="R155da966bc4644cc"/>
    <p:sldId xmlns:r="http://schemas.openxmlformats.org/officeDocument/2006/relationships" id="259" r:id="Rb24e0b6e928748a7"/>
    <p:sldId xmlns:r="http://schemas.openxmlformats.org/officeDocument/2006/relationships" id="260" r:id="R35f1bc1acdd5455e"/>
    <p:sldId xmlns:r="http://schemas.openxmlformats.org/officeDocument/2006/relationships" id="261" r:id="R71d09b11d8fa4e8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3bb560200dd473f" /><Relationship Type="http://schemas.openxmlformats.org/officeDocument/2006/relationships/slideMaster" Target="/ppt/slideMasters/slideMaster1.xml" Id="R10451108b19e408c" /><Relationship Type="http://schemas.openxmlformats.org/officeDocument/2006/relationships/notesMaster" Target="/ppt/notesMasters/notesMaster1.xml" Id="Rc59494aa2b1b47a2" /><Relationship Type="http://schemas.openxmlformats.org/officeDocument/2006/relationships/presProps" Target="/ppt/presProps.xml" Id="R1ac72562b1694fe1" /><Relationship Type="http://schemas.openxmlformats.org/officeDocument/2006/relationships/tableStyles" Target="/ppt/tableStyles.xml" Id="Rec69f08525944ae5" /><Relationship Type="http://schemas.openxmlformats.org/officeDocument/2006/relationships/slide" Target="/ppt/slides/slide1.xml" Id="R4b6bdfadb2d247f5" /><Relationship Type="http://schemas.openxmlformats.org/officeDocument/2006/relationships/slide" Target="/ppt/slides/slide2.xml" Id="Rafe92a3ae14d413e" /><Relationship Type="http://schemas.openxmlformats.org/officeDocument/2006/relationships/slide" Target="/ppt/slides/slide3.xml" Id="R155da966bc4644cc" /><Relationship Type="http://schemas.openxmlformats.org/officeDocument/2006/relationships/slide" Target="/ppt/slides/slide4.xml" Id="Rb24e0b6e928748a7" /><Relationship Type="http://schemas.openxmlformats.org/officeDocument/2006/relationships/slide" Target="/ppt/slides/slide5.xml" Id="R35f1bc1acdd5455e" /><Relationship Type="http://schemas.openxmlformats.org/officeDocument/2006/relationships/slide" Target="/ppt/slides/slide6.xml" Id="R71d09b11d8fa4e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c5adca574848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4ea9fcf6a84c2c" /><Relationship Type="http://schemas.openxmlformats.org/officeDocument/2006/relationships/notesMaster" Target="/ppt/notesMasters/notesMaster1.xml" Id="R8c4f72d75b0b42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cad7e5b2274c9d" /><Relationship Type="http://schemas.openxmlformats.org/officeDocument/2006/relationships/notesMaster" Target="/ppt/notesMasters/notesMaster1.xml" Id="R890d71daef0441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886dc5bf8b4065" /><Relationship Type="http://schemas.openxmlformats.org/officeDocument/2006/relationships/notesMaster" Target="/ppt/notesMasters/notesMaster1.xml" Id="R59d31f8c80ae4ab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bb4fb9cab14e4b" /><Relationship Type="http://schemas.openxmlformats.org/officeDocument/2006/relationships/notesMaster" Target="/ppt/notesMasters/notesMaster1.xml" Id="Rd8b712c1d11242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67cc9f992b4ec2" /><Relationship Type="http://schemas.openxmlformats.org/officeDocument/2006/relationships/notesMaster" Target="/ppt/notesMasters/notesMaster1.xml" Id="Ra3a4d16485894980" /></Relationships>
</file>

<file path=ppt/notesSlides/_rels/notesSlide6.xml.rels>&#65279;<?xml version="1.0" encoding="utf-8"?><Relationships xmlns="http://schemas.openxmlformats.org/package/2006/relationships"><Relationship Type="http://schemas.openxmlformats.org/officeDocument/2006/relationships/slide" Target="/ppt/slides/slide6.xml" Id="R4839ede633a24714" /><Relationship Type="http://schemas.openxmlformats.org/officeDocument/2006/relationships/notesMaster" Target="/ppt/notesMasters/notesMaster1.xml" Id="Ra59b3f2c81c14fa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“We all make food decisions every day. Many tools can show nutrition or help track health, but people still have to connect those details themselves. Vitalis is designed to connect personal health context with everyday food choices.”</a:t>
            </a:r>
          </a:p>
          <a:p xmlns:a="http://schemas.openxmlformats.org/drawingml/2006/main">
            <a:r>
              <a:t>Problem statement ID intentionally left blank for the team to complete.</a:t>
            </a:r>
          </a:p>
          <a:p xmlns:a="http://schemas.openxmlformats.org/drawingml/2006/main">
            <a:r>
              <a:t>The project is presented as a proposed hackathon concept. Do not describe it as a ready-to-use or clinically validated product.</a:t>
            </a:r>
          </a:p>
          <a:p xmlns:a="http://schemas.openxmlformats.org/drawingml/2006/main">
            <a:r>
              <a:t>Research basis: WHO explains that diet needs vary with individual characteristics and that nutrition labels help people make purchase and consumption decisions. https://www.who.int/en/news-room/fact-sheets/detail/healthy-diet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 comparison is based on current official product descriptions, not a full independent product audit.</a:t>
            </a:r>
          </a:p>
          <a:p xmlns:a="http://schemas.openxmlformats.org/drawingml/2006/main">
            <a:r>
              <a:t>Yuka presents food product scores and alternatives. MyFitnessPal presents meal logging and nutritional breakdowns. Fodd describes itself as a personalized food scanner built around a user profile. OneByte also describes profile-aware ingredient flags. These examples show that personalization exists in the market; Vitalis should not claim that the idea is unprecedented.</a:t>
            </a:r>
          </a:p>
          <a:p xmlns:a="http://schemas.openxmlformats.org/drawingml/2006/main">
            <a:r>
              <a:t>The proposed distinction is the intended end-to-end workflow: combine structured health-risk context, food-label understanding, and optional research-oriented image observations into one explainable user journey.</a:t>
            </a:r>
          </a:p>
          <a:p xmlns:a="http://schemas.openxmlformats.org/drawingml/2006/main">
            <a:r>
              <a:t>Sources: https://yuka.io/en/app/ ; https://www.myfitnesspal.com/ ; https://www.fodd.app/ ; https://onebyte.app/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from profile and health inputs into three related paths. Structured risk assessment builds the personal health context. The optional chest X-ray path returns separate research observations. Food-label analysis extracts nutrition and ingredients, then uses the health context to explain food suitability.</a:t>
            </a:r>
          </a:p>
          <a:p xmlns:a="http://schemas.openxmlformats.org/drawingml/2006/main">
            <a:r>
              <a:t>This flow is adapted from the user-provided architecture image. All boxes and connectors are editable PowerPoint objects.</a:t>
            </a:r>
          </a:p>
          <a:p xmlns:a="http://schemas.openxmlformats.org/drawingml/2006/main">
            <a:r>
              <a:t>Safety boundary: the flow describes decision support, not diagnosis. X-ray output stays separate from the combined assessment unless and until a future version has appropriate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design as a proposed implementation path, not as a claim that the software is already complete. The user-facing layer collects profile, health, food-label, and optional image inputs. Route handlers coordinate calls to Python services. Structured models estimate risk indicators. Gemma is an interpretation layer for clear explanations, not a replacement for the structured models.</a:t>
            </a:r>
          </a:p>
          <a:p xmlns:a="http://schemas.openxmlformats.org/drawingml/2006/main">
            <a:r>
              <a:t>The discussion notes name Next.js 16, React 19, TypeScript, FastAPI, Python, scikit-learn, Joblib, pandas, Pillow, PyTorch, TorchXRayVision, ONNX, and Gemma via Gemini API. Keep technology selection subject to implementation and evaluation.</a:t>
            </a:r>
          </a:p>
          <a:p xmlns:a="http://schemas.openxmlformats.org/drawingml/2006/main">
            <a:r>
              <a:t>Technical reference links: https://nextjs.org/docs ; https://fastapi.tiangolo.com/ ; https://scikit-learn.org/stable/ ; https://ai.google.dev/gemma/docs ; https://github.com/mlmed/torchxrayvision</a:t>
            </a:r>
          </a:p>
          <a:p xmlns:a="http://schemas.openxmlformats.org/drawingml/2006/main">
            <a:r>
              <a:t>Avoid inventing accuracy figures, dataset sizes, or clinical validation claims. A health score would be a product-level indicator, not a clinically validated probability.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Potential beneficiaries include adults who are monitoring lifestyle-related risk factors and family members who compare packaged food for shared dietary needs. These are intended user groups, not measured user research findings.</a:t>
            </a:r>
          </a:p>
          <a:p xmlns:a="http://schemas.openxmlformats.org/drawingml/2006/main">
            <a:r>
              <a:t>Feasibility rests on a modular scope: begin with structured profile and risk indicators, then add label reading, then evaluate whether the explanations are useful. A separate imaging path avoids treating an unvalidated image result as part of an overall health score.</a:t>
            </a:r>
          </a:p>
          <a:p xmlns:a="http://schemas.openxmlformats.org/drawingml/2006/main">
            <a:r>
              <a:t>Viability could include a consumer wellness experience or later integration with preventive-health platforms, subject to privacy, safety, regulatory, and validation review. Avoid promising hospital deployment or health outcomes.</a:t>
            </a:r>
          </a:p>
          <a:p xmlns:a="http://schemas.openxmlformats.org/drawingml/2006/main">
            <a:r>
              <a:t>Potential impact is improved comprehension and decision support. It has not been measured. The future roadmap should prioritize validation, deterministic handling of hard constraints such as declared allergies, regional food data, explainability, and privacy.</a:t>
            </a:r>
          </a:p>
          <a:p xmlns:a="http://schemas.openxmlformats.org/drawingml/2006/main">
            <a:r>
              <a:t>Privacy and consent principles can follow Android Health Connect guidance if data integration is later considered: https://developer.android.com/health-and-fitness/health-connect/ui/permissions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“Vitalis is a proposed decision-support layer that connects health context with everyday food choices. Its value will depend on clear explanations, reliable data, and careful validation.”</a:t>
            </a:r>
          </a:p>
          <a:p xmlns:a="http://schemas.openxmlformats.org/drawingml/2006/main">
            <a:r>
              <a:t>Suggested response to “Is this medically accurate?”: “This is an AI-assisted decision-support concept, not a diagnostic system. Any risk score is a product-level indicator until clinically validated. Future releases would need stronger validation before making higher-stakes claims.”</a:t>
            </a:r>
          </a:p>
          <a:p xmlns:a="http://schemas.openxmlformats.org/drawingml/2006/main">
            <a:r>
              <a:t>Suggested response to “Why use a language model?”: “Structured models produce results, while a language model can help explain those results in plain language. It should interpret structured outputs and should not override hard safety constraints.”</a:t>
            </a:r>
          </a:p>
          <a:p xmlns:a="http://schemas.openxmlformats.org/drawingml/2006/main">
            <a:r>
              <a:t>Suggested response to “What is innovative?”: “The design goal is the connection between personal health context and food-label understanding in one explainable journey. We do not claim that profile-aware food scanners are absent from the market.”</a:t>
            </a:r>
          </a:p>
          <a:p xmlns:a="http://schemas.openxmlformats.org/drawingml/2006/main">
            <a:r>
              <a:t>Suggested response to “What about allergies?”: “Declared allergies should trigger deterministic safety checks. A language model may explain the result but should not override the constraint.”</a:t>
            </a:r>
          </a:p>
          <a:p xmlns:a="http://schemas.openxmlformats.org/drawingml/2006/main">
            <a:r>
              <a:t>External sources and documentation links are live hyperlinks on this slide. The GitHub repository is included as the team project reference, not as evidence that the proposal has been clinically 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f6056e9f2b423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47c2ce7cb79498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60ecc9cae0848c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362262b3e1a48e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079b9334696428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7b4595b82ba472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D63D50C-24D6-4E45-8426-946EF6D8298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E860578-02E2-42FC-B09F-70B9FD360E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B75CC18-2857-4371-A489-8D4D90FD97B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8B7CF6A-15EE-4763-B5B9-87DFCCFAFA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8B9BEE6-C70E-4B77-9204-E4DE00412FD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25B3344-C9F3-4219-811E-5E6DD22FFD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9344636-9313-4487-B182-F910303639E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BF8BE2C-2DFA-4D91-B2B8-D03ABE197DE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0D6DD3-A5BD-4888-B9C5-C67757D02BD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A66AF01-34EA-4831-B234-97BC5E21D8D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f23755476744f7" /><Relationship Type="http://schemas.openxmlformats.org/officeDocument/2006/relationships/slideLayout" Target="/ppt/slideLayouts/slideLayout1.xml" Id="Rb49ed31dd80d42bb" /><Relationship Type="http://schemas.openxmlformats.org/officeDocument/2006/relationships/slideLayout" Target="/ppt/slideLayouts/slideLayout2.xml" Id="R02101a4ee0d74ccf" /><Relationship Type="http://schemas.openxmlformats.org/officeDocument/2006/relationships/slideLayout" Target="/ppt/slideLayouts/slideLayout3.xml" Id="Ra7294191c2da4ac3" /><Relationship Type="http://schemas.openxmlformats.org/officeDocument/2006/relationships/slideLayout" Target="/ppt/slideLayouts/slideLayout4.xml" Id="Rd892fd9be3794ee2" /><Relationship Type="http://schemas.openxmlformats.org/officeDocument/2006/relationships/slideLayout" Target="/ppt/slideLayouts/slideLayout5.xml" Id="R1c63f37d131b42a4" /><Relationship Type="http://schemas.openxmlformats.org/officeDocument/2006/relationships/slideLayout" Target="/ppt/slideLayouts/slideLayout6.xml" Id="R8a24baf3c44349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9ed31dd80d42bb"/>
    <p:sldLayoutId xmlns:r="http://schemas.openxmlformats.org/officeDocument/2006/relationships" id="2147483650" r:id="R02101a4ee0d74ccf"/>
    <p:sldLayoutId xmlns:r="http://schemas.openxmlformats.org/officeDocument/2006/relationships" id="2147483651" r:id="Ra7294191c2da4ac3"/>
    <p:sldLayoutId xmlns:r="http://schemas.openxmlformats.org/officeDocument/2006/relationships" id="2147483652" r:id="Rd892fd9be3794ee2"/>
    <p:sldLayoutId xmlns:r="http://schemas.openxmlformats.org/officeDocument/2006/relationships" id="2147483653" r:id="R1c63f37d131b42a4"/>
    <p:sldLayoutId xmlns:r="http://schemas.openxmlformats.org/officeDocument/2006/relationships" id="2147483654" r:id="R8a24baf3c44349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2e015945faa49e7" /><Relationship Type="http://schemas.openxmlformats.org/officeDocument/2006/relationships/notesSlide" Target="/ppt/notesSlides/notesSlide1.xml" Id="R964d4af0efe142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bce674a22854f9d" /><Relationship Type="http://schemas.openxmlformats.org/officeDocument/2006/relationships/notesSlide" Target="/ppt/notesSlides/notesSlide2.xml" Id="R89eef76682a0479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d9c8b7521c8430c" /><Relationship Type="http://schemas.openxmlformats.org/officeDocument/2006/relationships/notesSlide" Target="/ppt/notesSlides/notesSlide3.xml" Id="Rc065ea81b2614b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cc8f6888f9f4224" /><Relationship Type="http://schemas.openxmlformats.org/officeDocument/2006/relationships/notesSlide" Target="/ppt/notesSlides/notesSlide4.xml" Id="Ra82cf2e4e322463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8dedeeb1cb24fce" /><Relationship Type="http://schemas.openxmlformats.org/officeDocument/2006/relationships/notesSlide" Target="/ppt/notesSlides/notesSlide5.xml" Id="R64373813668f46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688f7eb402246a2" /><Relationship Type="http://schemas.openxmlformats.org/officeDocument/2006/relationships/hyperlink" Target="https://www.who.int/en/news-room/fact-sheets/detail/healthy-diet" TargetMode="External" Id="R6a1f5738904e435d" /><Relationship Type="http://schemas.openxmlformats.org/officeDocument/2006/relationships/hyperlink" Target="https://yuka.io/en/app/" TargetMode="External" Id="Rb0360acda7974d29" /><Relationship Type="http://schemas.openxmlformats.org/officeDocument/2006/relationships/hyperlink" Target="https://www.myfitnesspal.com/" TargetMode="External" Id="R5288dc5ac8134af0" /><Relationship Type="http://schemas.openxmlformats.org/officeDocument/2006/relationships/hyperlink" Target="https://www.fodd.app/" TargetMode="External" Id="Rc50cd582ddd04854" /><Relationship Type="http://schemas.openxmlformats.org/officeDocument/2006/relationships/hyperlink" Target="https://nextjs.org/docs" TargetMode="External" Id="R22d4639107454ea3" /><Relationship Type="http://schemas.openxmlformats.org/officeDocument/2006/relationships/hyperlink" Target="https://fastapi.tiangolo.com/" TargetMode="External" Id="Rcac60947d4104d0b" /><Relationship Type="http://schemas.openxmlformats.org/officeDocument/2006/relationships/hyperlink" Target="https://scikit-learn.org/stable/" TargetMode="External" Id="R69398d1b900b4c5e" /><Relationship Type="http://schemas.openxmlformats.org/officeDocument/2006/relationships/hyperlink" Target="https://ai.google.dev/gemma/docs" TargetMode="External" Id="Rb64cbfd75d53460b" /><Relationship Type="http://schemas.openxmlformats.org/officeDocument/2006/relationships/hyperlink" Target="https://github.com/mlmed/torchxrayvision" TargetMode="External" Id="R0058b263bbdc4862" /><Relationship Type="http://schemas.openxmlformats.org/officeDocument/2006/relationships/hyperlink" Target="https://github.com/Amaanuddin-Ahmed/Hack-X" TargetMode="External" Id="Rb962a23b06cb4568" /><Relationship Type="http://schemas.openxmlformats.org/officeDocument/2006/relationships/notesSlide" Target="/ppt/notesSlides/notesSlide6.xml" Id="R5e012540ab4f43fa" /></Relationships>
</file>

<file path=ppt/slides/slide1.xml><?xml version="1.0" encoding="utf-8"?>
<p:sld xmlns:p="http://schemas.openxmlformats.org/presentationml/2006/main">
  <p:cSld>
    <p:bg>
      <p:bgPr>
        <a:gradFill xmlns:a="http://schemas.openxmlformats.org/drawingml/2006/main">
          <a:gsLst>
            <a:gs pos="0">
              <a:srgbClr val="F3FAF7"/>
            </a:gs>
            <a:gs pos="100000">
              <a:srgbClr val="FBFCFC"/>
            </a:gs>
          </a:gsLst>
          <a:lin ang="0"/>
        </a:gradFill>
      </p:bgPr>
    </p:bg>
    <p:spTree>
      <p:nvGrpSpPr>
        <p:cNvPr id="1" name=""/>
        <p:cNvGrpSpPr/>
        <p:nvPr/>
      </p:nvGrpSpPr>
      <p:grpSpPr>
        <a:xfrm xmlns:a="http://schemas.openxmlformats.org/drawingml/2006/main"/>
      </p:grpSpPr>
      <p:sp>
        <p:nvSpPr>
          <p:cNvPr id="33" name="VITALIS  /  HEALTH TECH">
            <a:extLst xmlns:a="http://schemas.openxmlformats.org/drawingml/2006/main">
              <a:ext uri="{FF2B5EF4-FFF2-40B4-BE49-F238E27FC236}">
                <a16:creationId xmlns:a16="http://schemas.microsoft.com/office/drawing/2014/main" id="{2F675A2A-A464-47D7-B8FB-11089BABB549}"/>
              </a:ext>
            </a:extLst>
          </p:cNvPr>
          <p:cNvSpPr>
            <a:spLocks xmlns:a="http://schemas.openxmlformats.org/drawingml/2006/main" noGrp="1"/>
          </p:cNvSpPr>
          <p:nvPr/>
        </p:nvSpPr>
        <p:spPr>
          <a:xfrm xmlns:a="http://schemas.openxmlformats.org/drawingml/2006/main">
            <a:off x="628650" y="28575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76B65"/>
                </a:solidFill>
                <a:latin typeface="Arial"/>
                <a:ea typeface="Arial"/>
                <a:cs typeface="Arial"/>
              </a:defRPr>
            </a:defPPr>
          </a:lstStyle>
          <a:p xmlns:a="http://schemas.openxmlformats.org/drawingml/2006/main">
            <a:pPr algn="l">
              <a:lnSpc>
                <a:spcPct val="105000"/>
              </a:lnSpc>
              <a:buNone/>
              <a:defRPr sz="1125" b="1">
                <a:solidFill>
                  <a:srgbClr val="176B65"/>
                </a:solidFill>
                <a:latin typeface="Arial"/>
                <a:ea typeface="Arial"/>
                <a:cs typeface="Arial"/>
              </a:defRPr>
            </a:pPr>
            <a:r>
              <a:rPr sz="1125" b="1">
                <a:solidFill>
                  <a:srgbClr val="176B65"/>
                </a:solidFill>
                <a:latin typeface="Arial"/>
                <a:ea typeface="Arial"/>
                <a:cs typeface="Arial"/>
              </a:rPr>
              <a:t>VITALIS  /  HEALTH TECH</a:t>
            </a:r>
          </a:p>
        </p:txBody>
      </p:sp>
      <p:sp>
        <p:nvSpPr>
          <p:cNvPr id="2" name="Health information and food ">
            <a:extLst xmlns:a="http://schemas.openxmlformats.org/drawingml/2006/main">
              <a:ext uri="{FF2B5EF4-FFF2-40B4-BE49-F238E27FC236}">
                <a16:creationId xmlns:a16="http://schemas.microsoft.com/office/drawing/2014/main" id="{69C5774C-849C-43AF-9486-7B6DA24A0CD5}"/>
              </a:ext>
            </a:extLst>
          </p:cNvPr>
          <p:cNvSpPr>
            <a:spLocks xmlns:a="http://schemas.openxmlformats.org/drawingml/2006/main" noGrp="1"/>
          </p:cNvSpPr>
          <p:nvPr/>
        </p:nvSpPr>
        <p:spPr>
          <a:xfrm xmlns:a="http://schemas.openxmlformats.org/drawingml/2006/main">
            <a:off x="628650" y="571500"/>
            <a:ext cx="1085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000" b="1">
                <a:solidFill>
                  <a:srgbClr val="173B4A"/>
                </a:solidFill>
                <a:latin typeface="Arial"/>
                <a:ea typeface="Arial"/>
                <a:cs typeface="Arial"/>
              </a:defRPr>
            </a:defPPr>
          </a:lstStyle>
          <a:p xmlns:a="http://schemas.openxmlformats.org/drawingml/2006/main">
            <a:pPr algn="l">
              <a:lnSpc>
                <a:spcPct val="105000"/>
              </a:lnSpc>
              <a:buNone/>
              <a:defRPr sz="3000" b="1">
                <a:solidFill>
                  <a:srgbClr val="173B4A"/>
                </a:solidFill>
                <a:latin typeface="Arial"/>
                <a:ea typeface="Arial"/>
                <a:cs typeface="Arial"/>
              </a:defRPr>
            </a:pPr>
            <a:r>
              <a:rPr sz="3000" b="1">
                <a:solidFill>
                  <a:srgbClr val="173B4A"/>
                </a:solidFill>
                <a:latin typeface="Arial"/>
                <a:ea typeface="Arial"/>
                <a:cs typeface="Arial"/>
              </a:rPr>
              <a:t>Health information and food choices rarely meet</a:t>
            </a:r>
          </a:p>
        </p:txBody>
      </p:sp>
      <p:sp>
        <p:nvSpPr>
          <p:cNvPr id="3" name="Problem  /  VITALIS is a pro">
            <a:extLst xmlns:a="http://schemas.openxmlformats.org/drawingml/2006/main">
              <a:ext uri="{FF2B5EF4-FFF2-40B4-BE49-F238E27FC236}">
                <a16:creationId xmlns:a16="http://schemas.microsoft.com/office/drawing/2014/main" id="{DD7B8DC5-A6FB-456D-85FE-E7EA66637CC2}"/>
              </a:ext>
            </a:extLst>
          </p:cNvPr>
          <p:cNvSpPr>
            <a:spLocks xmlns:a="http://schemas.openxmlformats.org/drawingml/2006/main" noGrp="1"/>
          </p:cNvSpPr>
          <p:nvPr/>
        </p:nvSpPr>
        <p:spPr>
          <a:xfrm xmlns:a="http://schemas.openxmlformats.org/drawingml/2006/main">
            <a:off x="647700" y="1095375"/>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36C74"/>
                </a:solidFill>
                <a:latin typeface="Arial"/>
                <a:ea typeface="Arial"/>
                <a:cs typeface="Arial"/>
              </a:defRPr>
            </a:defPPr>
          </a:lstStyle>
          <a:p xmlns:a="http://schemas.openxmlformats.org/drawingml/2006/main">
            <a:pPr algn="l">
              <a:lnSpc>
                <a:spcPct val="105000"/>
              </a:lnSpc>
              <a:buNone/>
              <a:defRPr sz="1575" b="0">
                <a:solidFill>
                  <a:srgbClr val="536C74"/>
                </a:solidFill>
                <a:latin typeface="Arial"/>
                <a:ea typeface="Arial"/>
                <a:cs typeface="Arial"/>
              </a:defRPr>
            </a:pPr>
            <a:r>
              <a:rPr sz="1575" b="0">
                <a:solidFill>
                  <a:srgbClr val="536C74"/>
                </a:solidFill>
                <a:latin typeface="Arial"/>
                <a:ea typeface="Arial"/>
                <a:cs typeface="Arial"/>
              </a:rPr>
              <a:t>Problem  /  VITALIS is a proposed Health Tech solution for a common decision gap</a:t>
            </a:r>
          </a:p>
        </p:txBody>
      </p:sp>
      <p:sp>
        <p:nvSpPr>
          <p:cNvPr id="4" name="">
            <a:extLst xmlns:a="http://schemas.openxmlformats.org/drawingml/2006/main">
              <a:ext uri="{FF2B5EF4-FFF2-40B4-BE49-F238E27FC236}">
                <a16:creationId xmlns:a16="http://schemas.microsoft.com/office/drawing/2014/main" id="{B03DFEB2-F3BF-4A85-A5CE-859CDA4ED691}"/>
              </a:ext>
            </a:extLst>
          </p:cNvPr>
          <p:cNvSpPr>
            <a:spLocks xmlns:a="http://schemas.openxmlformats.org/drawingml/2006/main" noGrp="1"/>
          </p:cNvSpPr>
          <p:nvPr/>
        </p:nvSpPr>
        <p:spPr>
          <a:xfrm xmlns:a="http://schemas.openxmlformats.org/drawingml/2006/main">
            <a:off x="628650" y="6400800"/>
            <a:ext cx="10934700" cy="9525"/>
          </a:xfrm>
          <a:prstGeom xmlns:a="http://schemas.openxmlformats.org/drawingml/2006/main" prst="rect">
            <a:avLst/>
          </a:prstGeom>
          <a:solidFill xmlns:a="http://schemas.openxmlformats.org/drawingml/2006/main">
            <a:srgbClr val="D6E5E1"/>
          </a:solidFill>
          <a:ln xmlns:a="http://schemas.openxmlformats.org/drawingml/2006/main" w="0">
            <a:noFill/>
            <a:prstDash val="solid"/>
          </a:ln>
        </p:spPr>
      </p:sp>
      <p:sp>
        <p:nvSpPr>
          <p:cNvPr id="5" name="VITALIS  |  HACK X 2026">
            <a:extLst xmlns:a="http://schemas.openxmlformats.org/drawingml/2006/main">
              <a:ext uri="{FF2B5EF4-FFF2-40B4-BE49-F238E27FC236}">
                <a16:creationId xmlns:a16="http://schemas.microsoft.com/office/drawing/2014/main" id="{22528A74-0338-495C-B3FE-1713DD2DB236}"/>
              </a:ext>
            </a:extLst>
          </p:cNvPr>
          <p:cNvSpPr>
            <a:spLocks xmlns:a="http://schemas.openxmlformats.org/drawingml/2006/main" noGrp="1"/>
          </p:cNvSpPr>
          <p:nvPr/>
        </p:nvSpPr>
        <p:spPr>
          <a:xfrm xmlns:a="http://schemas.openxmlformats.org/drawingml/2006/main">
            <a:off x="647700" y="64770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36C74"/>
                </a:solidFill>
                <a:latin typeface="Arial"/>
                <a:ea typeface="Arial"/>
                <a:cs typeface="Arial"/>
              </a:defRPr>
            </a:defPPr>
          </a:lstStyle>
          <a:p xmlns:a="http://schemas.openxmlformats.org/drawingml/2006/main">
            <a:pPr algn="l">
              <a:lnSpc>
                <a:spcPct val="105000"/>
              </a:lnSpc>
              <a:buNone/>
              <a:defRPr sz="975" b="1">
                <a:solidFill>
                  <a:srgbClr val="536C74"/>
                </a:solidFill>
                <a:latin typeface="Arial"/>
                <a:ea typeface="Arial"/>
                <a:cs typeface="Arial"/>
              </a:defRPr>
            </a:pPr>
            <a:r>
              <a:rPr sz="975" b="1">
                <a:solidFill>
                  <a:srgbClr val="536C74"/>
                </a:solidFill>
                <a:latin typeface="Arial"/>
                <a:ea typeface="Arial"/>
                <a:cs typeface="Arial"/>
              </a:rPr>
              <a:t>VITALIS  |  HACK X 2026</a:t>
            </a:r>
          </a:p>
        </p:txBody>
      </p:sp>
      <p:sp>
        <p:nvSpPr>
          <p:cNvPr id="6" name="01  /  06">
            <a:extLst xmlns:a="http://schemas.openxmlformats.org/drawingml/2006/main">
              <a:ext uri="{FF2B5EF4-FFF2-40B4-BE49-F238E27FC236}">
                <a16:creationId xmlns:a16="http://schemas.microsoft.com/office/drawing/2014/main" id="{1F9CA622-A0EE-4C73-8B2E-76ED5E69C6B5}"/>
              </a:ext>
            </a:extLst>
          </p:cNvPr>
          <p:cNvSpPr>
            <a:spLocks xmlns:a="http://schemas.openxmlformats.org/drawingml/2006/main" noGrp="1"/>
          </p:cNvSpPr>
          <p:nvPr/>
        </p:nvSpPr>
        <p:spPr>
          <a:xfrm xmlns:a="http://schemas.openxmlformats.org/drawingml/2006/main">
            <a:off x="10687050" y="647700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C74"/>
                </a:solidFill>
                <a:latin typeface="Arial"/>
                <a:ea typeface="Arial"/>
                <a:cs typeface="Arial"/>
              </a:defRPr>
            </a:defPPr>
          </a:lstStyle>
          <a:p xmlns:a="http://schemas.openxmlformats.org/drawingml/2006/main">
            <a:pPr algn="r">
              <a:lnSpc>
                <a:spcPct val="105000"/>
              </a:lnSpc>
              <a:buNone/>
              <a:defRPr sz="975" b="1">
                <a:solidFill>
                  <a:srgbClr val="536C74"/>
                </a:solidFill>
                <a:latin typeface="Arial"/>
                <a:ea typeface="Arial"/>
                <a:cs typeface="Arial"/>
              </a:defRPr>
            </a:pPr>
            <a:r>
              <a:rPr sz="975" b="1">
                <a:solidFill>
                  <a:srgbClr val="536C74"/>
                </a:solidFill>
                <a:latin typeface="Arial"/>
                <a:ea typeface="Arial"/>
                <a:cs typeface="Arial"/>
              </a:rPr>
              <a:t>01  /  06</a:t>
            </a:r>
          </a:p>
        </p:txBody>
      </p:sp>
      <p:sp>
        <p:nvSpPr>
          <p:cNvPr id="7" name="VITALIS">
            <a:extLst xmlns:a="http://schemas.openxmlformats.org/drawingml/2006/main">
              <a:ext uri="{FF2B5EF4-FFF2-40B4-BE49-F238E27FC236}">
                <a16:creationId xmlns:a16="http://schemas.microsoft.com/office/drawing/2014/main" id="{6C608873-E0EC-411B-AA0B-09C2DC44BDE6}"/>
              </a:ext>
            </a:extLst>
          </p:cNvPr>
          <p:cNvSpPr>
            <a:spLocks xmlns:a="http://schemas.openxmlformats.org/drawingml/2006/main" noGrp="1"/>
          </p:cNvSpPr>
          <p:nvPr/>
        </p:nvSpPr>
        <p:spPr>
          <a:xfrm xmlns:a="http://schemas.openxmlformats.org/drawingml/2006/main">
            <a:off x="666750" y="1666875"/>
            <a:ext cx="6096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250" b="1">
                <a:solidFill>
                  <a:srgbClr val="176B65"/>
                </a:solidFill>
                <a:latin typeface="Arial"/>
                <a:ea typeface="Arial"/>
                <a:cs typeface="Arial"/>
              </a:defRPr>
            </a:defPPr>
          </a:lstStyle>
          <a:p xmlns:a="http://schemas.openxmlformats.org/drawingml/2006/main">
            <a:pPr algn="l">
              <a:lnSpc>
                <a:spcPct val="105000"/>
              </a:lnSpc>
              <a:buNone/>
              <a:defRPr sz="5250" b="1">
                <a:solidFill>
                  <a:srgbClr val="176B65"/>
                </a:solidFill>
                <a:latin typeface="Arial"/>
                <a:ea typeface="Arial"/>
                <a:cs typeface="Arial"/>
              </a:defRPr>
            </a:pPr>
            <a:r>
              <a:rPr sz="5250" b="1">
                <a:solidFill>
                  <a:srgbClr val="176B65"/>
                </a:solidFill>
                <a:latin typeface="Arial"/>
                <a:ea typeface="Arial"/>
                <a:cs typeface="Arial"/>
              </a:rPr>
              <a:t>VITALIS</a:t>
            </a:r>
          </a:p>
        </p:txBody>
      </p:sp>
      <p:sp>
        <p:nvSpPr>
          <p:cNvPr id="8" name="Your health. Your food. Your">
            <a:extLst xmlns:a="http://schemas.openxmlformats.org/drawingml/2006/main">
              <a:ext uri="{FF2B5EF4-FFF2-40B4-BE49-F238E27FC236}">
                <a16:creationId xmlns:a16="http://schemas.microsoft.com/office/drawing/2014/main" id="{E3ADC99F-DF03-4346-B88A-D69E53D34717}"/>
              </a:ext>
            </a:extLst>
          </p:cNvPr>
          <p:cNvSpPr>
            <a:spLocks xmlns:a="http://schemas.openxmlformats.org/drawingml/2006/main" noGrp="1"/>
          </p:cNvSpPr>
          <p:nvPr/>
        </p:nvSpPr>
        <p:spPr>
          <a:xfrm xmlns:a="http://schemas.openxmlformats.org/drawingml/2006/main">
            <a:off x="704850" y="2524125"/>
            <a:ext cx="657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325" b="1">
                <a:solidFill>
                  <a:srgbClr val="173B4A"/>
                </a:solidFill>
                <a:latin typeface="Arial"/>
                <a:ea typeface="Arial"/>
                <a:cs typeface="Arial"/>
              </a:defRPr>
            </a:defPPr>
          </a:lstStyle>
          <a:p xmlns:a="http://schemas.openxmlformats.org/drawingml/2006/main">
            <a:pPr algn="l">
              <a:lnSpc>
                <a:spcPct val="105000"/>
              </a:lnSpc>
              <a:buNone/>
              <a:defRPr sz="2325" b="1">
                <a:solidFill>
                  <a:srgbClr val="173B4A"/>
                </a:solidFill>
                <a:latin typeface="Arial"/>
                <a:ea typeface="Arial"/>
                <a:cs typeface="Arial"/>
              </a:defRPr>
            </a:pPr>
            <a:r>
              <a:rPr sz="2325" b="1">
                <a:solidFill>
                  <a:srgbClr val="173B4A"/>
                </a:solidFill>
                <a:latin typeface="Arial"/>
                <a:ea typeface="Arial"/>
                <a:cs typeface="Arial"/>
              </a:rPr>
              <a:t>Your health. Your food. Your decision.</a:t>
            </a:r>
          </a:p>
        </p:txBody>
      </p:sp>
      <p:sp>
        <p:nvSpPr>
          <p:cNvPr id="9" name="Multimodal AI health assessm">
            <a:extLst xmlns:a="http://schemas.openxmlformats.org/drawingml/2006/main">
              <a:ext uri="{FF2B5EF4-FFF2-40B4-BE49-F238E27FC236}">
                <a16:creationId xmlns:a16="http://schemas.microsoft.com/office/drawing/2014/main" id="{0A655058-AD84-4A2C-A39A-B3795E4D2CB1}"/>
              </a:ext>
            </a:extLst>
          </p:cNvPr>
          <p:cNvSpPr>
            <a:spLocks xmlns:a="http://schemas.openxmlformats.org/drawingml/2006/main" noGrp="1"/>
          </p:cNvSpPr>
          <p:nvPr/>
        </p:nvSpPr>
        <p:spPr>
          <a:xfrm xmlns:a="http://schemas.openxmlformats.org/drawingml/2006/main">
            <a:off x="714375" y="2971800"/>
            <a:ext cx="676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36C74"/>
                </a:solidFill>
                <a:latin typeface="Arial"/>
                <a:ea typeface="Arial"/>
                <a:cs typeface="Arial"/>
              </a:defRPr>
            </a:defPPr>
          </a:lstStyle>
          <a:p xmlns:a="http://schemas.openxmlformats.org/drawingml/2006/main">
            <a:pPr algn="l">
              <a:lnSpc>
                <a:spcPct val="105000"/>
              </a:lnSpc>
              <a:buNone/>
              <a:defRPr sz="1650" b="0">
                <a:solidFill>
                  <a:srgbClr val="536C74"/>
                </a:solidFill>
                <a:latin typeface="Arial"/>
                <a:ea typeface="Arial"/>
                <a:cs typeface="Arial"/>
              </a:defRPr>
            </a:pPr>
            <a:r>
              <a:rPr sz="1650" b="0">
                <a:solidFill>
                  <a:srgbClr val="536C74"/>
                </a:solidFill>
                <a:latin typeface="Arial"/>
                <a:ea typeface="Arial"/>
                <a:cs typeface="Arial"/>
              </a:rPr>
              <a:t>Multimodal AI health assessment and food intelligence</a:t>
            </a:r>
          </a:p>
        </p:txBody>
      </p:sp>
      <p:sp>
        <p:nvSpPr>
          <p:cNvPr id="10" name="">
            <a:extLst xmlns:a="http://schemas.openxmlformats.org/drawingml/2006/main">
              <a:ext uri="{FF2B5EF4-FFF2-40B4-BE49-F238E27FC236}">
                <a16:creationId xmlns:a16="http://schemas.microsoft.com/office/drawing/2014/main" id="{1C8204E5-6F4B-4DB6-81B3-E8FD95C39556}"/>
              </a:ext>
            </a:extLst>
          </p:cNvPr>
          <p:cNvSpPr>
            <a:spLocks xmlns:a="http://schemas.openxmlformats.org/drawingml/2006/main" noGrp="1"/>
          </p:cNvSpPr>
          <p:nvPr/>
        </p:nvSpPr>
        <p:spPr>
          <a:xfrm xmlns:a="http://schemas.openxmlformats.org/drawingml/2006/main">
            <a:off x="685800" y="3524250"/>
            <a:ext cx="3276600" cy="1352550"/>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EB3EC97-E9A9-46DE-AF3D-8AFF88158EB5}"/>
              </a:ext>
            </a:extLst>
          </p:cNvPr>
          <p:cNvSpPr>
            <a:spLocks xmlns:a="http://schemas.openxmlformats.org/drawingml/2006/main" noGrp="1"/>
          </p:cNvSpPr>
          <p:nvPr/>
        </p:nvSpPr>
        <p:spPr>
          <a:xfrm xmlns:a="http://schemas.openxmlformats.org/drawingml/2006/main">
            <a:off x="685800" y="3524250"/>
            <a:ext cx="47625" cy="1352550"/>
          </a:xfrm>
          <a:prstGeom xmlns:a="http://schemas.openxmlformats.org/drawingml/2006/main" prst="rect">
            <a:avLst/>
          </a:prstGeom>
          <a:solidFill xmlns:a="http://schemas.openxmlformats.org/drawingml/2006/main">
            <a:srgbClr val="2C8C83"/>
          </a:solidFill>
          <a:ln xmlns:a="http://schemas.openxmlformats.org/drawingml/2006/main" w="0">
            <a:noFill/>
            <a:prstDash val="solid"/>
          </a:ln>
        </p:spPr>
      </p:sp>
      <p:sp>
        <p:nvSpPr>
          <p:cNvPr id="12" name="01  FRAGMENTED SIGNALS">
            <a:extLst xmlns:a="http://schemas.openxmlformats.org/drawingml/2006/main">
              <a:ext uri="{FF2B5EF4-FFF2-40B4-BE49-F238E27FC236}">
                <a16:creationId xmlns:a16="http://schemas.microsoft.com/office/drawing/2014/main" id="{F524FAC9-60C8-4DE1-ADD9-2CA9316C7347}"/>
              </a:ext>
            </a:extLst>
          </p:cNvPr>
          <p:cNvSpPr>
            <a:spLocks xmlns:a="http://schemas.openxmlformats.org/drawingml/2006/main" noGrp="1"/>
          </p:cNvSpPr>
          <p:nvPr/>
        </p:nvSpPr>
        <p:spPr>
          <a:xfrm xmlns:a="http://schemas.openxmlformats.org/drawingml/2006/main">
            <a:off x="895350" y="3667125"/>
            <a:ext cx="2905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176B65"/>
                </a:solidFill>
                <a:latin typeface="Arial"/>
                <a:ea typeface="Arial"/>
                <a:cs typeface="Arial"/>
              </a:defRPr>
            </a:defPPr>
          </a:lstStyle>
          <a:p xmlns:a="http://schemas.openxmlformats.org/drawingml/2006/main">
            <a:pPr algn="l">
              <a:lnSpc>
                <a:spcPct val="105000"/>
              </a:lnSpc>
              <a:buNone/>
              <a:defRPr sz="1050" b="1">
                <a:solidFill>
                  <a:srgbClr val="176B65"/>
                </a:solidFill>
                <a:latin typeface="Arial"/>
                <a:ea typeface="Arial"/>
                <a:cs typeface="Arial"/>
              </a:defRPr>
            </a:pPr>
            <a:r>
              <a:rPr sz="1050" b="1">
                <a:solidFill>
                  <a:srgbClr val="176B65"/>
                </a:solidFill>
                <a:latin typeface="Arial"/>
                <a:ea typeface="Arial"/>
                <a:cs typeface="Arial"/>
              </a:rPr>
              <a:t>01  FRAGMENTED SIGNALS</a:t>
            </a:r>
          </a:p>
        </p:txBody>
      </p:sp>
      <p:sp>
        <p:nvSpPr>
          <p:cNvPr id="13" name="Health context is scattered">
            <a:extLst xmlns:a="http://schemas.openxmlformats.org/drawingml/2006/main">
              <a:ext uri="{FF2B5EF4-FFF2-40B4-BE49-F238E27FC236}">
                <a16:creationId xmlns:a16="http://schemas.microsoft.com/office/drawing/2014/main" id="{3C91E94E-5D9E-4541-93B8-7208EA3609F4}"/>
              </a:ext>
            </a:extLst>
          </p:cNvPr>
          <p:cNvSpPr>
            <a:spLocks xmlns:a="http://schemas.openxmlformats.org/drawingml/2006/main" noGrp="1"/>
          </p:cNvSpPr>
          <p:nvPr/>
        </p:nvSpPr>
        <p:spPr>
          <a:xfrm xmlns:a="http://schemas.openxmlformats.org/drawingml/2006/main">
            <a:off x="895350" y="3971925"/>
            <a:ext cx="29051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3B4A"/>
                </a:solidFill>
                <a:latin typeface="Arial"/>
                <a:ea typeface="Arial"/>
                <a:cs typeface="Arial"/>
              </a:defRPr>
            </a:defPPr>
          </a:lstStyle>
          <a:p xmlns:a="http://schemas.openxmlformats.org/drawingml/2006/main">
            <a:pPr algn="l">
              <a:lnSpc>
                <a:spcPct val="105000"/>
              </a:lnSpc>
              <a:buNone/>
              <a:defRPr sz="1650" b="1">
                <a:solidFill>
                  <a:srgbClr val="173B4A"/>
                </a:solidFill>
                <a:latin typeface="Arial"/>
                <a:ea typeface="Arial"/>
                <a:cs typeface="Arial"/>
              </a:defRPr>
            </a:pPr>
            <a:r>
              <a:rPr sz="1650" b="1">
                <a:solidFill>
                  <a:srgbClr val="173B4A"/>
                </a:solidFill>
                <a:latin typeface="Arial"/>
                <a:ea typeface="Arial"/>
                <a:cs typeface="Arial"/>
              </a:rPr>
              <a:t>Health context is scattered</a:t>
            </a:r>
          </a:p>
        </p:txBody>
      </p:sp>
      <p:sp>
        <p:nvSpPr>
          <p:cNvPr id="14" name="Lifestyle, risk factors, and">
            <a:extLst xmlns:a="http://schemas.openxmlformats.org/drawingml/2006/main">
              <a:ext uri="{FF2B5EF4-FFF2-40B4-BE49-F238E27FC236}">
                <a16:creationId xmlns:a16="http://schemas.microsoft.com/office/drawing/2014/main" id="{B0DA5F31-0A04-4648-884C-A549A8879BEB}"/>
              </a:ext>
            </a:extLst>
          </p:cNvPr>
          <p:cNvSpPr>
            <a:spLocks xmlns:a="http://schemas.openxmlformats.org/drawingml/2006/main" noGrp="1"/>
          </p:cNvSpPr>
          <p:nvPr/>
        </p:nvSpPr>
        <p:spPr>
          <a:xfrm xmlns:a="http://schemas.openxmlformats.org/drawingml/2006/main">
            <a:off x="895350" y="4324350"/>
            <a:ext cx="2905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36C74"/>
                </a:solidFill>
                <a:latin typeface="Arial"/>
                <a:ea typeface="Arial"/>
                <a:cs typeface="Arial"/>
              </a:defRPr>
            </a:defPPr>
          </a:lstStyle>
          <a:p xmlns:a="http://schemas.openxmlformats.org/drawingml/2006/main">
            <a:pPr algn="l">
              <a:lnSpc>
                <a:spcPct val="105000"/>
              </a:lnSpc>
              <a:buNone/>
              <a:defRPr sz="1350" b="0">
                <a:solidFill>
                  <a:srgbClr val="536C74"/>
                </a:solidFill>
                <a:latin typeface="Arial"/>
                <a:ea typeface="Arial"/>
                <a:cs typeface="Arial"/>
              </a:defRPr>
            </a:pPr>
            <a:r>
              <a:rPr sz="1350" b="0">
                <a:solidFill>
                  <a:srgbClr val="536C74"/>
                </a:solidFill>
                <a:latin typeface="Arial"/>
                <a:ea typeface="Arial"/>
                <a:cs typeface="Arial"/>
              </a:rPr>
              <a:t>Lifestyle, risk factors, and reports can sit in separate experiences.</a:t>
            </a:r>
          </a:p>
        </p:txBody>
      </p:sp>
      <p:sp>
        <p:nvSpPr>
          <p:cNvPr id="15" name="">
            <a:extLst xmlns:a="http://schemas.openxmlformats.org/drawingml/2006/main">
              <a:ext uri="{FF2B5EF4-FFF2-40B4-BE49-F238E27FC236}">
                <a16:creationId xmlns:a16="http://schemas.microsoft.com/office/drawing/2014/main" id="{9AF1CA6E-30CB-43A4-A366-18EF2EC3895F}"/>
              </a:ext>
            </a:extLst>
          </p:cNvPr>
          <p:cNvSpPr>
            <a:spLocks xmlns:a="http://schemas.openxmlformats.org/drawingml/2006/main" noGrp="1"/>
          </p:cNvSpPr>
          <p:nvPr/>
        </p:nvSpPr>
        <p:spPr>
          <a:xfrm xmlns:a="http://schemas.openxmlformats.org/drawingml/2006/main">
            <a:off x="4457700" y="3524250"/>
            <a:ext cx="3276600" cy="1352550"/>
          </a:xfrm>
          <a:prstGeom xmlns:a="http://schemas.openxmlformats.org/drawingml/2006/main" prst="rect">
            <a:avLst/>
          </a:prstGeom>
          <a:solidFill xmlns:a="http://schemas.openxmlformats.org/drawingml/2006/main">
            <a:srgbClr val="E5F4E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EAC9744-4EEC-47FB-9645-7B421F8822B7}"/>
              </a:ext>
            </a:extLst>
          </p:cNvPr>
          <p:cNvSpPr>
            <a:spLocks xmlns:a="http://schemas.openxmlformats.org/drawingml/2006/main" noGrp="1"/>
          </p:cNvSpPr>
          <p:nvPr/>
        </p:nvSpPr>
        <p:spPr>
          <a:xfrm xmlns:a="http://schemas.openxmlformats.org/drawingml/2006/main">
            <a:off x="4457700" y="3524250"/>
            <a:ext cx="47625" cy="1352550"/>
          </a:xfrm>
          <a:prstGeom xmlns:a="http://schemas.openxmlformats.org/drawingml/2006/main" prst="rect">
            <a:avLst/>
          </a:prstGeom>
          <a:solidFill xmlns:a="http://schemas.openxmlformats.org/drawingml/2006/main">
            <a:srgbClr val="2C8C83"/>
          </a:solidFill>
          <a:ln xmlns:a="http://schemas.openxmlformats.org/drawingml/2006/main" w="0">
            <a:noFill/>
            <a:prstDash val="solid"/>
          </a:ln>
        </p:spPr>
      </p:sp>
      <p:sp>
        <p:nvSpPr>
          <p:cNvPr id="17" name="02  DENSE LABELS">
            <a:extLst xmlns:a="http://schemas.openxmlformats.org/drawingml/2006/main">
              <a:ext uri="{FF2B5EF4-FFF2-40B4-BE49-F238E27FC236}">
                <a16:creationId xmlns:a16="http://schemas.microsoft.com/office/drawing/2014/main" id="{50AA00F5-4B5B-400A-A8ED-3D03C70A2CA4}"/>
              </a:ext>
            </a:extLst>
          </p:cNvPr>
          <p:cNvSpPr>
            <a:spLocks xmlns:a="http://schemas.openxmlformats.org/drawingml/2006/main" noGrp="1"/>
          </p:cNvSpPr>
          <p:nvPr/>
        </p:nvSpPr>
        <p:spPr>
          <a:xfrm xmlns:a="http://schemas.openxmlformats.org/drawingml/2006/main">
            <a:off x="4667250" y="3667125"/>
            <a:ext cx="2905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176B65"/>
                </a:solidFill>
                <a:latin typeface="Arial"/>
                <a:ea typeface="Arial"/>
                <a:cs typeface="Arial"/>
              </a:defRPr>
            </a:defPPr>
          </a:lstStyle>
          <a:p xmlns:a="http://schemas.openxmlformats.org/drawingml/2006/main">
            <a:pPr algn="l">
              <a:lnSpc>
                <a:spcPct val="105000"/>
              </a:lnSpc>
              <a:buNone/>
              <a:defRPr sz="1050" b="1">
                <a:solidFill>
                  <a:srgbClr val="176B65"/>
                </a:solidFill>
                <a:latin typeface="Arial"/>
                <a:ea typeface="Arial"/>
                <a:cs typeface="Arial"/>
              </a:defRPr>
            </a:pPr>
            <a:r>
              <a:rPr sz="1050" b="1">
                <a:solidFill>
                  <a:srgbClr val="176B65"/>
                </a:solidFill>
                <a:latin typeface="Arial"/>
                <a:ea typeface="Arial"/>
                <a:cs typeface="Arial"/>
              </a:rPr>
              <a:t>02  DENSE LABELS</a:t>
            </a:r>
          </a:p>
        </p:txBody>
      </p:sp>
      <p:sp>
        <p:nvSpPr>
          <p:cNvPr id="18" name="Nutrition takes effort to in">
            <a:extLst xmlns:a="http://schemas.openxmlformats.org/drawingml/2006/main">
              <a:ext uri="{FF2B5EF4-FFF2-40B4-BE49-F238E27FC236}">
                <a16:creationId xmlns:a16="http://schemas.microsoft.com/office/drawing/2014/main" id="{44A31A3A-FF1F-44DE-9EB7-206BD5B8F1AE}"/>
              </a:ext>
            </a:extLst>
          </p:cNvPr>
          <p:cNvSpPr>
            <a:spLocks xmlns:a="http://schemas.openxmlformats.org/drawingml/2006/main" noGrp="1"/>
          </p:cNvSpPr>
          <p:nvPr/>
        </p:nvSpPr>
        <p:spPr>
          <a:xfrm xmlns:a="http://schemas.openxmlformats.org/drawingml/2006/main">
            <a:off x="4667250" y="3971925"/>
            <a:ext cx="29051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934"/>
          </a:bodyPr>
          <a:lstStyle xmlns:a="http://schemas.openxmlformats.org/drawingml/2006/main">
            <a:defPPr algn="l">
              <a:defRPr sz="1650" b="1">
                <a:solidFill>
                  <a:srgbClr val="173B4A"/>
                </a:solidFill>
                <a:latin typeface="Arial"/>
                <a:ea typeface="Arial"/>
                <a:cs typeface="Arial"/>
              </a:defRPr>
            </a:defPPr>
          </a:lstStyle>
          <a:p xmlns:a="http://schemas.openxmlformats.org/drawingml/2006/main">
            <a:pPr algn="l">
              <a:lnSpc>
                <a:spcPct val="105000"/>
              </a:lnSpc>
              <a:buNone/>
              <a:defRPr sz="1650" b="1">
                <a:solidFill>
                  <a:srgbClr val="173B4A"/>
                </a:solidFill>
                <a:latin typeface="Arial"/>
                <a:ea typeface="Arial"/>
                <a:cs typeface="Arial"/>
              </a:defRPr>
            </a:pPr>
            <a:r>
              <a:rPr sz="1650" b="1">
                <a:solidFill>
                  <a:srgbClr val="173B4A"/>
                </a:solidFill>
                <a:latin typeface="Arial"/>
                <a:ea typeface="Arial"/>
                <a:cs typeface="Arial"/>
              </a:rPr>
              <a:t>Nutrition takes effort to interpret</a:t>
            </a:r>
          </a:p>
        </p:txBody>
      </p:sp>
      <p:sp>
        <p:nvSpPr>
          <p:cNvPr id="19" name="Package information is detai">
            <a:extLst xmlns:a="http://schemas.openxmlformats.org/drawingml/2006/main">
              <a:ext uri="{FF2B5EF4-FFF2-40B4-BE49-F238E27FC236}">
                <a16:creationId xmlns:a16="http://schemas.microsoft.com/office/drawing/2014/main" id="{A7BE9B8D-2CAC-4095-BDE4-462A11C1363D}"/>
              </a:ext>
            </a:extLst>
          </p:cNvPr>
          <p:cNvSpPr>
            <a:spLocks xmlns:a="http://schemas.openxmlformats.org/drawingml/2006/main" noGrp="1"/>
          </p:cNvSpPr>
          <p:nvPr/>
        </p:nvSpPr>
        <p:spPr>
          <a:xfrm xmlns:a="http://schemas.openxmlformats.org/drawingml/2006/main">
            <a:off x="4667250" y="4324350"/>
            <a:ext cx="2905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36C74"/>
                </a:solidFill>
                <a:latin typeface="Arial"/>
                <a:ea typeface="Arial"/>
                <a:cs typeface="Arial"/>
              </a:defRPr>
            </a:defPPr>
          </a:lstStyle>
          <a:p xmlns:a="http://schemas.openxmlformats.org/drawingml/2006/main">
            <a:pPr algn="l">
              <a:lnSpc>
                <a:spcPct val="105000"/>
              </a:lnSpc>
              <a:buNone/>
              <a:defRPr sz="1350" b="0">
                <a:solidFill>
                  <a:srgbClr val="536C74"/>
                </a:solidFill>
                <a:latin typeface="Arial"/>
                <a:ea typeface="Arial"/>
                <a:cs typeface="Arial"/>
              </a:defRPr>
            </a:pPr>
            <a:r>
              <a:rPr sz="1350" b="0">
                <a:solidFill>
                  <a:srgbClr val="536C74"/>
                </a:solidFill>
                <a:latin typeface="Arial"/>
                <a:ea typeface="Arial"/>
                <a:cs typeface="Arial"/>
              </a:rPr>
              <a:t>Package information is detailed, but a quick choice still takes work.</a:t>
            </a:r>
          </a:p>
        </p:txBody>
      </p:sp>
      <p:sp>
        <p:nvSpPr>
          <p:cNvPr id="20" name="">
            <a:extLst xmlns:a="http://schemas.openxmlformats.org/drawingml/2006/main">
              <a:ext uri="{FF2B5EF4-FFF2-40B4-BE49-F238E27FC236}">
                <a16:creationId xmlns:a16="http://schemas.microsoft.com/office/drawing/2014/main" id="{8DBCB941-0CB4-431A-87CA-72B39424727A}"/>
              </a:ext>
            </a:extLst>
          </p:cNvPr>
          <p:cNvSpPr>
            <a:spLocks xmlns:a="http://schemas.openxmlformats.org/drawingml/2006/main" noGrp="1"/>
          </p:cNvSpPr>
          <p:nvPr/>
        </p:nvSpPr>
        <p:spPr>
          <a:xfrm xmlns:a="http://schemas.openxmlformats.org/drawingml/2006/main">
            <a:off x="8229600" y="3524250"/>
            <a:ext cx="3276600" cy="1352550"/>
          </a:xfrm>
          <a:prstGeom xmlns:a="http://schemas.openxmlformats.org/drawingml/2006/main" prst="rect">
            <a:avLst/>
          </a:prstGeom>
          <a:solidFill xmlns:a="http://schemas.openxmlformats.org/drawingml/2006/main">
            <a:srgbClr val="EEEAF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1D83A6C-CE13-4ED8-9D81-A399AD71516F}"/>
              </a:ext>
            </a:extLst>
          </p:cNvPr>
          <p:cNvSpPr>
            <a:spLocks xmlns:a="http://schemas.openxmlformats.org/drawingml/2006/main" noGrp="1"/>
          </p:cNvSpPr>
          <p:nvPr/>
        </p:nvSpPr>
        <p:spPr>
          <a:xfrm xmlns:a="http://schemas.openxmlformats.org/drawingml/2006/main">
            <a:off x="8229600" y="3524250"/>
            <a:ext cx="47625" cy="1352550"/>
          </a:xfrm>
          <a:prstGeom xmlns:a="http://schemas.openxmlformats.org/drawingml/2006/main" prst="rect">
            <a:avLst/>
          </a:prstGeom>
          <a:solidFill xmlns:a="http://schemas.openxmlformats.org/drawingml/2006/main">
            <a:srgbClr val="2C8C83"/>
          </a:solidFill>
          <a:ln xmlns:a="http://schemas.openxmlformats.org/drawingml/2006/main" w="0">
            <a:noFill/>
            <a:prstDash val="solid"/>
          </a:ln>
        </p:spPr>
      </p:sp>
      <p:sp>
        <p:nvSpPr>
          <p:cNvPr id="22" name="03  LOW CONTEXT">
            <a:extLst xmlns:a="http://schemas.openxmlformats.org/drawingml/2006/main">
              <a:ext uri="{FF2B5EF4-FFF2-40B4-BE49-F238E27FC236}">
                <a16:creationId xmlns:a16="http://schemas.microsoft.com/office/drawing/2014/main" id="{1BB56E6B-0160-40EB-94E1-27835197C606}"/>
              </a:ext>
            </a:extLst>
          </p:cNvPr>
          <p:cNvSpPr>
            <a:spLocks xmlns:a="http://schemas.openxmlformats.org/drawingml/2006/main" noGrp="1"/>
          </p:cNvSpPr>
          <p:nvPr/>
        </p:nvSpPr>
        <p:spPr>
          <a:xfrm xmlns:a="http://schemas.openxmlformats.org/drawingml/2006/main">
            <a:off x="8439150" y="3667125"/>
            <a:ext cx="2905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176B65"/>
                </a:solidFill>
                <a:latin typeface="Arial"/>
                <a:ea typeface="Arial"/>
                <a:cs typeface="Arial"/>
              </a:defRPr>
            </a:defPPr>
          </a:lstStyle>
          <a:p xmlns:a="http://schemas.openxmlformats.org/drawingml/2006/main">
            <a:pPr algn="l">
              <a:lnSpc>
                <a:spcPct val="105000"/>
              </a:lnSpc>
              <a:buNone/>
              <a:defRPr sz="1050" b="1">
                <a:solidFill>
                  <a:srgbClr val="176B65"/>
                </a:solidFill>
                <a:latin typeface="Arial"/>
                <a:ea typeface="Arial"/>
                <a:cs typeface="Arial"/>
              </a:defRPr>
            </a:pPr>
            <a:r>
              <a:rPr sz="1050" b="1">
                <a:solidFill>
                  <a:srgbClr val="176B65"/>
                </a:solidFill>
                <a:latin typeface="Arial"/>
                <a:ea typeface="Arial"/>
                <a:cs typeface="Arial"/>
              </a:rPr>
              <a:t>03  LOW CONTEXT</a:t>
            </a:r>
          </a:p>
        </p:txBody>
      </p:sp>
      <p:sp>
        <p:nvSpPr>
          <p:cNvPr id="23" name="Generic outputs leave a gap">
            <a:extLst xmlns:a="http://schemas.openxmlformats.org/drawingml/2006/main">
              <a:ext uri="{FF2B5EF4-FFF2-40B4-BE49-F238E27FC236}">
                <a16:creationId xmlns:a16="http://schemas.microsoft.com/office/drawing/2014/main" id="{F03A9692-AEA4-4498-A418-E3F001276BB3}"/>
              </a:ext>
            </a:extLst>
          </p:cNvPr>
          <p:cNvSpPr>
            <a:spLocks xmlns:a="http://schemas.openxmlformats.org/drawingml/2006/main" noGrp="1"/>
          </p:cNvSpPr>
          <p:nvPr/>
        </p:nvSpPr>
        <p:spPr>
          <a:xfrm xmlns:a="http://schemas.openxmlformats.org/drawingml/2006/main">
            <a:off x="8439150" y="3971925"/>
            <a:ext cx="29051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3B4A"/>
                </a:solidFill>
                <a:latin typeface="Arial"/>
                <a:ea typeface="Arial"/>
                <a:cs typeface="Arial"/>
              </a:defRPr>
            </a:defPPr>
          </a:lstStyle>
          <a:p xmlns:a="http://schemas.openxmlformats.org/drawingml/2006/main">
            <a:pPr algn="l">
              <a:lnSpc>
                <a:spcPct val="105000"/>
              </a:lnSpc>
              <a:buNone/>
              <a:defRPr sz="1650" b="1">
                <a:solidFill>
                  <a:srgbClr val="173B4A"/>
                </a:solidFill>
                <a:latin typeface="Arial"/>
                <a:ea typeface="Arial"/>
                <a:cs typeface="Arial"/>
              </a:defRPr>
            </a:pPr>
            <a:r>
              <a:rPr sz="1650" b="1">
                <a:solidFill>
                  <a:srgbClr val="173B4A"/>
                </a:solidFill>
                <a:latin typeface="Arial"/>
                <a:ea typeface="Arial"/>
                <a:cs typeface="Arial"/>
              </a:rPr>
              <a:t>Generic outputs leave a gap</a:t>
            </a:r>
          </a:p>
        </p:txBody>
      </p:sp>
      <p:sp>
        <p:nvSpPr>
          <p:cNvPr id="24" name="A score or nutrient list may">
            <a:extLst xmlns:a="http://schemas.openxmlformats.org/drawingml/2006/main">
              <a:ext uri="{FF2B5EF4-FFF2-40B4-BE49-F238E27FC236}">
                <a16:creationId xmlns:a16="http://schemas.microsoft.com/office/drawing/2014/main" id="{5E6E9686-EF57-446A-AD6A-BE33DEF60C76}"/>
              </a:ext>
            </a:extLst>
          </p:cNvPr>
          <p:cNvSpPr>
            <a:spLocks xmlns:a="http://schemas.openxmlformats.org/drawingml/2006/main" noGrp="1"/>
          </p:cNvSpPr>
          <p:nvPr/>
        </p:nvSpPr>
        <p:spPr>
          <a:xfrm xmlns:a="http://schemas.openxmlformats.org/drawingml/2006/main">
            <a:off x="8439150" y="4324350"/>
            <a:ext cx="2905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36C74"/>
                </a:solidFill>
                <a:latin typeface="Arial"/>
                <a:ea typeface="Arial"/>
                <a:cs typeface="Arial"/>
              </a:defRPr>
            </a:defPPr>
          </a:lstStyle>
          <a:p xmlns:a="http://schemas.openxmlformats.org/drawingml/2006/main">
            <a:pPr algn="l">
              <a:lnSpc>
                <a:spcPct val="105000"/>
              </a:lnSpc>
              <a:buNone/>
              <a:defRPr sz="1350" b="0">
                <a:solidFill>
                  <a:srgbClr val="536C74"/>
                </a:solidFill>
                <a:latin typeface="Arial"/>
                <a:ea typeface="Arial"/>
                <a:cs typeface="Arial"/>
              </a:defRPr>
            </a:pPr>
            <a:r>
              <a:rPr sz="1350" b="0">
                <a:solidFill>
                  <a:srgbClr val="536C74"/>
                </a:solidFill>
                <a:latin typeface="Arial"/>
                <a:ea typeface="Arial"/>
                <a:cs typeface="Arial"/>
              </a:rPr>
              <a:t>A score or nutrient list may not explain how it relates to one person.</a:t>
            </a:r>
          </a:p>
        </p:txBody>
      </p:sp>
      <p:sp>
        <p:nvSpPr>
          <p:cNvPr id="25" name="">
            <a:extLst xmlns:a="http://schemas.openxmlformats.org/drawingml/2006/main">
              <a:ext uri="{FF2B5EF4-FFF2-40B4-BE49-F238E27FC236}">
                <a16:creationId xmlns:a16="http://schemas.microsoft.com/office/drawing/2014/main" id="{DBBE647C-3DC5-46C4-81DD-03B9B19A6F39}"/>
              </a:ext>
            </a:extLst>
          </p:cNvPr>
          <p:cNvSpPr>
            <a:spLocks xmlns:a="http://schemas.openxmlformats.org/drawingml/2006/main" noGrp="1"/>
          </p:cNvSpPr>
          <p:nvPr/>
        </p:nvSpPr>
        <p:spPr>
          <a:xfrm xmlns:a="http://schemas.openxmlformats.org/drawingml/2006/main">
            <a:off x="685800" y="5095875"/>
            <a:ext cx="708660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1430">
            <a:solidFill>
              <a:srgbClr val="D6E5E1"/>
            </a:solidFill>
            <a:prstDash val="solid"/>
          </a:ln>
        </p:spPr>
      </p:sp>
      <p:sp>
        <p:nvSpPr>
          <p:cNvPr id="26" name="OPPORTUNITY">
            <a:extLst xmlns:a="http://schemas.openxmlformats.org/drawingml/2006/main">
              <a:ext uri="{FF2B5EF4-FFF2-40B4-BE49-F238E27FC236}">
                <a16:creationId xmlns:a16="http://schemas.microsoft.com/office/drawing/2014/main" id="{A1A11959-5F4A-45E5-919B-C78B1BFFCEB2}"/>
              </a:ext>
            </a:extLst>
          </p:cNvPr>
          <p:cNvSpPr>
            <a:spLocks xmlns:a="http://schemas.openxmlformats.org/drawingml/2006/main" noGrp="1"/>
          </p:cNvSpPr>
          <p:nvPr/>
        </p:nvSpPr>
        <p:spPr>
          <a:xfrm xmlns:a="http://schemas.openxmlformats.org/drawingml/2006/main">
            <a:off x="876300" y="52482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176B65"/>
                </a:solidFill>
                <a:latin typeface="Arial"/>
                <a:ea typeface="Arial"/>
                <a:cs typeface="Arial"/>
              </a:defRPr>
            </a:defPPr>
          </a:lstStyle>
          <a:p xmlns:a="http://schemas.openxmlformats.org/drawingml/2006/main">
            <a:pPr algn="l">
              <a:lnSpc>
                <a:spcPct val="105000"/>
              </a:lnSpc>
              <a:buNone/>
              <a:defRPr sz="1050" b="1">
                <a:solidFill>
                  <a:srgbClr val="176B65"/>
                </a:solidFill>
                <a:latin typeface="Arial"/>
                <a:ea typeface="Arial"/>
                <a:cs typeface="Arial"/>
              </a:defRPr>
            </a:pPr>
            <a:r>
              <a:rPr sz="1050" b="1">
                <a:solidFill>
                  <a:srgbClr val="176B65"/>
                </a:solidFill>
                <a:latin typeface="Arial"/>
                <a:ea typeface="Arial"/>
                <a:cs typeface="Arial"/>
              </a:rPr>
              <a:t>OPPORTUNITY</a:t>
            </a:r>
          </a:p>
        </p:txBody>
      </p:sp>
      <p:sp>
        <p:nvSpPr>
          <p:cNvPr id="27" name="Connect a person’s health co">
            <a:extLst xmlns:a="http://schemas.openxmlformats.org/drawingml/2006/main">
              <a:ext uri="{FF2B5EF4-FFF2-40B4-BE49-F238E27FC236}">
                <a16:creationId xmlns:a16="http://schemas.microsoft.com/office/drawing/2014/main" id="{BB5D9BA8-F3F0-47E1-8709-1CD9DFA49F63}"/>
              </a:ext>
            </a:extLst>
          </p:cNvPr>
          <p:cNvSpPr>
            <a:spLocks xmlns:a="http://schemas.openxmlformats.org/drawingml/2006/main" noGrp="1"/>
          </p:cNvSpPr>
          <p:nvPr/>
        </p:nvSpPr>
        <p:spPr>
          <a:xfrm xmlns:a="http://schemas.openxmlformats.org/drawingml/2006/main">
            <a:off x="876300" y="5514975"/>
            <a:ext cx="6619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85"/>
          </a:bodyPr>
          <a:lstStyle xmlns:a="http://schemas.openxmlformats.org/drawingml/2006/main">
            <a:defPPr algn="l">
              <a:defRPr sz="1800" b="1">
                <a:solidFill>
                  <a:srgbClr val="173B4A"/>
                </a:solidFill>
                <a:latin typeface="Arial"/>
                <a:ea typeface="Arial"/>
                <a:cs typeface="Arial"/>
              </a:defRPr>
            </a:defPPr>
          </a:lstStyle>
          <a:p xmlns:a="http://schemas.openxmlformats.org/drawingml/2006/main">
            <a:pPr algn="l">
              <a:lnSpc>
                <a:spcPct val="105000"/>
              </a:lnSpc>
              <a:buNone/>
              <a:defRPr sz="1800" b="1">
                <a:solidFill>
                  <a:srgbClr val="173B4A"/>
                </a:solidFill>
                <a:latin typeface="Arial"/>
                <a:ea typeface="Arial"/>
                <a:cs typeface="Arial"/>
              </a:defRPr>
            </a:pPr>
            <a:r>
              <a:rPr sz="1800" b="1">
                <a:solidFill>
                  <a:srgbClr val="173B4A"/>
                </a:solidFill>
                <a:latin typeface="Arial"/>
                <a:ea typeface="Arial"/>
                <a:cs typeface="Arial"/>
              </a:rPr>
              <a:t>Connect a person’s health context with the food in front of them.</a:t>
            </a:r>
          </a:p>
        </p:txBody>
      </p:sp>
      <p:sp>
        <p:nvSpPr>
          <p:cNvPr id="28" name="">
            <a:extLst xmlns:a="http://schemas.openxmlformats.org/drawingml/2006/main">
              <a:ext uri="{FF2B5EF4-FFF2-40B4-BE49-F238E27FC236}">
                <a16:creationId xmlns:a16="http://schemas.microsoft.com/office/drawing/2014/main" id="{1790A6B7-0C98-427A-9D8D-641D3A829FC3}"/>
              </a:ext>
            </a:extLst>
          </p:cNvPr>
          <p:cNvSpPr>
            <a:spLocks xmlns:a="http://schemas.openxmlformats.org/drawingml/2006/main" noGrp="1"/>
          </p:cNvSpPr>
          <p:nvPr/>
        </p:nvSpPr>
        <p:spPr>
          <a:xfrm xmlns:a="http://schemas.openxmlformats.org/drawingml/2006/main">
            <a:off x="8058150" y="5095875"/>
            <a:ext cx="3448050" cy="857250"/>
          </a:xfrm>
          <a:prstGeom xmlns:a="http://schemas.openxmlformats.org/drawingml/2006/main" prst="roundRect">
            <a:avLst>
              <a:gd name="adj" fmla="val 8889"/>
            </a:avLst>
          </a:prstGeom>
          <a:solidFill xmlns:a="http://schemas.openxmlformats.org/drawingml/2006/main">
            <a:srgbClr val="F5EACB"/>
          </a:solidFill>
          <a:ln xmlns:a="http://schemas.openxmlformats.org/drawingml/2006/main" w="0">
            <a:noFill/>
            <a:prstDash val="solid"/>
          </a:ln>
        </p:spPr>
      </p:sp>
      <p:sp>
        <p:nvSpPr>
          <p:cNvPr id="29" name="TEAM DETAILS  /  THEME: HEAL">
            <a:extLst xmlns:a="http://schemas.openxmlformats.org/drawingml/2006/main">
              <a:ext uri="{FF2B5EF4-FFF2-40B4-BE49-F238E27FC236}">
                <a16:creationId xmlns:a16="http://schemas.microsoft.com/office/drawing/2014/main" id="{ED06B2C3-C64F-4FB6-B7F2-CE5870F90205}"/>
              </a:ext>
            </a:extLst>
          </p:cNvPr>
          <p:cNvSpPr>
            <a:spLocks xmlns:a="http://schemas.openxmlformats.org/drawingml/2006/main" noGrp="1"/>
          </p:cNvSpPr>
          <p:nvPr/>
        </p:nvSpPr>
        <p:spPr>
          <a:xfrm xmlns:a="http://schemas.openxmlformats.org/drawingml/2006/main">
            <a:off x="8248650" y="5248275"/>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A07824"/>
                </a:solidFill>
                <a:latin typeface="Arial"/>
                <a:ea typeface="Arial"/>
                <a:cs typeface="Arial"/>
              </a:defRPr>
            </a:defPPr>
          </a:lstStyle>
          <a:p xmlns:a="http://schemas.openxmlformats.org/drawingml/2006/main">
            <a:pPr algn="l">
              <a:lnSpc>
                <a:spcPct val="105000"/>
              </a:lnSpc>
              <a:buNone/>
              <a:defRPr sz="1050" b="1">
                <a:solidFill>
                  <a:srgbClr val="A07824"/>
                </a:solidFill>
                <a:latin typeface="Arial"/>
                <a:ea typeface="Arial"/>
                <a:cs typeface="Arial"/>
              </a:defRPr>
            </a:pPr>
            <a:r>
              <a:rPr sz="1050" b="1">
                <a:solidFill>
                  <a:srgbClr val="A07824"/>
                </a:solidFill>
                <a:latin typeface="Arial"/>
                <a:ea typeface="Arial"/>
                <a:cs typeface="Arial"/>
              </a:rPr>
              <a:t>TEAM DETAILS  /  THEME: HEALTHCARE</a:t>
            </a:r>
          </a:p>
        </p:txBody>
      </p:sp>
      <p:sp>
        <p:nvSpPr>
          <p:cNvPr id="30" name="VITALIS  ·  Health Tech">
            <a:extLst xmlns:a="http://schemas.openxmlformats.org/drawingml/2006/main">
              <a:ext uri="{FF2B5EF4-FFF2-40B4-BE49-F238E27FC236}">
                <a16:creationId xmlns:a16="http://schemas.microsoft.com/office/drawing/2014/main" id="{E6DFDC3C-B751-4AF9-A243-398DB28AA531}"/>
              </a:ext>
            </a:extLst>
          </p:cNvPr>
          <p:cNvSpPr>
            <a:spLocks xmlns:a="http://schemas.openxmlformats.org/drawingml/2006/main" noGrp="1"/>
          </p:cNvSpPr>
          <p:nvPr/>
        </p:nvSpPr>
        <p:spPr>
          <a:xfrm xmlns:a="http://schemas.openxmlformats.org/drawingml/2006/main">
            <a:off x="8248650" y="5514975"/>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3B4A"/>
                </a:solidFill>
                <a:latin typeface="Arial"/>
                <a:ea typeface="Arial"/>
                <a:cs typeface="Arial"/>
              </a:defRPr>
            </a:defPPr>
          </a:lstStyle>
          <a:p xmlns:a="http://schemas.openxmlformats.org/drawingml/2006/main">
            <a:pPr algn="l">
              <a:lnSpc>
                <a:spcPct val="105000"/>
              </a:lnSpc>
              <a:buNone/>
              <a:defRPr sz="1500" b="1">
                <a:solidFill>
                  <a:srgbClr val="173B4A"/>
                </a:solidFill>
                <a:latin typeface="Arial"/>
                <a:ea typeface="Arial"/>
                <a:cs typeface="Arial"/>
              </a:defRPr>
            </a:pPr>
            <a:r>
              <a:rPr sz="1500" b="1">
                <a:solidFill>
                  <a:srgbClr val="173B4A"/>
                </a:solidFill>
                <a:latin typeface="Arial"/>
                <a:ea typeface="Arial"/>
                <a:cs typeface="Arial"/>
              </a:rPr>
              <a:t>VITALIS  ·  Health Tech</a:t>
            </a:r>
          </a:p>
        </p:txBody>
      </p:sp>
      <p:sp>
        <p:nvSpPr>
          <p:cNvPr id="31" name="Team ID: __________________">
            <a:extLst xmlns:a="http://schemas.openxmlformats.org/drawingml/2006/main">
              <a:ext uri="{FF2B5EF4-FFF2-40B4-BE49-F238E27FC236}">
                <a16:creationId xmlns:a16="http://schemas.microsoft.com/office/drawing/2014/main" id="{EA00227E-B188-422D-8CB5-180C86D439AE}"/>
              </a:ext>
            </a:extLst>
          </p:cNvPr>
          <p:cNvSpPr>
            <a:spLocks xmlns:a="http://schemas.openxmlformats.org/drawingml/2006/main" noGrp="1"/>
          </p:cNvSpPr>
          <p:nvPr/>
        </p:nvSpPr>
        <p:spPr>
          <a:xfrm xmlns:a="http://schemas.openxmlformats.org/drawingml/2006/main">
            <a:off x="8248650" y="5762625"/>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8"/>
          </a:bodyPr>
          <a:lstStyle xmlns:a="http://schemas.openxmlformats.org/drawingml/2006/main">
            <a:defPPr algn="l">
              <a:defRPr sz="1125" b="0">
                <a:solidFill>
                  <a:srgbClr val="536C74"/>
                </a:solidFill>
                <a:latin typeface="Arial"/>
                <a:ea typeface="Arial"/>
                <a:cs typeface="Arial"/>
              </a:defRPr>
            </a:defPPr>
          </a:lstStyle>
          <a:p xmlns:a="http://schemas.openxmlformats.org/drawingml/2006/main">
            <a:pPr algn="l">
              <a:lnSpc>
                <a:spcPct val="105000"/>
              </a:lnSpc>
              <a:buNone/>
              <a:defRPr sz="1125" b="0">
                <a:solidFill>
                  <a:srgbClr val="536C74"/>
                </a:solidFill>
                <a:latin typeface="Arial"/>
                <a:ea typeface="Arial"/>
                <a:cs typeface="Arial"/>
              </a:defRPr>
            </a:pPr>
            <a:r>
              <a:rPr sz="1125" b="0">
                <a:solidFill>
                  <a:srgbClr val="536C74"/>
                </a:solidFill>
                <a:latin typeface="Arial"/>
                <a:ea typeface="Arial"/>
                <a:cs typeface="Arial"/>
              </a:rPr>
              <a:t>Team ID: __________________</a:t>
            </a:r>
          </a:p>
        </p:txBody>
      </p:sp>
      <p:sp>
        <p:nvSpPr>
          <p:cNvPr id="32" name="Problem statement ID: ______">
            <a:extLst xmlns:a="http://schemas.openxmlformats.org/drawingml/2006/main">
              <a:ext uri="{FF2B5EF4-FFF2-40B4-BE49-F238E27FC236}">
                <a16:creationId xmlns:a16="http://schemas.microsoft.com/office/drawing/2014/main" id="{E53D338D-53ED-4D99-BCC5-C80A4F1D7A0B}"/>
              </a:ext>
            </a:extLst>
          </p:cNvPr>
          <p:cNvSpPr>
            <a:spLocks xmlns:a="http://schemas.openxmlformats.org/drawingml/2006/main" noGrp="1"/>
          </p:cNvSpPr>
          <p:nvPr/>
        </p:nvSpPr>
        <p:spPr>
          <a:xfrm xmlns:a="http://schemas.openxmlformats.org/drawingml/2006/main">
            <a:off x="8096250" y="6057900"/>
            <a:ext cx="3381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C74"/>
                </a:solidFill>
                <a:latin typeface="Arial"/>
                <a:ea typeface="Arial"/>
                <a:cs typeface="Arial"/>
              </a:defRPr>
            </a:defPPr>
          </a:lstStyle>
          <a:p xmlns:a="http://schemas.openxmlformats.org/drawingml/2006/main">
            <a:pPr algn="l">
              <a:lnSpc>
                <a:spcPct val="105000"/>
              </a:lnSpc>
              <a:buNone/>
              <a:defRPr sz="1125" b="0">
                <a:solidFill>
                  <a:srgbClr val="536C74"/>
                </a:solidFill>
                <a:latin typeface="Arial"/>
                <a:ea typeface="Arial"/>
                <a:cs typeface="Arial"/>
              </a:defRPr>
            </a:pPr>
            <a:r>
              <a:rPr sz="1125" b="0">
                <a:solidFill>
                  <a:srgbClr val="536C74"/>
                </a:solidFill>
                <a:latin typeface="Arial"/>
                <a:ea typeface="Arial"/>
                <a:cs typeface="Arial"/>
              </a:rPr>
              <a:t>Problem statement ID: ____________________</a:t>
            </a:r>
          </a:p>
        </p:txBody>
      </p:sp>
    </p:spTree>
    <p:extLst>
      <p:ext uri="{BB962C8B-B14F-4D97-AF65-F5344CB8AC3E}">
        <p14:creationId xmlns:p14="http://schemas.microsoft.com/office/powerpoint/2010/main" val="296212969"/>
      </p:ext>
    </p:extLst>
  </p:cSld>
</p:sld>
</file>

<file path=ppt/slides/slide2.xml><?xml version="1.0" encoding="utf-8"?>
<p:sld xmlns:p="http://schemas.openxmlformats.org/presentationml/2006/main">
  <p:cSld>
    <p:bg>
      <p:bgPr>
        <a:gradFill xmlns:a="http://schemas.openxmlformats.org/drawingml/2006/main">
          <a:gsLst>
            <a:gs pos="0">
              <a:srgbClr val="F3FAF7"/>
            </a:gs>
            <a:gs pos="100000">
              <a:srgbClr val="FBFCFC"/>
            </a:gs>
          </a:gsLst>
          <a:lin ang="0"/>
        </a:gradFill>
      </p:bgPr>
    </p:bg>
    <p:spTree>
      <p:nvGrpSpPr>
        <p:cNvPr id="1" name=""/>
        <p:cNvGrpSpPr/>
        <p:nvPr/>
      </p:nvGrpSpPr>
      <p:grpSpPr>
        <a:xfrm xmlns:a="http://schemas.openxmlformats.org/drawingml/2006/main"/>
      </p:grpSpPr>
      <p:sp>
        <p:nvSpPr>
          <p:cNvPr id="41" name="VITALIS  /  HEALTH TECH">
            <a:extLst xmlns:a="http://schemas.openxmlformats.org/drawingml/2006/main">
              <a:ext uri="{FF2B5EF4-FFF2-40B4-BE49-F238E27FC236}">
                <a16:creationId xmlns:a16="http://schemas.microsoft.com/office/drawing/2014/main" id="{FCF926F0-F41A-4799-A9BE-E2BC2F919677}"/>
              </a:ext>
            </a:extLst>
          </p:cNvPr>
          <p:cNvSpPr>
            <a:spLocks xmlns:a="http://schemas.openxmlformats.org/drawingml/2006/main" noGrp="1"/>
          </p:cNvSpPr>
          <p:nvPr/>
        </p:nvSpPr>
        <p:spPr>
          <a:xfrm xmlns:a="http://schemas.openxmlformats.org/drawingml/2006/main">
            <a:off x="628650" y="28575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76B65"/>
                </a:solidFill>
                <a:latin typeface="Arial"/>
                <a:ea typeface="Arial"/>
                <a:cs typeface="Arial"/>
              </a:defRPr>
            </a:defPPr>
          </a:lstStyle>
          <a:p xmlns:a="http://schemas.openxmlformats.org/drawingml/2006/main">
            <a:pPr algn="l">
              <a:lnSpc>
                <a:spcPct val="105000"/>
              </a:lnSpc>
              <a:buNone/>
              <a:defRPr sz="1125" b="1">
                <a:solidFill>
                  <a:srgbClr val="176B65"/>
                </a:solidFill>
                <a:latin typeface="Arial"/>
                <a:ea typeface="Arial"/>
                <a:cs typeface="Arial"/>
              </a:defRPr>
            </a:pPr>
            <a:r>
              <a:rPr sz="1125" b="1">
                <a:solidFill>
                  <a:srgbClr val="176B65"/>
                </a:solidFill>
                <a:latin typeface="Arial"/>
                <a:ea typeface="Arial"/>
                <a:cs typeface="Arial"/>
              </a:rPr>
              <a:t>VITALIS  /  HEALTH TECH</a:t>
            </a:r>
          </a:p>
        </p:txBody>
      </p:sp>
      <p:sp>
        <p:nvSpPr>
          <p:cNvPr id="2" name="Existing tools cover parts o">
            <a:extLst xmlns:a="http://schemas.openxmlformats.org/drawingml/2006/main">
              <a:ext uri="{FF2B5EF4-FFF2-40B4-BE49-F238E27FC236}">
                <a16:creationId xmlns:a16="http://schemas.microsoft.com/office/drawing/2014/main" id="{25CFA1B2-ACFB-455F-B204-A072065C8C5E}"/>
              </a:ext>
            </a:extLst>
          </p:cNvPr>
          <p:cNvSpPr>
            <a:spLocks xmlns:a="http://schemas.openxmlformats.org/drawingml/2006/main" noGrp="1"/>
          </p:cNvSpPr>
          <p:nvPr/>
        </p:nvSpPr>
        <p:spPr>
          <a:xfrm xmlns:a="http://schemas.openxmlformats.org/drawingml/2006/main">
            <a:off x="628650" y="571500"/>
            <a:ext cx="1085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000" b="1">
                <a:solidFill>
                  <a:srgbClr val="173B4A"/>
                </a:solidFill>
                <a:latin typeface="Arial"/>
                <a:ea typeface="Arial"/>
                <a:cs typeface="Arial"/>
              </a:defRPr>
            </a:defPPr>
          </a:lstStyle>
          <a:p xmlns:a="http://schemas.openxmlformats.org/drawingml/2006/main">
            <a:pPr algn="l">
              <a:lnSpc>
                <a:spcPct val="105000"/>
              </a:lnSpc>
              <a:buNone/>
              <a:defRPr sz="3000" b="1">
                <a:solidFill>
                  <a:srgbClr val="173B4A"/>
                </a:solidFill>
                <a:latin typeface="Arial"/>
                <a:ea typeface="Arial"/>
                <a:cs typeface="Arial"/>
              </a:defRPr>
            </a:pPr>
            <a:r>
              <a:rPr sz="3000" b="1">
                <a:solidFill>
                  <a:srgbClr val="173B4A"/>
                </a:solidFill>
                <a:latin typeface="Arial"/>
                <a:ea typeface="Arial"/>
                <a:cs typeface="Arial"/>
              </a:rPr>
              <a:t>Existing tools cover parts of the journey</a:t>
            </a:r>
          </a:p>
        </p:txBody>
      </p:sp>
      <p:sp>
        <p:nvSpPr>
          <p:cNvPr id="3" name="Landscape scan  /  Proposed ">
            <a:extLst xmlns:a="http://schemas.openxmlformats.org/drawingml/2006/main">
              <a:ext uri="{FF2B5EF4-FFF2-40B4-BE49-F238E27FC236}">
                <a16:creationId xmlns:a16="http://schemas.microsoft.com/office/drawing/2014/main" id="{537DC374-3866-4270-8A2B-606E7AB337AC}"/>
              </a:ext>
            </a:extLst>
          </p:cNvPr>
          <p:cNvSpPr>
            <a:spLocks xmlns:a="http://schemas.openxmlformats.org/drawingml/2006/main" noGrp="1"/>
          </p:cNvSpPr>
          <p:nvPr/>
        </p:nvSpPr>
        <p:spPr>
          <a:xfrm xmlns:a="http://schemas.openxmlformats.org/drawingml/2006/main">
            <a:off x="647700" y="1095375"/>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36C74"/>
                </a:solidFill>
                <a:latin typeface="Arial"/>
                <a:ea typeface="Arial"/>
                <a:cs typeface="Arial"/>
              </a:defRPr>
            </a:defPPr>
          </a:lstStyle>
          <a:p xmlns:a="http://schemas.openxmlformats.org/drawingml/2006/main">
            <a:pPr algn="l">
              <a:lnSpc>
                <a:spcPct val="105000"/>
              </a:lnSpc>
              <a:buNone/>
              <a:defRPr sz="1575" b="0">
                <a:solidFill>
                  <a:srgbClr val="536C74"/>
                </a:solidFill>
                <a:latin typeface="Arial"/>
                <a:ea typeface="Arial"/>
                <a:cs typeface="Arial"/>
              </a:defRPr>
            </a:pPr>
            <a:r>
              <a:rPr sz="1575" b="0">
                <a:solidFill>
                  <a:srgbClr val="536C74"/>
                </a:solidFill>
                <a:latin typeface="Arial"/>
                <a:ea typeface="Arial"/>
                <a:cs typeface="Arial"/>
              </a:rPr>
              <a:t>Landscape scan  /  Proposed gap: connect the person, the product, and an understandable next step</a:t>
            </a:r>
          </a:p>
        </p:txBody>
      </p:sp>
      <p:sp>
        <p:nvSpPr>
          <p:cNvPr id="4" name="">
            <a:extLst xmlns:a="http://schemas.openxmlformats.org/drawingml/2006/main">
              <a:ext uri="{FF2B5EF4-FFF2-40B4-BE49-F238E27FC236}">
                <a16:creationId xmlns:a16="http://schemas.microsoft.com/office/drawing/2014/main" id="{0EB4A0A0-68CE-47FE-81EE-78AD487DFF7C}"/>
              </a:ext>
            </a:extLst>
          </p:cNvPr>
          <p:cNvSpPr>
            <a:spLocks xmlns:a="http://schemas.openxmlformats.org/drawingml/2006/main" noGrp="1"/>
          </p:cNvSpPr>
          <p:nvPr/>
        </p:nvSpPr>
        <p:spPr>
          <a:xfrm xmlns:a="http://schemas.openxmlformats.org/drawingml/2006/main">
            <a:off x="628650" y="6400800"/>
            <a:ext cx="10934700" cy="9525"/>
          </a:xfrm>
          <a:prstGeom xmlns:a="http://schemas.openxmlformats.org/drawingml/2006/main" prst="rect">
            <a:avLst/>
          </a:prstGeom>
          <a:solidFill xmlns:a="http://schemas.openxmlformats.org/drawingml/2006/main">
            <a:srgbClr val="D6E5E1"/>
          </a:solidFill>
          <a:ln xmlns:a="http://schemas.openxmlformats.org/drawingml/2006/main" w="0">
            <a:noFill/>
            <a:prstDash val="solid"/>
          </a:ln>
        </p:spPr>
      </p:sp>
      <p:sp>
        <p:nvSpPr>
          <p:cNvPr id="5" name="VITALIS  |  HACK X 2026">
            <a:extLst xmlns:a="http://schemas.openxmlformats.org/drawingml/2006/main">
              <a:ext uri="{FF2B5EF4-FFF2-40B4-BE49-F238E27FC236}">
                <a16:creationId xmlns:a16="http://schemas.microsoft.com/office/drawing/2014/main" id="{9BDBB84B-C5D8-48E7-89ED-F92835D84DDB}"/>
              </a:ext>
            </a:extLst>
          </p:cNvPr>
          <p:cNvSpPr>
            <a:spLocks xmlns:a="http://schemas.openxmlformats.org/drawingml/2006/main" noGrp="1"/>
          </p:cNvSpPr>
          <p:nvPr/>
        </p:nvSpPr>
        <p:spPr>
          <a:xfrm xmlns:a="http://schemas.openxmlformats.org/drawingml/2006/main">
            <a:off x="647700" y="64770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36C74"/>
                </a:solidFill>
                <a:latin typeface="Arial"/>
                <a:ea typeface="Arial"/>
                <a:cs typeface="Arial"/>
              </a:defRPr>
            </a:defPPr>
          </a:lstStyle>
          <a:p xmlns:a="http://schemas.openxmlformats.org/drawingml/2006/main">
            <a:pPr algn="l">
              <a:lnSpc>
                <a:spcPct val="105000"/>
              </a:lnSpc>
              <a:buNone/>
              <a:defRPr sz="975" b="1">
                <a:solidFill>
                  <a:srgbClr val="536C74"/>
                </a:solidFill>
                <a:latin typeface="Arial"/>
                <a:ea typeface="Arial"/>
                <a:cs typeface="Arial"/>
              </a:defRPr>
            </a:pPr>
            <a:r>
              <a:rPr sz="975" b="1">
                <a:solidFill>
                  <a:srgbClr val="536C74"/>
                </a:solidFill>
                <a:latin typeface="Arial"/>
                <a:ea typeface="Arial"/>
                <a:cs typeface="Arial"/>
              </a:rPr>
              <a:t>VITALIS  |  HACK X 2026</a:t>
            </a:r>
          </a:p>
        </p:txBody>
      </p:sp>
      <p:sp>
        <p:nvSpPr>
          <p:cNvPr id="6" name="02  /  06">
            <a:extLst xmlns:a="http://schemas.openxmlformats.org/drawingml/2006/main">
              <a:ext uri="{FF2B5EF4-FFF2-40B4-BE49-F238E27FC236}">
                <a16:creationId xmlns:a16="http://schemas.microsoft.com/office/drawing/2014/main" id="{D22ED04C-AEE0-4C3C-A931-F0A6CBFAF78A}"/>
              </a:ext>
            </a:extLst>
          </p:cNvPr>
          <p:cNvSpPr>
            <a:spLocks xmlns:a="http://schemas.openxmlformats.org/drawingml/2006/main" noGrp="1"/>
          </p:cNvSpPr>
          <p:nvPr/>
        </p:nvSpPr>
        <p:spPr>
          <a:xfrm xmlns:a="http://schemas.openxmlformats.org/drawingml/2006/main">
            <a:off x="10687050" y="647700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C74"/>
                </a:solidFill>
                <a:latin typeface="Arial"/>
                <a:ea typeface="Arial"/>
                <a:cs typeface="Arial"/>
              </a:defRPr>
            </a:defPPr>
          </a:lstStyle>
          <a:p xmlns:a="http://schemas.openxmlformats.org/drawingml/2006/main">
            <a:pPr algn="r">
              <a:lnSpc>
                <a:spcPct val="105000"/>
              </a:lnSpc>
              <a:buNone/>
              <a:defRPr sz="975" b="1">
                <a:solidFill>
                  <a:srgbClr val="536C74"/>
                </a:solidFill>
                <a:latin typeface="Arial"/>
                <a:ea typeface="Arial"/>
                <a:cs typeface="Arial"/>
              </a:defRPr>
            </a:pPr>
            <a:r>
              <a:rPr sz="975" b="1">
                <a:solidFill>
                  <a:srgbClr val="536C74"/>
                </a:solidFill>
                <a:latin typeface="Arial"/>
                <a:ea typeface="Arial"/>
                <a:cs typeface="Arial"/>
              </a:rPr>
              <a:t>02  /  06</a:t>
            </a:r>
          </a:p>
        </p:txBody>
      </p:sp>
      <p:sp>
        <p:nvSpPr>
          <p:cNvPr id="7" name="">
            <a:extLst xmlns:a="http://schemas.openxmlformats.org/drawingml/2006/main">
              <a:ext uri="{FF2B5EF4-FFF2-40B4-BE49-F238E27FC236}">
                <a16:creationId xmlns:a16="http://schemas.microsoft.com/office/drawing/2014/main" id="{44227124-9066-4DB4-8BEA-32CCF3B40BDF}"/>
              </a:ext>
            </a:extLst>
          </p:cNvPr>
          <p:cNvSpPr>
            <a:spLocks xmlns:a="http://schemas.openxmlformats.org/drawingml/2006/main" noGrp="1"/>
          </p:cNvSpPr>
          <p:nvPr/>
        </p:nvSpPr>
        <p:spPr>
          <a:xfrm xmlns:a="http://schemas.openxmlformats.org/drawingml/2006/main">
            <a:off x="647700" y="1724025"/>
            <a:ext cx="3257550" cy="3962400"/>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8" name="TODAY’S TOOL CATEGORIES">
            <a:extLst xmlns:a="http://schemas.openxmlformats.org/drawingml/2006/main">
              <a:ext uri="{FF2B5EF4-FFF2-40B4-BE49-F238E27FC236}">
                <a16:creationId xmlns:a16="http://schemas.microsoft.com/office/drawing/2014/main" id="{DF777C4E-E515-4AF2-8753-27453E775580}"/>
              </a:ext>
            </a:extLst>
          </p:cNvPr>
          <p:cNvSpPr>
            <a:spLocks xmlns:a="http://schemas.openxmlformats.org/drawingml/2006/main" noGrp="1"/>
          </p:cNvSpPr>
          <p:nvPr/>
        </p:nvSpPr>
        <p:spPr>
          <a:xfrm xmlns:a="http://schemas.openxmlformats.org/drawingml/2006/main">
            <a:off x="838200" y="1895475"/>
            <a:ext cx="28765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477A97"/>
                </a:solidFill>
                <a:latin typeface="Arial"/>
                <a:ea typeface="Arial"/>
                <a:cs typeface="Arial"/>
              </a:defRPr>
            </a:defPPr>
          </a:lstStyle>
          <a:p xmlns:a="http://schemas.openxmlformats.org/drawingml/2006/main">
            <a:pPr algn="l">
              <a:lnSpc>
                <a:spcPct val="105000"/>
              </a:lnSpc>
              <a:buNone/>
              <a:defRPr sz="1125" b="1">
                <a:solidFill>
                  <a:srgbClr val="477A97"/>
                </a:solidFill>
                <a:latin typeface="Arial"/>
                <a:ea typeface="Arial"/>
                <a:cs typeface="Arial"/>
              </a:defRPr>
            </a:pPr>
            <a:r>
              <a:rPr sz="1125" b="1">
                <a:solidFill>
                  <a:srgbClr val="477A97"/>
                </a:solidFill>
                <a:latin typeface="Arial"/>
                <a:ea typeface="Arial"/>
                <a:cs typeface="Arial"/>
              </a:rPr>
              <a:t>TODAY’S TOOL CATEGORIES</a:t>
            </a:r>
          </a:p>
        </p:txBody>
      </p:sp>
      <p:sp>
        <p:nvSpPr>
          <p:cNvPr id="9" name="Product scanners">
            <a:extLst xmlns:a="http://schemas.openxmlformats.org/drawingml/2006/main">
              <a:ext uri="{FF2B5EF4-FFF2-40B4-BE49-F238E27FC236}">
                <a16:creationId xmlns:a16="http://schemas.microsoft.com/office/drawing/2014/main" id="{78626783-A9C6-4FAE-9BC2-49A077ABD50C}"/>
              </a:ext>
            </a:extLst>
          </p:cNvPr>
          <p:cNvSpPr>
            <a:spLocks xmlns:a="http://schemas.openxmlformats.org/drawingml/2006/main" noGrp="1"/>
          </p:cNvSpPr>
          <p:nvPr/>
        </p:nvSpPr>
        <p:spPr>
          <a:xfrm xmlns:a="http://schemas.openxmlformats.org/drawingml/2006/main">
            <a:off x="838200" y="2257425"/>
            <a:ext cx="28384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73B4A"/>
                </a:solidFill>
                <a:latin typeface="Arial"/>
                <a:ea typeface="Arial"/>
                <a:cs typeface="Arial"/>
              </a:defRPr>
            </a:defPPr>
          </a:lstStyle>
          <a:p xmlns:a="http://schemas.openxmlformats.org/drawingml/2006/main">
            <a:pPr algn="l">
              <a:lnSpc>
                <a:spcPct val="105000"/>
              </a:lnSpc>
              <a:buNone/>
              <a:defRPr sz="1725" b="1">
                <a:solidFill>
                  <a:srgbClr val="173B4A"/>
                </a:solidFill>
                <a:latin typeface="Arial"/>
                <a:ea typeface="Arial"/>
                <a:cs typeface="Arial"/>
              </a:defRPr>
            </a:pPr>
            <a:r>
              <a:rPr sz="1725" b="1">
                <a:solidFill>
                  <a:srgbClr val="173B4A"/>
                </a:solidFill>
                <a:latin typeface="Arial"/>
                <a:ea typeface="Arial"/>
                <a:cs typeface="Arial"/>
              </a:rPr>
              <a:t>Product scanners</a:t>
            </a:r>
          </a:p>
        </p:txBody>
      </p:sp>
      <p:sp>
        <p:nvSpPr>
          <p:cNvPr id="10" name="Yuka describes product score">
            <a:extLst xmlns:a="http://schemas.openxmlformats.org/drawingml/2006/main">
              <a:ext uri="{FF2B5EF4-FFF2-40B4-BE49-F238E27FC236}">
                <a16:creationId xmlns:a16="http://schemas.microsoft.com/office/drawing/2014/main" id="{6565111C-66E6-4A1D-832B-FE7268A8998F}"/>
              </a:ext>
            </a:extLst>
          </p:cNvPr>
          <p:cNvSpPr>
            <a:spLocks xmlns:a="http://schemas.openxmlformats.org/drawingml/2006/main" noGrp="1"/>
          </p:cNvSpPr>
          <p:nvPr/>
        </p:nvSpPr>
        <p:spPr>
          <a:xfrm xmlns:a="http://schemas.openxmlformats.org/drawingml/2006/main">
            <a:off x="838200" y="2590800"/>
            <a:ext cx="28384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36C74"/>
                </a:solidFill>
                <a:latin typeface="Arial"/>
                <a:ea typeface="Arial"/>
                <a:cs typeface="Arial"/>
              </a:defRPr>
            </a:defPPr>
          </a:lstStyle>
          <a:p xmlns:a="http://schemas.openxmlformats.org/drawingml/2006/main">
            <a:pPr algn="l">
              <a:lnSpc>
                <a:spcPct val="105000"/>
              </a:lnSpc>
              <a:buNone/>
              <a:defRPr sz="1350" b="0">
                <a:solidFill>
                  <a:srgbClr val="536C74"/>
                </a:solidFill>
                <a:latin typeface="Arial"/>
                <a:ea typeface="Arial"/>
                <a:cs typeface="Arial"/>
              </a:defRPr>
            </a:pPr>
            <a:r>
              <a:rPr sz="1350" b="0">
                <a:solidFill>
                  <a:srgbClr val="536C74"/>
                </a:solidFill>
                <a:latin typeface="Arial"/>
                <a:ea typeface="Arial"/>
                <a:cs typeface="Arial"/>
              </a:rPr>
              <a:t>Yuka describes product scores and alternatives.</a:t>
            </a:r>
          </a:p>
        </p:txBody>
      </p:sp>
      <p:sp>
        <p:nvSpPr>
          <p:cNvPr id="11" name="Nutrition trackers">
            <a:extLst xmlns:a="http://schemas.openxmlformats.org/drawingml/2006/main">
              <a:ext uri="{FF2B5EF4-FFF2-40B4-BE49-F238E27FC236}">
                <a16:creationId xmlns:a16="http://schemas.microsoft.com/office/drawing/2014/main" id="{F9205349-6DF3-4EAD-9D2C-1A16AFB49DBD}"/>
              </a:ext>
            </a:extLst>
          </p:cNvPr>
          <p:cNvSpPr>
            <a:spLocks xmlns:a="http://schemas.openxmlformats.org/drawingml/2006/main" noGrp="1"/>
          </p:cNvSpPr>
          <p:nvPr/>
        </p:nvSpPr>
        <p:spPr>
          <a:xfrm xmlns:a="http://schemas.openxmlformats.org/drawingml/2006/main">
            <a:off x="838200" y="3219450"/>
            <a:ext cx="2838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618"/>
          </a:bodyPr>
          <a:lstStyle xmlns:a="http://schemas.openxmlformats.org/drawingml/2006/main">
            <a:defPPr algn="l">
              <a:defRPr sz="1725" b="1">
                <a:solidFill>
                  <a:srgbClr val="173B4A"/>
                </a:solidFill>
                <a:latin typeface="Arial"/>
                <a:ea typeface="Arial"/>
                <a:cs typeface="Arial"/>
              </a:defRPr>
            </a:defPPr>
          </a:lstStyle>
          <a:p xmlns:a="http://schemas.openxmlformats.org/drawingml/2006/main">
            <a:pPr algn="l">
              <a:lnSpc>
                <a:spcPct val="105000"/>
              </a:lnSpc>
              <a:buNone/>
              <a:defRPr sz="1725" b="1">
                <a:solidFill>
                  <a:srgbClr val="173B4A"/>
                </a:solidFill>
                <a:latin typeface="Arial"/>
                <a:ea typeface="Arial"/>
                <a:cs typeface="Arial"/>
              </a:defRPr>
            </a:pPr>
            <a:r>
              <a:rPr sz="1725" b="1">
                <a:solidFill>
                  <a:srgbClr val="173B4A"/>
                </a:solidFill>
                <a:latin typeface="Arial"/>
                <a:ea typeface="Arial"/>
                <a:cs typeface="Arial"/>
              </a:rPr>
              <a:t>Nutrition trackers</a:t>
            </a:r>
          </a:p>
        </p:txBody>
      </p:sp>
      <p:sp>
        <p:nvSpPr>
          <p:cNvPr id="12" name="MyFitnessPal focuses on food">
            <a:extLst xmlns:a="http://schemas.openxmlformats.org/drawingml/2006/main">
              <a:ext uri="{FF2B5EF4-FFF2-40B4-BE49-F238E27FC236}">
                <a16:creationId xmlns:a16="http://schemas.microsoft.com/office/drawing/2014/main" id="{DA86C7B1-EBFB-4A68-BFDB-84D1A1D8B0FE}"/>
              </a:ext>
            </a:extLst>
          </p:cNvPr>
          <p:cNvSpPr>
            <a:spLocks xmlns:a="http://schemas.openxmlformats.org/drawingml/2006/main" noGrp="1"/>
          </p:cNvSpPr>
          <p:nvPr/>
        </p:nvSpPr>
        <p:spPr>
          <a:xfrm xmlns:a="http://schemas.openxmlformats.org/drawingml/2006/main">
            <a:off x="838200" y="3562350"/>
            <a:ext cx="2838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36C74"/>
                </a:solidFill>
                <a:latin typeface="Arial"/>
                <a:ea typeface="Arial"/>
                <a:cs typeface="Arial"/>
              </a:defRPr>
            </a:defPPr>
          </a:lstStyle>
          <a:p xmlns:a="http://schemas.openxmlformats.org/drawingml/2006/main">
            <a:pPr algn="l">
              <a:lnSpc>
                <a:spcPct val="105000"/>
              </a:lnSpc>
              <a:buNone/>
              <a:defRPr sz="1350" b="0">
                <a:solidFill>
                  <a:srgbClr val="536C74"/>
                </a:solidFill>
                <a:latin typeface="Arial"/>
                <a:ea typeface="Arial"/>
                <a:cs typeface="Arial"/>
              </a:defRPr>
            </a:pPr>
            <a:r>
              <a:rPr sz="1350" b="0">
                <a:solidFill>
                  <a:srgbClr val="536C74"/>
                </a:solidFill>
                <a:latin typeface="Arial"/>
                <a:ea typeface="Arial"/>
                <a:cs typeface="Arial"/>
              </a:rPr>
              <a:t>MyFitnessPal focuses on food logging and nutrient breakdowns.</a:t>
            </a:r>
          </a:p>
        </p:txBody>
      </p:sp>
      <p:sp>
        <p:nvSpPr>
          <p:cNvPr id="13" name="Profile-aware scanners">
            <a:extLst xmlns:a="http://schemas.openxmlformats.org/drawingml/2006/main">
              <a:ext uri="{FF2B5EF4-FFF2-40B4-BE49-F238E27FC236}">
                <a16:creationId xmlns:a16="http://schemas.microsoft.com/office/drawing/2014/main" id="{67268E9C-88DB-462F-AB9B-6A021ECA1B61}"/>
              </a:ext>
            </a:extLst>
          </p:cNvPr>
          <p:cNvSpPr>
            <a:spLocks xmlns:a="http://schemas.openxmlformats.org/drawingml/2006/main" noGrp="1"/>
          </p:cNvSpPr>
          <p:nvPr/>
        </p:nvSpPr>
        <p:spPr>
          <a:xfrm xmlns:a="http://schemas.openxmlformats.org/drawingml/2006/main">
            <a:off x="838200" y="4324350"/>
            <a:ext cx="2838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618"/>
          </a:bodyPr>
          <a:lstStyle xmlns:a="http://schemas.openxmlformats.org/drawingml/2006/main">
            <a:defPPr algn="l">
              <a:defRPr sz="1725" b="1">
                <a:solidFill>
                  <a:srgbClr val="173B4A"/>
                </a:solidFill>
                <a:latin typeface="Arial"/>
                <a:ea typeface="Arial"/>
                <a:cs typeface="Arial"/>
              </a:defRPr>
            </a:defPPr>
          </a:lstStyle>
          <a:p xmlns:a="http://schemas.openxmlformats.org/drawingml/2006/main">
            <a:pPr algn="l">
              <a:lnSpc>
                <a:spcPct val="105000"/>
              </a:lnSpc>
              <a:buNone/>
              <a:defRPr sz="1725" b="1">
                <a:solidFill>
                  <a:srgbClr val="173B4A"/>
                </a:solidFill>
                <a:latin typeface="Arial"/>
                <a:ea typeface="Arial"/>
                <a:cs typeface="Arial"/>
              </a:defRPr>
            </a:pPr>
            <a:r>
              <a:rPr sz="1725" b="1">
                <a:solidFill>
                  <a:srgbClr val="173B4A"/>
                </a:solidFill>
                <a:latin typeface="Arial"/>
                <a:ea typeface="Arial"/>
                <a:cs typeface="Arial"/>
              </a:rPr>
              <a:t>Profile-aware scanners</a:t>
            </a:r>
          </a:p>
        </p:txBody>
      </p:sp>
      <p:sp>
        <p:nvSpPr>
          <p:cNvPr id="14" name="Products such as Fodd also d">
            <a:extLst xmlns:a="http://schemas.openxmlformats.org/drawingml/2006/main">
              <a:ext uri="{FF2B5EF4-FFF2-40B4-BE49-F238E27FC236}">
                <a16:creationId xmlns:a16="http://schemas.microsoft.com/office/drawing/2014/main" id="{A1C17ED3-413F-4ABF-8D2A-A40A40A78746}"/>
              </a:ext>
            </a:extLst>
          </p:cNvPr>
          <p:cNvSpPr>
            <a:spLocks xmlns:a="http://schemas.openxmlformats.org/drawingml/2006/main" noGrp="1"/>
          </p:cNvSpPr>
          <p:nvPr/>
        </p:nvSpPr>
        <p:spPr>
          <a:xfrm xmlns:a="http://schemas.openxmlformats.org/drawingml/2006/main">
            <a:off x="838200" y="4667250"/>
            <a:ext cx="28384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36C74"/>
                </a:solidFill>
                <a:latin typeface="Arial"/>
                <a:ea typeface="Arial"/>
                <a:cs typeface="Arial"/>
              </a:defRPr>
            </a:defPPr>
          </a:lstStyle>
          <a:p xmlns:a="http://schemas.openxmlformats.org/drawingml/2006/main">
            <a:pPr algn="l">
              <a:lnSpc>
                <a:spcPct val="105000"/>
              </a:lnSpc>
              <a:buNone/>
              <a:defRPr sz="1350" b="0">
                <a:solidFill>
                  <a:srgbClr val="536C74"/>
                </a:solidFill>
                <a:latin typeface="Arial"/>
                <a:ea typeface="Arial"/>
                <a:cs typeface="Arial"/>
              </a:defRPr>
            </a:pPr>
            <a:r>
              <a:rPr sz="1350" b="0">
                <a:solidFill>
                  <a:srgbClr val="536C74"/>
                </a:solidFill>
                <a:latin typeface="Arial"/>
                <a:ea typeface="Arial"/>
                <a:cs typeface="Arial"/>
              </a:rPr>
              <a:t>Products such as Fodd also describe profile-based food guidance.</a:t>
            </a:r>
          </a:p>
        </p:txBody>
      </p:sp>
      <p:sp>
        <p:nvSpPr>
          <p:cNvPr id="15" name="">
            <a:extLst xmlns:a="http://schemas.openxmlformats.org/drawingml/2006/main">
              <a:ext uri="{FF2B5EF4-FFF2-40B4-BE49-F238E27FC236}">
                <a16:creationId xmlns:a16="http://schemas.microsoft.com/office/drawing/2014/main" id="{B7E12830-831E-43E1-B696-C95CAC006C51}"/>
              </a:ext>
            </a:extLst>
          </p:cNvPr>
          <p:cNvSpPr>
            <a:spLocks xmlns:a="http://schemas.openxmlformats.org/drawingml/2006/main" noGrp="1"/>
          </p:cNvSpPr>
          <p:nvPr/>
        </p:nvSpPr>
        <p:spPr>
          <a:xfrm xmlns:a="http://schemas.openxmlformats.org/drawingml/2006/main">
            <a:off x="4095750" y="1724025"/>
            <a:ext cx="3352800" cy="3962400"/>
          </a:xfrm>
          <a:prstGeom xmlns:a="http://schemas.openxmlformats.org/drawingml/2006/main" prst="rect">
            <a:avLst/>
          </a:prstGeom>
          <a:solidFill xmlns:a="http://schemas.openxmlformats.org/drawingml/2006/main">
            <a:srgbClr val="F5EACB"/>
          </a:solidFill>
          <a:ln xmlns:a="http://schemas.openxmlformats.org/drawingml/2006/main" w="0">
            <a:noFill/>
            <a:prstDash val="solid"/>
          </a:ln>
        </p:spPr>
      </p:sp>
      <p:sp>
        <p:nvSpPr>
          <p:cNvPr id="16" name="THE DESIGN GAP">
            <a:extLst xmlns:a="http://schemas.openxmlformats.org/drawingml/2006/main">
              <a:ext uri="{FF2B5EF4-FFF2-40B4-BE49-F238E27FC236}">
                <a16:creationId xmlns:a16="http://schemas.microsoft.com/office/drawing/2014/main" id="{3A3111C3-2609-4413-A4C4-50CDA1592FD8}"/>
              </a:ext>
            </a:extLst>
          </p:cNvPr>
          <p:cNvSpPr>
            <a:spLocks xmlns:a="http://schemas.openxmlformats.org/drawingml/2006/main" noGrp="1"/>
          </p:cNvSpPr>
          <p:nvPr/>
        </p:nvSpPr>
        <p:spPr>
          <a:xfrm xmlns:a="http://schemas.openxmlformats.org/drawingml/2006/main">
            <a:off x="4286250" y="1895475"/>
            <a:ext cx="285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A07824"/>
                </a:solidFill>
                <a:latin typeface="Arial"/>
                <a:ea typeface="Arial"/>
                <a:cs typeface="Arial"/>
              </a:defRPr>
            </a:defPPr>
          </a:lstStyle>
          <a:p xmlns:a="http://schemas.openxmlformats.org/drawingml/2006/main">
            <a:pPr algn="l">
              <a:lnSpc>
                <a:spcPct val="105000"/>
              </a:lnSpc>
              <a:buNone/>
              <a:defRPr sz="1125" b="1">
                <a:solidFill>
                  <a:srgbClr val="A07824"/>
                </a:solidFill>
                <a:latin typeface="Arial"/>
                <a:ea typeface="Arial"/>
                <a:cs typeface="Arial"/>
              </a:defRPr>
            </a:pPr>
            <a:r>
              <a:rPr sz="1125" b="1">
                <a:solidFill>
                  <a:srgbClr val="A07824"/>
                </a:solidFill>
                <a:latin typeface="Arial"/>
                <a:ea typeface="Arial"/>
                <a:cs typeface="Arial"/>
              </a:rPr>
              <a:t>THE DESIGN GAP</a:t>
            </a:r>
          </a:p>
        </p:txBody>
      </p:sp>
      <p:sp>
        <p:nvSpPr>
          <p:cNvPr id="17" name="One connected journey">
            <a:extLst xmlns:a="http://schemas.openxmlformats.org/drawingml/2006/main">
              <a:ext uri="{FF2B5EF4-FFF2-40B4-BE49-F238E27FC236}">
                <a16:creationId xmlns:a16="http://schemas.microsoft.com/office/drawing/2014/main" id="{D7305275-B5FA-4D2B-8D0D-25AC9E684FCB}"/>
              </a:ext>
            </a:extLst>
          </p:cNvPr>
          <p:cNvSpPr>
            <a:spLocks xmlns:a="http://schemas.openxmlformats.org/drawingml/2006/main" noGrp="1"/>
          </p:cNvSpPr>
          <p:nvPr/>
        </p:nvSpPr>
        <p:spPr>
          <a:xfrm xmlns:a="http://schemas.openxmlformats.org/drawingml/2006/main">
            <a:off x="4286250" y="2305050"/>
            <a:ext cx="29051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73B4A"/>
                </a:solidFill>
                <a:latin typeface="Arial"/>
                <a:ea typeface="Arial"/>
                <a:cs typeface="Arial"/>
              </a:defRPr>
            </a:defPPr>
          </a:lstStyle>
          <a:p xmlns:a="http://schemas.openxmlformats.org/drawingml/2006/main">
            <a:pPr algn="l">
              <a:lnSpc>
                <a:spcPct val="105000"/>
              </a:lnSpc>
              <a:buNone/>
              <a:defRPr sz="1875" b="1">
                <a:solidFill>
                  <a:srgbClr val="173B4A"/>
                </a:solidFill>
                <a:latin typeface="Arial"/>
                <a:ea typeface="Arial"/>
                <a:cs typeface="Arial"/>
              </a:defRPr>
            </a:pPr>
            <a:r>
              <a:rPr sz="1875" b="1">
                <a:solidFill>
                  <a:srgbClr val="173B4A"/>
                </a:solidFill>
                <a:latin typeface="Arial"/>
                <a:ea typeface="Arial"/>
                <a:cs typeface="Arial"/>
              </a:rPr>
              <a:t>One connected journey</a:t>
            </a:r>
          </a:p>
        </p:txBody>
      </p:sp>
      <p:sp>
        <p:nvSpPr>
          <p:cNvPr id="18" name="Vitalis proposes bringing to">
            <a:extLst xmlns:a="http://schemas.openxmlformats.org/drawingml/2006/main">
              <a:ext uri="{FF2B5EF4-FFF2-40B4-BE49-F238E27FC236}">
                <a16:creationId xmlns:a16="http://schemas.microsoft.com/office/drawing/2014/main" id="{D8069172-61A7-471A-9CF4-16CA1A5E413F}"/>
              </a:ext>
            </a:extLst>
          </p:cNvPr>
          <p:cNvSpPr>
            <a:spLocks xmlns:a="http://schemas.openxmlformats.org/drawingml/2006/main" noGrp="1"/>
          </p:cNvSpPr>
          <p:nvPr/>
        </p:nvSpPr>
        <p:spPr>
          <a:xfrm xmlns:a="http://schemas.openxmlformats.org/drawingml/2006/main">
            <a:off x="4286250" y="30194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36C74"/>
                </a:solidFill>
                <a:latin typeface="Arial"/>
                <a:ea typeface="Arial"/>
                <a:cs typeface="Arial"/>
              </a:defRPr>
            </a:defPPr>
          </a:lstStyle>
          <a:p xmlns:a="http://schemas.openxmlformats.org/drawingml/2006/main">
            <a:pPr algn="l">
              <a:lnSpc>
                <a:spcPct val="105000"/>
              </a:lnSpc>
              <a:buNone/>
              <a:defRPr sz="1425" b="0">
                <a:solidFill>
                  <a:srgbClr val="536C74"/>
                </a:solidFill>
                <a:latin typeface="Arial"/>
                <a:ea typeface="Arial"/>
                <a:cs typeface="Arial"/>
              </a:defRPr>
            </a:pPr>
            <a:r>
              <a:rPr sz="1425" b="0">
                <a:solidFill>
                  <a:srgbClr val="536C74"/>
                </a:solidFill>
                <a:latin typeface="Arial"/>
                <a:ea typeface="Arial"/>
                <a:cs typeface="Arial"/>
              </a:rPr>
              <a:t>Vitalis proposes bringing together:</a:t>
            </a:r>
          </a:p>
        </p:txBody>
      </p:sp>
      <p:sp>
        <p:nvSpPr>
          <p:cNvPr id="19" name="•  personal health and lifes">
            <a:extLst xmlns:a="http://schemas.openxmlformats.org/drawingml/2006/main">
              <a:ext uri="{FF2B5EF4-FFF2-40B4-BE49-F238E27FC236}">
                <a16:creationId xmlns:a16="http://schemas.microsoft.com/office/drawing/2014/main" id="{BCD09536-BA36-47B6-A59D-3BF627BD293F}"/>
              </a:ext>
            </a:extLst>
          </p:cNvPr>
          <p:cNvSpPr>
            <a:spLocks xmlns:a="http://schemas.openxmlformats.org/drawingml/2006/main" noGrp="1"/>
          </p:cNvSpPr>
          <p:nvPr/>
        </p:nvSpPr>
        <p:spPr>
          <a:xfrm xmlns:a="http://schemas.openxmlformats.org/drawingml/2006/main">
            <a:off x="4286250" y="3438525"/>
            <a:ext cx="29146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73B4A"/>
                </a:solidFill>
                <a:latin typeface="Arial"/>
                <a:ea typeface="Arial"/>
                <a:cs typeface="Arial"/>
              </a:defRPr>
            </a:defPPr>
          </a:lstStyle>
          <a:p xmlns:a="http://schemas.openxmlformats.org/drawingml/2006/main">
            <a:pPr algn="l">
              <a:lnSpc>
                <a:spcPct val="118000"/>
              </a:lnSpc>
              <a:buNone/>
              <a:defRPr sz="1500" b="0">
                <a:solidFill>
                  <a:srgbClr val="173B4A"/>
                </a:solidFill>
                <a:latin typeface="Arial"/>
                <a:ea typeface="Arial"/>
                <a:cs typeface="Arial"/>
              </a:defRPr>
            </a:pPr>
            <a:r>
              <a:rPr sz="1500" b="0">
                <a:solidFill>
                  <a:srgbClr val="173B4A"/>
                </a:solidFill>
                <a:latin typeface="Arial"/>
                <a:ea typeface="Arial"/>
                <a:cs typeface="Arial"/>
              </a:rPr>
              <a:t>•  personal health and lifestyle context</a:t>
            </a:r>
          </a:p>
          <a:p xmlns:a="http://schemas.openxmlformats.org/drawingml/2006/main">
            <a:pPr algn="l">
              <a:lnSpc>
                <a:spcPct val="118000"/>
              </a:lnSpc>
              <a:buNone/>
              <a:defRPr sz="1500" b="0">
                <a:solidFill>
                  <a:srgbClr val="173B4A"/>
                </a:solidFill>
                <a:latin typeface="Arial"/>
                <a:ea typeface="Arial"/>
                <a:cs typeface="Arial"/>
              </a:defRPr>
            </a:pPr>
            <a:r>
              <a:rPr sz="1500" b="0">
                <a:solidFill>
                  <a:srgbClr val="173B4A"/>
                </a:solidFill>
                <a:latin typeface="Arial"/>
                <a:ea typeface="Arial"/>
                <a:cs typeface="Arial"/>
              </a:rPr>
              <a:t>•  structured risk indicators</a:t>
            </a:r>
          </a:p>
          <a:p xmlns:a="http://schemas.openxmlformats.org/drawingml/2006/main">
            <a:pPr algn="l">
              <a:lnSpc>
                <a:spcPct val="118000"/>
              </a:lnSpc>
              <a:buNone/>
              <a:defRPr sz="1500" b="0">
                <a:solidFill>
                  <a:srgbClr val="173B4A"/>
                </a:solidFill>
                <a:latin typeface="Arial"/>
                <a:ea typeface="Arial"/>
                <a:cs typeface="Arial"/>
              </a:defRPr>
            </a:pPr>
            <a:r>
              <a:rPr sz="1500" b="0">
                <a:solidFill>
                  <a:srgbClr val="173B4A"/>
                </a:solidFill>
                <a:latin typeface="Arial"/>
                <a:ea typeface="Arial"/>
                <a:cs typeface="Arial"/>
              </a:rPr>
              <a:t>•  food-label image understanding</a:t>
            </a:r>
          </a:p>
          <a:p xmlns:a="http://schemas.openxmlformats.org/drawingml/2006/main">
            <a:pPr algn="l">
              <a:lnSpc>
                <a:spcPct val="118000"/>
              </a:lnSpc>
              <a:buNone/>
              <a:defRPr sz="1500" b="0">
                <a:solidFill>
                  <a:srgbClr val="173B4A"/>
                </a:solidFill>
                <a:latin typeface="Arial"/>
                <a:ea typeface="Arial"/>
                <a:cs typeface="Arial"/>
              </a:defRPr>
            </a:pPr>
            <a:r>
              <a:rPr sz="1500" b="0">
                <a:solidFill>
                  <a:srgbClr val="173B4A"/>
                </a:solidFill>
                <a:latin typeface="Arial"/>
                <a:ea typeface="Arial"/>
                <a:cs typeface="Arial"/>
              </a:rPr>
              <a:t>•  clear reasons behind guidance</a:t>
            </a:r>
          </a:p>
        </p:txBody>
      </p:sp>
      <p:sp>
        <p:nvSpPr>
          <p:cNvPr id="20" name="This is an integration goal,">
            <a:extLst xmlns:a="http://schemas.openxmlformats.org/drawingml/2006/main">
              <a:ext uri="{FF2B5EF4-FFF2-40B4-BE49-F238E27FC236}">
                <a16:creationId xmlns:a16="http://schemas.microsoft.com/office/drawing/2014/main" id="{45843BD3-0C92-456F-83F6-15DAB2C46C23}"/>
              </a:ext>
            </a:extLst>
          </p:cNvPr>
          <p:cNvSpPr>
            <a:spLocks xmlns:a="http://schemas.openxmlformats.org/drawingml/2006/main" noGrp="1"/>
          </p:cNvSpPr>
          <p:nvPr/>
        </p:nvSpPr>
        <p:spPr>
          <a:xfrm xmlns:a="http://schemas.openxmlformats.org/drawingml/2006/main">
            <a:off x="4286250" y="509587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A07824"/>
                </a:solidFill>
                <a:latin typeface="Arial"/>
                <a:ea typeface="Arial"/>
                <a:cs typeface="Arial"/>
              </a:defRPr>
            </a:defPPr>
          </a:lstStyle>
          <a:p xmlns:a="http://schemas.openxmlformats.org/drawingml/2006/main">
            <a:pPr algn="l">
              <a:lnSpc>
                <a:spcPct val="105000"/>
              </a:lnSpc>
              <a:buNone/>
              <a:defRPr sz="1200" b="1">
                <a:solidFill>
                  <a:srgbClr val="A07824"/>
                </a:solidFill>
                <a:latin typeface="Arial"/>
                <a:ea typeface="Arial"/>
                <a:cs typeface="Arial"/>
              </a:defRPr>
            </a:pPr>
            <a:r>
              <a:rPr sz="1200" b="1">
                <a:solidFill>
                  <a:srgbClr val="A07824"/>
                </a:solidFill>
                <a:latin typeface="Arial"/>
                <a:ea typeface="Arial"/>
                <a:cs typeface="Arial"/>
              </a:rPr>
              <a:t>This is an integration goal, not a claim of being first.</a:t>
            </a:r>
          </a:p>
        </p:txBody>
      </p:sp>
      <p:sp>
        <p:nvSpPr>
          <p:cNvPr id="21" name="">
            <a:extLst xmlns:a="http://schemas.openxmlformats.org/drawingml/2006/main">
              <a:ext uri="{FF2B5EF4-FFF2-40B4-BE49-F238E27FC236}">
                <a16:creationId xmlns:a16="http://schemas.microsoft.com/office/drawing/2014/main" id="{C65F16C3-53A4-4AA7-A93A-59033F8D811E}"/>
              </a:ext>
            </a:extLst>
          </p:cNvPr>
          <p:cNvSpPr>
            <a:spLocks xmlns:a="http://schemas.openxmlformats.org/drawingml/2006/main" noGrp="1"/>
          </p:cNvSpPr>
          <p:nvPr/>
        </p:nvSpPr>
        <p:spPr>
          <a:xfrm xmlns:a="http://schemas.openxmlformats.org/drawingml/2006/main">
            <a:off x="7639050" y="1724025"/>
            <a:ext cx="3905250" cy="3962400"/>
          </a:xfrm>
          <a:prstGeom xmlns:a="http://schemas.openxmlformats.org/drawingml/2006/main" prst="rect">
            <a:avLst/>
          </a:prstGeom>
          <a:solidFill xmlns:a="http://schemas.openxmlformats.org/drawingml/2006/main">
            <a:srgbClr val="E5F4EF"/>
          </a:solidFill>
          <a:ln xmlns:a="http://schemas.openxmlformats.org/drawingml/2006/main" w="0">
            <a:noFill/>
            <a:prstDash val="solid"/>
          </a:ln>
        </p:spPr>
      </p:sp>
      <p:sp>
        <p:nvSpPr>
          <p:cNvPr id="22" name="PROPOSED VITALIS FLOW">
            <a:extLst xmlns:a="http://schemas.openxmlformats.org/drawingml/2006/main">
              <a:ext uri="{FF2B5EF4-FFF2-40B4-BE49-F238E27FC236}">
                <a16:creationId xmlns:a16="http://schemas.microsoft.com/office/drawing/2014/main" id="{D35F827F-6A23-47D3-B328-397683CA2D78}"/>
              </a:ext>
            </a:extLst>
          </p:cNvPr>
          <p:cNvSpPr>
            <a:spLocks xmlns:a="http://schemas.openxmlformats.org/drawingml/2006/main" noGrp="1"/>
          </p:cNvSpPr>
          <p:nvPr/>
        </p:nvSpPr>
        <p:spPr>
          <a:xfrm xmlns:a="http://schemas.openxmlformats.org/drawingml/2006/main">
            <a:off x="7829550" y="1895475"/>
            <a:ext cx="338137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76B65"/>
                </a:solidFill>
                <a:latin typeface="Arial"/>
                <a:ea typeface="Arial"/>
                <a:cs typeface="Arial"/>
              </a:defRPr>
            </a:defPPr>
          </a:lstStyle>
          <a:p xmlns:a="http://schemas.openxmlformats.org/drawingml/2006/main">
            <a:pPr algn="l">
              <a:lnSpc>
                <a:spcPct val="105000"/>
              </a:lnSpc>
              <a:buNone/>
              <a:defRPr sz="1125" b="1">
                <a:solidFill>
                  <a:srgbClr val="176B65"/>
                </a:solidFill>
                <a:latin typeface="Arial"/>
                <a:ea typeface="Arial"/>
                <a:cs typeface="Arial"/>
              </a:defRPr>
            </a:pPr>
            <a:r>
              <a:rPr sz="1125" b="1">
                <a:solidFill>
                  <a:srgbClr val="176B65"/>
                </a:solidFill>
                <a:latin typeface="Arial"/>
                <a:ea typeface="Arial"/>
                <a:cs typeface="Arial"/>
              </a:rPr>
              <a:t>PROPOSED VITALIS FLOW</a:t>
            </a:r>
          </a:p>
        </p:txBody>
      </p:sp>
      <p:sp>
        <p:nvSpPr>
          <p:cNvPr id="23" name="">
            <a:extLst xmlns:a="http://schemas.openxmlformats.org/drawingml/2006/main">
              <a:ext uri="{FF2B5EF4-FFF2-40B4-BE49-F238E27FC236}">
                <a16:creationId xmlns:a16="http://schemas.microsoft.com/office/drawing/2014/main" id="{A7E70762-7BE0-44AB-8159-24C35C986B79}"/>
              </a:ext>
            </a:extLst>
          </p:cNvPr>
          <p:cNvSpPr>
            <a:spLocks xmlns:a="http://schemas.openxmlformats.org/drawingml/2006/main" noGrp="1"/>
          </p:cNvSpPr>
          <p:nvPr/>
        </p:nvSpPr>
        <p:spPr>
          <a:xfrm xmlns:a="http://schemas.openxmlformats.org/drawingml/2006/main">
            <a:off x="7829550" y="2286000"/>
            <a:ext cx="323850" cy="323850"/>
          </a:xfrm>
          <a:prstGeom xmlns:a="http://schemas.openxmlformats.org/drawingml/2006/main" prst="ellipse">
            <a:avLst/>
          </a:prstGeom>
          <a:solidFill xmlns:a="http://schemas.openxmlformats.org/drawingml/2006/main">
            <a:srgbClr val="FFFFFF"/>
          </a:solidFill>
          <a:ln xmlns:a="http://schemas.openxmlformats.org/drawingml/2006/main" w="11430">
            <a:solidFill>
              <a:srgbClr val="2C8C83"/>
            </a:solidFill>
            <a:prstDash val="solid"/>
          </a:ln>
        </p:spPr>
      </p:sp>
      <p:sp>
        <p:nvSpPr>
          <p:cNvPr id="24" name="01">
            <a:extLst xmlns:a="http://schemas.openxmlformats.org/drawingml/2006/main">
              <a:ext uri="{FF2B5EF4-FFF2-40B4-BE49-F238E27FC236}">
                <a16:creationId xmlns:a16="http://schemas.microsoft.com/office/drawing/2014/main" id="{7CA196CF-81C9-462C-A70C-57168A2EC958}"/>
              </a:ext>
            </a:extLst>
          </p:cNvPr>
          <p:cNvSpPr>
            <a:spLocks xmlns:a="http://schemas.openxmlformats.org/drawingml/2006/main" noGrp="1"/>
          </p:cNvSpPr>
          <p:nvPr/>
        </p:nvSpPr>
        <p:spPr>
          <a:xfrm xmlns:a="http://schemas.openxmlformats.org/drawingml/2006/main">
            <a:off x="7829550" y="2352675"/>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176B65"/>
                </a:solidFill>
                <a:latin typeface="Arial"/>
                <a:ea typeface="Arial"/>
                <a:cs typeface="Arial"/>
              </a:defRPr>
            </a:defPPr>
          </a:lstStyle>
          <a:p xmlns:a="http://schemas.openxmlformats.org/drawingml/2006/main">
            <a:pPr algn="ctr">
              <a:lnSpc>
                <a:spcPct val="105000"/>
              </a:lnSpc>
              <a:buNone/>
              <a:defRPr sz="975" b="1">
                <a:solidFill>
                  <a:srgbClr val="176B65"/>
                </a:solidFill>
                <a:latin typeface="Arial"/>
                <a:ea typeface="Arial"/>
                <a:cs typeface="Arial"/>
              </a:defRPr>
            </a:pPr>
            <a:r>
              <a:rPr sz="975" b="1">
                <a:solidFill>
                  <a:srgbClr val="176B65"/>
                </a:solidFill>
                <a:latin typeface="Arial"/>
                <a:ea typeface="Arial"/>
                <a:cs typeface="Arial"/>
              </a:rPr>
              <a:t>01</a:t>
            </a:r>
          </a:p>
        </p:txBody>
      </p:sp>
      <p:sp>
        <p:nvSpPr>
          <p:cNvPr id="25" name="Build a health context">
            <a:extLst xmlns:a="http://schemas.openxmlformats.org/drawingml/2006/main">
              <a:ext uri="{FF2B5EF4-FFF2-40B4-BE49-F238E27FC236}">
                <a16:creationId xmlns:a16="http://schemas.microsoft.com/office/drawing/2014/main" id="{136964B8-143B-4A82-9123-6204B947CE01}"/>
              </a:ext>
            </a:extLst>
          </p:cNvPr>
          <p:cNvSpPr>
            <a:spLocks xmlns:a="http://schemas.openxmlformats.org/drawingml/2006/main" noGrp="1"/>
          </p:cNvSpPr>
          <p:nvPr/>
        </p:nvSpPr>
        <p:spPr>
          <a:xfrm xmlns:a="http://schemas.openxmlformats.org/drawingml/2006/main">
            <a:off x="8286750" y="2286000"/>
            <a:ext cx="2905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3B4A"/>
                </a:solidFill>
                <a:latin typeface="Arial"/>
                <a:ea typeface="Arial"/>
                <a:cs typeface="Arial"/>
              </a:defRPr>
            </a:defPPr>
          </a:lstStyle>
          <a:p xmlns:a="http://schemas.openxmlformats.org/drawingml/2006/main">
            <a:pPr algn="l">
              <a:lnSpc>
                <a:spcPct val="105000"/>
              </a:lnSpc>
              <a:buNone/>
              <a:defRPr sz="1575" b="1">
                <a:solidFill>
                  <a:srgbClr val="173B4A"/>
                </a:solidFill>
                <a:latin typeface="Arial"/>
                <a:ea typeface="Arial"/>
                <a:cs typeface="Arial"/>
              </a:defRPr>
            </a:pPr>
            <a:r>
              <a:rPr sz="1575" b="1">
                <a:solidFill>
                  <a:srgbClr val="173B4A"/>
                </a:solidFill>
                <a:latin typeface="Arial"/>
                <a:ea typeface="Arial"/>
                <a:cs typeface="Arial"/>
              </a:rPr>
              <a:t>Build a health context</a:t>
            </a:r>
          </a:p>
        </p:txBody>
      </p:sp>
      <p:sp>
        <p:nvSpPr>
          <p:cNvPr id="26" name="Profile + lifestyle + risk i">
            <a:extLst xmlns:a="http://schemas.openxmlformats.org/drawingml/2006/main">
              <a:ext uri="{FF2B5EF4-FFF2-40B4-BE49-F238E27FC236}">
                <a16:creationId xmlns:a16="http://schemas.microsoft.com/office/drawing/2014/main" id="{C0247611-CCB7-4239-BCFA-6227E2BBE460}"/>
              </a:ext>
            </a:extLst>
          </p:cNvPr>
          <p:cNvSpPr>
            <a:spLocks xmlns:a="http://schemas.openxmlformats.org/drawingml/2006/main" noGrp="1"/>
          </p:cNvSpPr>
          <p:nvPr/>
        </p:nvSpPr>
        <p:spPr>
          <a:xfrm xmlns:a="http://schemas.openxmlformats.org/drawingml/2006/main">
            <a:off x="8286750" y="2581275"/>
            <a:ext cx="2905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C74"/>
                </a:solidFill>
                <a:latin typeface="Arial"/>
                <a:ea typeface="Arial"/>
                <a:cs typeface="Arial"/>
              </a:defRPr>
            </a:defPPr>
          </a:lstStyle>
          <a:p xmlns:a="http://schemas.openxmlformats.org/drawingml/2006/main">
            <a:pPr algn="l">
              <a:lnSpc>
                <a:spcPct val="105000"/>
              </a:lnSpc>
              <a:buNone/>
              <a:defRPr sz="1275" b="0">
                <a:solidFill>
                  <a:srgbClr val="536C74"/>
                </a:solidFill>
                <a:latin typeface="Arial"/>
                <a:ea typeface="Arial"/>
                <a:cs typeface="Arial"/>
              </a:defRPr>
            </a:pPr>
            <a:r>
              <a:rPr sz="1275" b="0">
                <a:solidFill>
                  <a:srgbClr val="536C74"/>
                </a:solidFill>
                <a:latin typeface="Arial"/>
                <a:ea typeface="Arial"/>
                <a:cs typeface="Arial"/>
              </a:rPr>
              <a:t>Profile + lifestyle + risk indicators</a:t>
            </a:r>
          </a:p>
        </p:txBody>
      </p:sp>
      <p:sp>
        <p:nvSpPr>
          <p:cNvPr id="27" name="">
            <a:extLst xmlns:a="http://schemas.openxmlformats.org/drawingml/2006/main">
              <a:ext uri="{FF2B5EF4-FFF2-40B4-BE49-F238E27FC236}">
                <a16:creationId xmlns:a16="http://schemas.microsoft.com/office/drawing/2014/main" id="{3FBC6435-6538-42A2-A10B-A963C968A78A}"/>
              </a:ext>
            </a:extLst>
          </p:cNvPr>
          <p:cNvSpPr>
            <a:spLocks xmlns:a="http://schemas.openxmlformats.org/drawingml/2006/main" noGrp="1"/>
          </p:cNvSpPr>
          <p:nvPr/>
        </p:nvSpPr>
        <p:spPr>
          <a:xfrm xmlns:a="http://schemas.openxmlformats.org/drawingml/2006/main">
            <a:off x="7829550" y="3028950"/>
            <a:ext cx="323850" cy="323850"/>
          </a:xfrm>
          <a:prstGeom xmlns:a="http://schemas.openxmlformats.org/drawingml/2006/main" prst="ellipse">
            <a:avLst/>
          </a:prstGeom>
          <a:solidFill xmlns:a="http://schemas.openxmlformats.org/drawingml/2006/main">
            <a:srgbClr val="FFFFFF"/>
          </a:solidFill>
          <a:ln xmlns:a="http://schemas.openxmlformats.org/drawingml/2006/main" w="11430">
            <a:solidFill>
              <a:srgbClr val="2C8C83"/>
            </a:solidFill>
            <a:prstDash val="solid"/>
          </a:ln>
        </p:spPr>
      </p:sp>
      <p:sp>
        <p:nvSpPr>
          <p:cNvPr id="28" name="02">
            <a:extLst xmlns:a="http://schemas.openxmlformats.org/drawingml/2006/main">
              <a:ext uri="{FF2B5EF4-FFF2-40B4-BE49-F238E27FC236}">
                <a16:creationId xmlns:a16="http://schemas.microsoft.com/office/drawing/2014/main" id="{269C153F-67D7-4783-A11A-CD1B55E182E2}"/>
              </a:ext>
            </a:extLst>
          </p:cNvPr>
          <p:cNvSpPr>
            <a:spLocks xmlns:a="http://schemas.openxmlformats.org/drawingml/2006/main" noGrp="1"/>
          </p:cNvSpPr>
          <p:nvPr/>
        </p:nvSpPr>
        <p:spPr>
          <a:xfrm xmlns:a="http://schemas.openxmlformats.org/drawingml/2006/main">
            <a:off x="7829550" y="3095625"/>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176B65"/>
                </a:solidFill>
                <a:latin typeface="Arial"/>
                <a:ea typeface="Arial"/>
                <a:cs typeface="Arial"/>
              </a:defRPr>
            </a:defPPr>
          </a:lstStyle>
          <a:p xmlns:a="http://schemas.openxmlformats.org/drawingml/2006/main">
            <a:pPr algn="ctr">
              <a:lnSpc>
                <a:spcPct val="105000"/>
              </a:lnSpc>
              <a:buNone/>
              <a:defRPr sz="975" b="1">
                <a:solidFill>
                  <a:srgbClr val="176B65"/>
                </a:solidFill>
                <a:latin typeface="Arial"/>
                <a:ea typeface="Arial"/>
                <a:cs typeface="Arial"/>
              </a:defRPr>
            </a:pPr>
            <a:r>
              <a:rPr sz="975" b="1">
                <a:solidFill>
                  <a:srgbClr val="176B65"/>
                </a:solidFill>
                <a:latin typeface="Arial"/>
                <a:ea typeface="Arial"/>
                <a:cs typeface="Arial"/>
              </a:rPr>
              <a:t>02</a:t>
            </a:r>
          </a:p>
        </p:txBody>
      </p:sp>
      <p:sp>
        <p:nvSpPr>
          <p:cNvPr id="29" name="Understand the food">
            <a:extLst xmlns:a="http://schemas.openxmlformats.org/drawingml/2006/main">
              <a:ext uri="{FF2B5EF4-FFF2-40B4-BE49-F238E27FC236}">
                <a16:creationId xmlns:a16="http://schemas.microsoft.com/office/drawing/2014/main" id="{776ED765-5A5F-4A51-A0C9-34DA7F894B4D}"/>
              </a:ext>
            </a:extLst>
          </p:cNvPr>
          <p:cNvSpPr>
            <a:spLocks xmlns:a="http://schemas.openxmlformats.org/drawingml/2006/main" noGrp="1"/>
          </p:cNvSpPr>
          <p:nvPr/>
        </p:nvSpPr>
        <p:spPr>
          <a:xfrm xmlns:a="http://schemas.openxmlformats.org/drawingml/2006/main">
            <a:off x="8286750" y="3028950"/>
            <a:ext cx="2905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3B4A"/>
                </a:solidFill>
                <a:latin typeface="Arial"/>
                <a:ea typeface="Arial"/>
                <a:cs typeface="Arial"/>
              </a:defRPr>
            </a:defPPr>
          </a:lstStyle>
          <a:p xmlns:a="http://schemas.openxmlformats.org/drawingml/2006/main">
            <a:pPr algn="l">
              <a:lnSpc>
                <a:spcPct val="105000"/>
              </a:lnSpc>
              <a:buNone/>
              <a:defRPr sz="1575" b="1">
                <a:solidFill>
                  <a:srgbClr val="173B4A"/>
                </a:solidFill>
                <a:latin typeface="Arial"/>
                <a:ea typeface="Arial"/>
                <a:cs typeface="Arial"/>
              </a:defRPr>
            </a:pPr>
            <a:r>
              <a:rPr sz="1575" b="1">
                <a:solidFill>
                  <a:srgbClr val="173B4A"/>
                </a:solidFill>
                <a:latin typeface="Arial"/>
                <a:ea typeface="Arial"/>
                <a:cs typeface="Arial"/>
              </a:rPr>
              <a:t>Understand the food</a:t>
            </a:r>
          </a:p>
        </p:txBody>
      </p:sp>
      <p:sp>
        <p:nvSpPr>
          <p:cNvPr id="30" name="Read label nutrition and ing">
            <a:extLst xmlns:a="http://schemas.openxmlformats.org/drawingml/2006/main">
              <a:ext uri="{FF2B5EF4-FFF2-40B4-BE49-F238E27FC236}">
                <a16:creationId xmlns:a16="http://schemas.microsoft.com/office/drawing/2014/main" id="{6CCA2EAD-E4E6-4F38-A5FF-74CCF3C196B0}"/>
              </a:ext>
            </a:extLst>
          </p:cNvPr>
          <p:cNvSpPr>
            <a:spLocks xmlns:a="http://schemas.openxmlformats.org/drawingml/2006/main" noGrp="1"/>
          </p:cNvSpPr>
          <p:nvPr/>
        </p:nvSpPr>
        <p:spPr>
          <a:xfrm xmlns:a="http://schemas.openxmlformats.org/drawingml/2006/main">
            <a:off x="8286750" y="3324225"/>
            <a:ext cx="2905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C74"/>
                </a:solidFill>
                <a:latin typeface="Arial"/>
                <a:ea typeface="Arial"/>
                <a:cs typeface="Arial"/>
              </a:defRPr>
            </a:defPPr>
          </a:lstStyle>
          <a:p xmlns:a="http://schemas.openxmlformats.org/drawingml/2006/main">
            <a:pPr algn="l">
              <a:lnSpc>
                <a:spcPct val="105000"/>
              </a:lnSpc>
              <a:buNone/>
              <a:defRPr sz="1275" b="0">
                <a:solidFill>
                  <a:srgbClr val="536C74"/>
                </a:solidFill>
                <a:latin typeface="Arial"/>
                <a:ea typeface="Arial"/>
                <a:cs typeface="Arial"/>
              </a:defRPr>
            </a:pPr>
            <a:r>
              <a:rPr sz="1275" b="0">
                <a:solidFill>
                  <a:srgbClr val="536C74"/>
                </a:solidFill>
                <a:latin typeface="Arial"/>
                <a:ea typeface="Arial"/>
                <a:cs typeface="Arial"/>
              </a:rPr>
              <a:t>Read label nutrition and ingredients</a:t>
            </a:r>
          </a:p>
        </p:txBody>
      </p:sp>
      <p:sp>
        <p:nvSpPr>
          <p:cNvPr id="31" name="">
            <a:extLst xmlns:a="http://schemas.openxmlformats.org/drawingml/2006/main">
              <a:ext uri="{FF2B5EF4-FFF2-40B4-BE49-F238E27FC236}">
                <a16:creationId xmlns:a16="http://schemas.microsoft.com/office/drawing/2014/main" id="{87B5E71D-7C3F-4220-9B42-0C1485B3BB42}"/>
              </a:ext>
            </a:extLst>
          </p:cNvPr>
          <p:cNvSpPr>
            <a:spLocks xmlns:a="http://schemas.openxmlformats.org/drawingml/2006/main" noGrp="1"/>
          </p:cNvSpPr>
          <p:nvPr/>
        </p:nvSpPr>
        <p:spPr>
          <a:xfrm xmlns:a="http://schemas.openxmlformats.org/drawingml/2006/main">
            <a:off x="7829550" y="3771900"/>
            <a:ext cx="323850" cy="323850"/>
          </a:xfrm>
          <a:prstGeom xmlns:a="http://schemas.openxmlformats.org/drawingml/2006/main" prst="ellipse">
            <a:avLst/>
          </a:prstGeom>
          <a:solidFill xmlns:a="http://schemas.openxmlformats.org/drawingml/2006/main">
            <a:srgbClr val="FFFFFF"/>
          </a:solidFill>
          <a:ln xmlns:a="http://schemas.openxmlformats.org/drawingml/2006/main" w="11430">
            <a:solidFill>
              <a:srgbClr val="2C8C83"/>
            </a:solidFill>
            <a:prstDash val="solid"/>
          </a:ln>
        </p:spPr>
      </p:sp>
      <p:sp>
        <p:nvSpPr>
          <p:cNvPr id="32" name="03">
            <a:extLst xmlns:a="http://schemas.openxmlformats.org/drawingml/2006/main">
              <a:ext uri="{FF2B5EF4-FFF2-40B4-BE49-F238E27FC236}">
                <a16:creationId xmlns:a16="http://schemas.microsoft.com/office/drawing/2014/main" id="{5E299DE5-8A53-46AA-A2F5-EA5149A71DBB}"/>
              </a:ext>
            </a:extLst>
          </p:cNvPr>
          <p:cNvSpPr>
            <a:spLocks xmlns:a="http://schemas.openxmlformats.org/drawingml/2006/main" noGrp="1"/>
          </p:cNvSpPr>
          <p:nvPr/>
        </p:nvSpPr>
        <p:spPr>
          <a:xfrm xmlns:a="http://schemas.openxmlformats.org/drawingml/2006/main">
            <a:off x="7829550" y="3838575"/>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176B65"/>
                </a:solidFill>
                <a:latin typeface="Arial"/>
                <a:ea typeface="Arial"/>
                <a:cs typeface="Arial"/>
              </a:defRPr>
            </a:defPPr>
          </a:lstStyle>
          <a:p xmlns:a="http://schemas.openxmlformats.org/drawingml/2006/main">
            <a:pPr algn="ctr">
              <a:lnSpc>
                <a:spcPct val="105000"/>
              </a:lnSpc>
              <a:buNone/>
              <a:defRPr sz="975" b="1">
                <a:solidFill>
                  <a:srgbClr val="176B65"/>
                </a:solidFill>
                <a:latin typeface="Arial"/>
                <a:ea typeface="Arial"/>
                <a:cs typeface="Arial"/>
              </a:defRPr>
            </a:pPr>
            <a:r>
              <a:rPr sz="975" b="1">
                <a:solidFill>
                  <a:srgbClr val="176B65"/>
                </a:solidFill>
                <a:latin typeface="Arial"/>
                <a:ea typeface="Arial"/>
                <a:cs typeface="Arial"/>
              </a:rPr>
              <a:t>03</a:t>
            </a:r>
          </a:p>
        </p:txBody>
      </p:sp>
      <p:sp>
        <p:nvSpPr>
          <p:cNvPr id="33" name="Connect both">
            <a:extLst xmlns:a="http://schemas.openxmlformats.org/drawingml/2006/main">
              <a:ext uri="{FF2B5EF4-FFF2-40B4-BE49-F238E27FC236}">
                <a16:creationId xmlns:a16="http://schemas.microsoft.com/office/drawing/2014/main" id="{83D15910-234A-44F9-8662-A0916CE3E1E3}"/>
              </a:ext>
            </a:extLst>
          </p:cNvPr>
          <p:cNvSpPr>
            <a:spLocks xmlns:a="http://schemas.openxmlformats.org/drawingml/2006/main" noGrp="1"/>
          </p:cNvSpPr>
          <p:nvPr/>
        </p:nvSpPr>
        <p:spPr>
          <a:xfrm xmlns:a="http://schemas.openxmlformats.org/drawingml/2006/main">
            <a:off x="8286750" y="3771900"/>
            <a:ext cx="2905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3B4A"/>
                </a:solidFill>
                <a:latin typeface="Arial"/>
                <a:ea typeface="Arial"/>
                <a:cs typeface="Arial"/>
              </a:defRPr>
            </a:defPPr>
          </a:lstStyle>
          <a:p xmlns:a="http://schemas.openxmlformats.org/drawingml/2006/main">
            <a:pPr algn="l">
              <a:lnSpc>
                <a:spcPct val="105000"/>
              </a:lnSpc>
              <a:buNone/>
              <a:defRPr sz="1575" b="1">
                <a:solidFill>
                  <a:srgbClr val="173B4A"/>
                </a:solidFill>
                <a:latin typeface="Arial"/>
                <a:ea typeface="Arial"/>
                <a:cs typeface="Arial"/>
              </a:defRPr>
            </a:pPr>
            <a:r>
              <a:rPr sz="1575" b="1">
                <a:solidFill>
                  <a:srgbClr val="173B4A"/>
                </a:solidFill>
                <a:latin typeface="Arial"/>
                <a:ea typeface="Arial"/>
                <a:cs typeface="Arial"/>
              </a:rPr>
              <a:t>Connect both</a:t>
            </a:r>
          </a:p>
        </p:txBody>
      </p:sp>
      <p:sp>
        <p:nvSpPr>
          <p:cNvPr id="34" name="Explain suitability using th">
            <a:extLst xmlns:a="http://schemas.openxmlformats.org/drawingml/2006/main">
              <a:ext uri="{FF2B5EF4-FFF2-40B4-BE49-F238E27FC236}">
                <a16:creationId xmlns:a16="http://schemas.microsoft.com/office/drawing/2014/main" id="{A0AEF7F1-2AD8-4085-95EB-A0F62E455AD0}"/>
              </a:ext>
            </a:extLst>
          </p:cNvPr>
          <p:cNvSpPr>
            <a:spLocks xmlns:a="http://schemas.openxmlformats.org/drawingml/2006/main" noGrp="1"/>
          </p:cNvSpPr>
          <p:nvPr/>
        </p:nvSpPr>
        <p:spPr>
          <a:xfrm xmlns:a="http://schemas.openxmlformats.org/drawingml/2006/main">
            <a:off x="8286750" y="4067175"/>
            <a:ext cx="2905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803"/>
          </a:bodyPr>
          <a:lstStyle xmlns:a="http://schemas.openxmlformats.org/drawingml/2006/main">
            <a:defPPr algn="l">
              <a:defRPr sz="1275" b="0">
                <a:solidFill>
                  <a:srgbClr val="536C74"/>
                </a:solidFill>
                <a:latin typeface="Arial"/>
                <a:ea typeface="Arial"/>
                <a:cs typeface="Arial"/>
              </a:defRPr>
            </a:defPPr>
          </a:lstStyle>
          <a:p xmlns:a="http://schemas.openxmlformats.org/drawingml/2006/main">
            <a:pPr algn="l">
              <a:lnSpc>
                <a:spcPct val="105000"/>
              </a:lnSpc>
              <a:buNone/>
              <a:defRPr sz="1275" b="0">
                <a:solidFill>
                  <a:srgbClr val="536C74"/>
                </a:solidFill>
                <a:latin typeface="Arial"/>
                <a:ea typeface="Arial"/>
                <a:cs typeface="Arial"/>
              </a:defRPr>
            </a:pPr>
            <a:r>
              <a:rPr sz="1275" b="0">
                <a:solidFill>
                  <a:srgbClr val="536C74"/>
                </a:solidFill>
                <a:latin typeface="Arial"/>
                <a:ea typeface="Arial"/>
                <a:cs typeface="Arial"/>
              </a:rPr>
              <a:t>Explain suitability using the available context</a:t>
            </a:r>
          </a:p>
        </p:txBody>
      </p:sp>
      <p:sp>
        <p:nvSpPr>
          <p:cNvPr id="35" name="">
            <a:extLst xmlns:a="http://schemas.openxmlformats.org/drawingml/2006/main">
              <a:ext uri="{FF2B5EF4-FFF2-40B4-BE49-F238E27FC236}">
                <a16:creationId xmlns:a16="http://schemas.microsoft.com/office/drawing/2014/main" id="{D1004D3D-12E1-43EE-9D88-5703A2E7682D}"/>
              </a:ext>
            </a:extLst>
          </p:cNvPr>
          <p:cNvSpPr>
            <a:spLocks xmlns:a="http://schemas.openxmlformats.org/drawingml/2006/main" noGrp="1"/>
          </p:cNvSpPr>
          <p:nvPr/>
        </p:nvSpPr>
        <p:spPr>
          <a:xfrm xmlns:a="http://schemas.openxmlformats.org/drawingml/2006/main">
            <a:off x="7829550" y="4514850"/>
            <a:ext cx="323850" cy="323850"/>
          </a:xfrm>
          <a:prstGeom xmlns:a="http://schemas.openxmlformats.org/drawingml/2006/main" prst="ellipse">
            <a:avLst/>
          </a:prstGeom>
          <a:solidFill xmlns:a="http://schemas.openxmlformats.org/drawingml/2006/main">
            <a:srgbClr val="2C8C83"/>
          </a:solidFill>
          <a:ln xmlns:a="http://schemas.openxmlformats.org/drawingml/2006/main" w="11430">
            <a:solidFill>
              <a:srgbClr val="2C8C83"/>
            </a:solidFill>
            <a:prstDash val="solid"/>
          </a:ln>
        </p:spPr>
      </p:sp>
      <p:sp>
        <p:nvSpPr>
          <p:cNvPr id="36" name="04">
            <a:extLst xmlns:a="http://schemas.openxmlformats.org/drawingml/2006/main">
              <a:ext uri="{FF2B5EF4-FFF2-40B4-BE49-F238E27FC236}">
                <a16:creationId xmlns:a16="http://schemas.microsoft.com/office/drawing/2014/main" id="{AD14E51D-113E-4433-B478-32B8ECCE41E7}"/>
              </a:ext>
            </a:extLst>
          </p:cNvPr>
          <p:cNvSpPr>
            <a:spLocks xmlns:a="http://schemas.openxmlformats.org/drawingml/2006/main" noGrp="1"/>
          </p:cNvSpPr>
          <p:nvPr/>
        </p:nvSpPr>
        <p:spPr>
          <a:xfrm xmlns:a="http://schemas.openxmlformats.org/drawingml/2006/main">
            <a:off x="7829550" y="4581525"/>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Arial"/>
                <a:ea typeface="Arial"/>
                <a:cs typeface="Arial"/>
              </a:defRPr>
            </a:defPPr>
          </a:lstStyle>
          <a:p xmlns:a="http://schemas.openxmlformats.org/drawingml/2006/main">
            <a:pPr algn="ctr">
              <a:lnSpc>
                <a:spcPct val="105000"/>
              </a:lnSpc>
              <a:buNone/>
              <a:defRPr sz="975" b="1">
                <a:solidFill>
                  <a:srgbClr val="FFFFFF"/>
                </a:solidFill>
                <a:latin typeface="Arial"/>
                <a:ea typeface="Arial"/>
                <a:cs typeface="Arial"/>
              </a:defRPr>
            </a:pPr>
            <a:r>
              <a:rPr sz="975" b="1">
                <a:solidFill>
                  <a:srgbClr val="FFFFFF"/>
                </a:solidFill>
                <a:latin typeface="Arial"/>
                <a:ea typeface="Arial"/>
                <a:cs typeface="Arial"/>
              </a:rPr>
              <a:t>04</a:t>
            </a:r>
          </a:p>
        </p:txBody>
      </p:sp>
      <p:sp>
        <p:nvSpPr>
          <p:cNvPr id="37" name="Return useful guidance">
            <a:extLst xmlns:a="http://schemas.openxmlformats.org/drawingml/2006/main">
              <a:ext uri="{FF2B5EF4-FFF2-40B4-BE49-F238E27FC236}">
                <a16:creationId xmlns:a16="http://schemas.microsoft.com/office/drawing/2014/main" id="{3FE39012-8BC4-4F53-BD01-FBCCDBF49879}"/>
              </a:ext>
            </a:extLst>
          </p:cNvPr>
          <p:cNvSpPr>
            <a:spLocks xmlns:a="http://schemas.openxmlformats.org/drawingml/2006/main" noGrp="1"/>
          </p:cNvSpPr>
          <p:nvPr/>
        </p:nvSpPr>
        <p:spPr>
          <a:xfrm xmlns:a="http://schemas.openxmlformats.org/drawingml/2006/main">
            <a:off x="8286750" y="4514850"/>
            <a:ext cx="29051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3B4A"/>
                </a:solidFill>
                <a:latin typeface="Arial"/>
                <a:ea typeface="Arial"/>
                <a:cs typeface="Arial"/>
              </a:defRPr>
            </a:defPPr>
          </a:lstStyle>
          <a:p xmlns:a="http://schemas.openxmlformats.org/drawingml/2006/main">
            <a:pPr algn="l">
              <a:lnSpc>
                <a:spcPct val="105000"/>
              </a:lnSpc>
              <a:buNone/>
              <a:defRPr sz="1575" b="1">
                <a:solidFill>
                  <a:srgbClr val="173B4A"/>
                </a:solidFill>
                <a:latin typeface="Arial"/>
                <a:ea typeface="Arial"/>
                <a:cs typeface="Arial"/>
              </a:defRPr>
            </a:pPr>
            <a:r>
              <a:rPr sz="1575" b="1">
                <a:solidFill>
                  <a:srgbClr val="173B4A"/>
                </a:solidFill>
                <a:latin typeface="Arial"/>
                <a:ea typeface="Arial"/>
                <a:cs typeface="Arial"/>
              </a:rPr>
              <a:t>Return useful guidance</a:t>
            </a:r>
          </a:p>
        </p:txBody>
      </p:sp>
      <p:sp>
        <p:nvSpPr>
          <p:cNvPr id="38" name="Summary, food insight, and n">
            <a:extLst xmlns:a="http://schemas.openxmlformats.org/drawingml/2006/main">
              <a:ext uri="{FF2B5EF4-FFF2-40B4-BE49-F238E27FC236}">
                <a16:creationId xmlns:a16="http://schemas.microsoft.com/office/drawing/2014/main" id="{3EAC3B9A-D559-4712-960F-225281E754FE}"/>
              </a:ext>
            </a:extLst>
          </p:cNvPr>
          <p:cNvSpPr>
            <a:spLocks xmlns:a="http://schemas.openxmlformats.org/drawingml/2006/main" noGrp="1"/>
          </p:cNvSpPr>
          <p:nvPr/>
        </p:nvSpPr>
        <p:spPr>
          <a:xfrm xmlns:a="http://schemas.openxmlformats.org/drawingml/2006/main">
            <a:off x="8286750" y="4810125"/>
            <a:ext cx="2905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C74"/>
                </a:solidFill>
                <a:latin typeface="Arial"/>
                <a:ea typeface="Arial"/>
                <a:cs typeface="Arial"/>
              </a:defRPr>
            </a:defPPr>
          </a:lstStyle>
          <a:p xmlns:a="http://schemas.openxmlformats.org/drawingml/2006/main">
            <a:pPr algn="l">
              <a:lnSpc>
                <a:spcPct val="105000"/>
              </a:lnSpc>
              <a:buNone/>
              <a:defRPr sz="1275" b="0">
                <a:solidFill>
                  <a:srgbClr val="536C74"/>
                </a:solidFill>
                <a:latin typeface="Arial"/>
                <a:ea typeface="Arial"/>
                <a:cs typeface="Arial"/>
              </a:defRPr>
            </a:pPr>
            <a:r>
              <a:rPr sz="1275" b="0">
                <a:solidFill>
                  <a:srgbClr val="536C74"/>
                </a:solidFill>
                <a:latin typeface="Arial"/>
                <a:ea typeface="Arial"/>
                <a:cs typeface="Arial"/>
              </a:rPr>
              <a:t>Summary, food insight, and next steps</a:t>
            </a:r>
          </a:p>
        </p:txBody>
      </p:sp>
      <p:sp>
        <p:nvSpPr>
          <p:cNvPr id="39" name="Optional chest X-ray insight">
            <a:extLst xmlns:a="http://schemas.openxmlformats.org/drawingml/2006/main">
              <a:ext uri="{FF2B5EF4-FFF2-40B4-BE49-F238E27FC236}">
                <a16:creationId xmlns:a16="http://schemas.microsoft.com/office/drawing/2014/main" id="{5A99F996-269C-43A6-9567-B87F96084B49}"/>
              </a:ext>
            </a:extLst>
          </p:cNvPr>
          <p:cNvSpPr>
            <a:spLocks xmlns:a="http://schemas.openxmlformats.org/drawingml/2006/main" noGrp="1"/>
          </p:cNvSpPr>
          <p:nvPr/>
        </p:nvSpPr>
        <p:spPr>
          <a:xfrm xmlns:a="http://schemas.openxmlformats.org/drawingml/2006/main">
            <a:off x="7810500" y="5391150"/>
            <a:ext cx="3600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9609"/>
          </a:bodyPr>
          <a:lstStyle xmlns:a="http://schemas.openxmlformats.org/drawingml/2006/main">
            <a:defPPr algn="l">
              <a:defRPr sz="1200" b="1">
                <a:solidFill>
                  <a:srgbClr val="756397"/>
                </a:solidFill>
                <a:latin typeface="Arial"/>
                <a:ea typeface="Arial"/>
                <a:cs typeface="Arial"/>
              </a:defRPr>
            </a:defPPr>
          </a:lstStyle>
          <a:p xmlns:a="http://schemas.openxmlformats.org/drawingml/2006/main">
            <a:pPr algn="l">
              <a:lnSpc>
                <a:spcPct val="105000"/>
              </a:lnSpc>
              <a:buNone/>
              <a:defRPr sz="1200" b="1">
                <a:solidFill>
                  <a:srgbClr val="756397"/>
                </a:solidFill>
                <a:latin typeface="Arial"/>
                <a:ea typeface="Arial"/>
                <a:cs typeface="Arial"/>
              </a:defRPr>
            </a:pPr>
            <a:r>
              <a:rPr sz="1200" b="1">
                <a:solidFill>
                  <a:srgbClr val="756397"/>
                </a:solidFill>
                <a:latin typeface="Arial"/>
                <a:ea typeface="Arial"/>
                <a:cs typeface="Arial"/>
              </a:rPr>
              <a:t>Optional chest X-ray insights remain a separate research path.</a:t>
            </a:r>
          </a:p>
        </p:txBody>
      </p:sp>
      <p:sp>
        <p:nvSpPr>
          <p:cNvPr id="40" name="Sources: official product de">
            <a:extLst xmlns:a="http://schemas.openxmlformats.org/drawingml/2006/main">
              <a:ext uri="{FF2B5EF4-FFF2-40B4-BE49-F238E27FC236}">
                <a16:creationId xmlns:a16="http://schemas.microsoft.com/office/drawing/2014/main" id="{B5ED0749-6161-44DD-AB34-89F9EB3987E5}"/>
              </a:ext>
            </a:extLst>
          </p:cNvPr>
          <p:cNvSpPr>
            <a:spLocks xmlns:a="http://schemas.openxmlformats.org/drawingml/2006/main" noGrp="1"/>
          </p:cNvSpPr>
          <p:nvPr/>
        </p:nvSpPr>
        <p:spPr>
          <a:xfrm xmlns:a="http://schemas.openxmlformats.org/drawingml/2006/main">
            <a:off x="666750" y="5857875"/>
            <a:ext cx="7429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C74"/>
                </a:solidFill>
                <a:latin typeface="Arial"/>
                <a:ea typeface="Arial"/>
                <a:cs typeface="Arial"/>
              </a:defRPr>
            </a:defPPr>
          </a:lstStyle>
          <a:p xmlns:a="http://schemas.openxmlformats.org/drawingml/2006/main">
            <a:pPr algn="l">
              <a:lnSpc>
                <a:spcPct val="105000"/>
              </a:lnSpc>
              <a:buNone/>
              <a:defRPr sz="1050" b="0">
                <a:solidFill>
                  <a:srgbClr val="536C74"/>
                </a:solidFill>
                <a:latin typeface="Arial"/>
                <a:ea typeface="Arial"/>
                <a:cs typeface="Arial"/>
              </a:defRPr>
            </a:pPr>
            <a:r>
              <a:rPr sz="1050" b="0">
                <a:solidFill>
                  <a:srgbClr val="536C74"/>
                </a:solidFill>
                <a:latin typeface="Arial"/>
                <a:ea typeface="Arial"/>
                <a:cs typeface="Arial"/>
              </a:rPr>
              <a:t>Sources: official product descriptions; see links on slide 6.</a:t>
            </a:r>
          </a:p>
        </p:txBody>
      </p:sp>
    </p:spTree>
    <p:extLst>
      <p:ext uri="{BB962C8B-B14F-4D97-AF65-F5344CB8AC3E}">
        <p14:creationId xmlns:p14="http://schemas.microsoft.com/office/powerpoint/2010/main" val="819598918"/>
      </p:ext>
    </p:extLst>
  </p:cSld>
</p:sld>
</file>

<file path=ppt/slides/slide3.xml><?xml version="1.0" encoding="utf-8"?>
<p:sld xmlns:p="http://schemas.openxmlformats.org/presentationml/2006/main">
  <p:cSld>
    <p:bg>
      <p:bgPr>
        <a:gradFill xmlns:a="http://schemas.openxmlformats.org/drawingml/2006/main">
          <a:gsLst>
            <a:gs pos="0">
              <a:srgbClr val="F3FAF7"/>
            </a:gs>
            <a:gs pos="100000">
              <a:srgbClr val="FBFCFC"/>
            </a:gs>
          </a:gsLst>
          <a:lin ang="0"/>
        </a:gradFill>
      </p:bgPr>
    </p:bg>
    <p:spTree>
      <p:nvGrpSpPr>
        <p:cNvPr id="1" name=""/>
        <p:cNvGrpSpPr/>
        <p:nvPr/>
      </p:nvGrpSpPr>
      <p:grpSpPr>
        <a:xfrm xmlns:a="http://schemas.openxmlformats.org/drawingml/2006/main"/>
      </p:grpSpPr>
      <p:sp>
        <p:nvSpPr>
          <p:cNvPr id="53" name="VITALIS  /  HEALTH TECH">
            <a:extLst xmlns:a="http://schemas.openxmlformats.org/drawingml/2006/main">
              <a:ext uri="{FF2B5EF4-FFF2-40B4-BE49-F238E27FC236}">
                <a16:creationId xmlns:a16="http://schemas.microsoft.com/office/drawing/2014/main" id="{D66694DE-5EAF-493E-B51A-EBCE5A5502BB}"/>
              </a:ext>
            </a:extLst>
          </p:cNvPr>
          <p:cNvSpPr>
            <a:spLocks xmlns:a="http://schemas.openxmlformats.org/drawingml/2006/main" noGrp="1"/>
          </p:cNvSpPr>
          <p:nvPr/>
        </p:nvSpPr>
        <p:spPr>
          <a:xfrm xmlns:a="http://schemas.openxmlformats.org/drawingml/2006/main">
            <a:off x="628650" y="28575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76B65"/>
                </a:solidFill>
                <a:latin typeface="Arial"/>
                <a:ea typeface="Arial"/>
                <a:cs typeface="Arial"/>
              </a:defRPr>
            </a:defPPr>
          </a:lstStyle>
          <a:p xmlns:a="http://schemas.openxmlformats.org/drawingml/2006/main">
            <a:pPr algn="l">
              <a:lnSpc>
                <a:spcPct val="105000"/>
              </a:lnSpc>
              <a:buNone/>
              <a:defRPr sz="1125" b="1">
                <a:solidFill>
                  <a:srgbClr val="176B65"/>
                </a:solidFill>
                <a:latin typeface="Arial"/>
                <a:ea typeface="Arial"/>
                <a:cs typeface="Arial"/>
              </a:defRPr>
            </a:pPr>
            <a:r>
              <a:rPr sz="1125" b="1">
                <a:solidFill>
                  <a:srgbClr val="176B65"/>
                </a:solidFill>
                <a:latin typeface="Arial"/>
                <a:ea typeface="Arial"/>
                <a:cs typeface="Arial"/>
              </a:rPr>
              <a:t>VITALIS  /  HEALTH TECH</a:t>
            </a:r>
          </a:p>
        </p:txBody>
      </p:sp>
      <p:sp>
        <p:nvSpPr>
          <p:cNvPr id="2" name="Proposed platform flow">
            <a:extLst xmlns:a="http://schemas.openxmlformats.org/drawingml/2006/main">
              <a:ext uri="{FF2B5EF4-FFF2-40B4-BE49-F238E27FC236}">
                <a16:creationId xmlns:a16="http://schemas.microsoft.com/office/drawing/2014/main" id="{9F75B1BF-0842-4ED0-B541-0B36E42CB27C}"/>
              </a:ext>
            </a:extLst>
          </p:cNvPr>
          <p:cNvSpPr>
            <a:spLocks xmlns:a="http://schemas.openxmlformats.org/drawingml/2006/main" noGrp="1"/>
          </p:cNvSpPr>
          <p:nvPr/>
        </p:nvSpPr>
        <p:spPr>
          <a:xfrm xmlns:a="http://schemas.openxmlformats.org/drawingml/2006/main">
            <a:off x="628650" y="571500"/>
            <a:ext cx="1085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000" b="1">
                <a:solidFill>
                  <a:srgbClr val="173B4A"/>
                </a:solidFill>
                <a:latin typeface="Arial"/>
                <a:ea typeface="Arial"/>
                <a:cs typeface="Arial"/>
              </a:defRPr>
            </a:defPPr>
          </a:lstStyle>
          <a:p xmlns:a="http://schemas.openxmlformats.org/drawingml/2006/main">
            <a:pPr algn="l">
              <a:lnSpc>
                <a:spcPct val="105000"/>
              </a:lnSpc>
              <a:buNone/>
              <a:defRPr sz="3000" b="1">
                <a:solidFill>
                  <a:srgbClr val="173B4A"/>
                </a:solidFill>
                <a:latin typeface="Arial"/>
                <a:ea typeface="Arial"/>
                <a:cs typeface="Arial"/>
              </a:defRPr>
            </a:pPr>
            <a:r>
              <a:rPr sz="3000" b="1">
                <a:solidFill>
                  <a:srgbClr val="173B4A"/>
                </a:solidFill>
                <a:latin typeface="Arial"/>
                <a:ea typeface="Arial"/>
                <a:cs typeface="Arial"/>
              </a:rPr>
              <a:t>Proposed platform flow</a:t>
            </a:r>
          </a:p>
        </p:txBody>
      </p:sp>
      <p:sp>
        <p:nvSpPr>
          <p:cNvPr id="3" name="The health context is the br">
            <a:extLst xmlns:a="http://schemas.openxmlformats.org/drawingml/2006/main">
              <a:ext uri="{FF2B5EF4-FFF2-40B4-BE49-F238E27FC236}">
                <a16:creationId xmlns:a16="http://schemas.microsoft.com/office/drawing/2014/main" id="{786542A6-A26D-4E6A-8089-709589827720}"/>
              </a:ext>
            </a:extLst>
          </p:cNvPr>
          <p:cNvSpPr>
            <a:spLocks xmlns:a="http://schemas.openxmlformats.org/drawingml/2006/main" noGrp="1"/>
          </p:cNvSpPr>
          <p:nvPr/>
        </p:nvSpPr>
        <p:spPr>
          <a:xfrm xmlns:a="http://schemas.openxmlformats.org/drawingml/2006/main">
            <a:off x="647700" y="1095375"/>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36C74"/>
                </a:solidFill>
                <a:latin typeface="Arial"/>
                <a:ea typeface="Arial"/>
                <a:cs typeface="Arial"/>
              </a:defRPr>
            </a:defPPr>
          </a:lstStyle>
          <a:p xmlns:a="http://schemas.openxmlformats.org/drawingml/2006/main">
            <a:pPr algn="l">
              <a:lnSpc>
                <a:spcPct val="105000"/>
              </a:lnSpc>
              <a:buNone/>
              <a:defRPr sz="1575" b="0">
                <a:solidFill>
                  <a:srgbClr val="536C74"/>
                </a:solidFill>
                <a:latin typeface="Arial"/>
                <a:ea typeface="Arial"/>
                <a:cs typeface="Arial"/>
              </a:defRPr>
            </a:pPr>
            <a:r>
              <a:rPr sz="1575" b="0">
                <a:solidFill>
                  <a:srgbClr val="536C74"/>
                </a:solidFill>
                <a:latin typeface="Arial"/>
                <a:ea typeface="Arial"/>
                <a:cs typeface="Arial"/>
              </a:rPr>
              <a:t>The health context is the bridge between assessment and food guidance</a:t>
            </a:r>
          </a:p>
        </p:txBody>
      </p:sp>
      <p:sp>
        <p:nvSpPr>
          <p:cNvPr id="4" name="">
            <a:extLst xmlns:a="http://schemas.openxmlformats.org/drawingml/2006/main">
              <a:ext uri="{FF2B5EF4-FFF2-40B4-BE49-F238E27FC236}">
                <a16:creationId xmlns:a16="http://schemas.microsoft.com/office/drawing/2014/main" id="{50012BD0-A803-43B1-8FEC-6CBDB6C2BAC5}"/>
              </a:ext>
            </a:extLst>
          </p:cNvPr>
          <p:cNvSpPr>
            <a:spLocks xmlns:a="http://schemas.openxmlformats.org/drawingml/2006/main" noGrp="1"/>
          </p:cNvSpPr>
          <p:nvPr/>
        </p:nvSpPr>
        <p:spPr>
          <a:xfrm xmlns:a="http://schemas.openxmlformats.org/drawingml/2006/main">
            <a:off x="628650" y="6400800"/>
            <a:ext cx="10934700" cy="9525"/>
          </a:xfrm>
          <a:prstGeom xmlns:a="http://schemas.openxmlformats.org/drawingml/2006/main" prst="rect">
            <a:avLst/>
          </a:prstGeom>
          <a:solidFill xmlns:a="http://schemas.openxmlformats.org/drawingml/2006/main">
            <a:srgbClr val="D6E5E1"/>
          </a:solidFill>
          <a:ln xmlns:a="http://schemas.openxmlformats.org/drawingml/2006/main" w="0">
            <a:noFill/>
            <a:prstDash val="solid"/>
          </a:ln>
        </p:spPr>
      </p:sp>
      <p:sp>
        <p:nvSpPr>
          <p:cNvPr id="5" name="VITALIS  |  HACK X 2026">
            <a:extLst xmlns:a="http://schemas.openxmlformats.org/drawingml/2006/main">
              <a:ext uri="{FF2B5EF4-FFF2-40B4-BE49-F238E27FC236}">
                <a16:creationId xmlns:a16="http://schemas.microsoft.com/office/drawing/2014/main" id="{864EFA8A-D57F-40AA-82BE-88B2045FF8E9}"/>
              </a:ext>
            </a:extLst>
          </p:cNvPr>
          <p:cNvSpPr>
            <a:spLocks xmlns:a="http://schemas.openxmlformats.org/drawingml/2006/main" noGrp="1"/>
          </p:cNvSpPr>
          <p:nvPr/>
        </p:nvSpPr>
        <p:spPr>
          <a:xfrm xmlns:a="http://schemas.openxmlformats.org/drawingml/2006/main">
            <a:off x="647700" y="64770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36C74"/>
                </a:solidFill>
                <a:latin typeface="Arial"/>
                <a:ea typeface="Arial"/>
                <a:cs typeface="Arial"/>
              </a:defRPr>
            </a:defPPr>
          </a:lstStyle>
          <a:p xmlns:a="http://schemas.openxmlformats.org/drawingml/2006/main">
            <a:pPr algn="l">
              <a:lnSpc>
                <a:spcPct val="105000"/>
              </a:lnSpc>
              <a:buNone/>
              <a:defRPr sz="975" b="1">
                <a:solidFill>
                  <a:srgbClr val="536C74"/>
                </a:solidFill>
                <a:latin typeface="Arial"/>
                <a:ea typeface="Arial"/>
                <a:cs typeface="Arial"/>
              </a:defRPr>
            </a:pPr>
            <a:r>
              <a:rPr sz="975" b="1">
                <a:solidFill>
                  <a:srgbClr val="536C74"/>
                </a:solidFill>
                <a:latin typeface="Arial"/>
                <a:ea typeface="Arial"/>
                <a:cs typeface="Arial"/>
              </a:rPr>
              <a:t>VITALIS  |  HACK X 2026</a:t>
            </a:r>
          </a:p>
        </p:txBody>
      </p:sp>
      <p:sp>
        <p:nvSpPr>
          <p:cNvPr id="6" name="03  /  06">
            <a:extLst xmlns:a="http://schemas.openxmlformats.org/drawingml/2006/main">
              <a:ext uri="{FF2B5EF4-FFF2-40B4-BE49-F238E27FC236}">
                <a16:creationId xmlns:a16="http://schemas.microsoft.com/office/drawing/2014/main" id="{CCB10103-4F17-44A3-A6C8-C0E7CD19DDA7}"/>
              </a:ext>
            </a:extLst>
          </p:cNvPr>
          <p:cNvSpPr>
            <a:spLocks xmlns:a="http://schemas.openxmlformats.org/drawingml/2006/main" noGrp="1"/>
          </p:cNvSpPr>
          <p:nvPr/>
        </p:nvSpPr>
        <p:spPr>
          <a:xfrm xmlns:a="http://schemas.openxmlformats.org/drawingml/2006/main">
            <a:off x="10687050" y="647700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C74"/>
                </a:solidFill>
                <a:latin typeface="Arial"/>
                <a:ea typeface="Arial"/>
                <a:cs typeface="Arial"/>
              </a:defRPr>
            </a:defPPr>
          </a:lstStyle>
          <a:p xmlns:a="http://schemas.openxmlformats.org/drawingml/2006/main">
            <a:pPr algn="r">
              <a:lnSpc>
                <a:spcPct val="105000"/>
              </a:lnSpc>
              <a:buNone/>
              <a:defRPr sz="975" b="1">
                <a:solidFill>
                  <a:srgbClr val="536C74"/>
                </a:solidFill>
                <a:latin typeface="Arial"/>
                <a:ea typeface="Arial"/>
                <a:cs typeface="Arial"/>
              </a:defRPr>
            </a:pPr>
            <a:r>
              <a:rPr sz="975" b="1">
                <a:solidFill>
                  <a:srgbClr val="536C74"/>
                </a:solidFill>
                <a:latin typeface="Arial"/>
                <a:ea typeface="Arial"/>
                <a:cs typeface="Arial"/>
              </a:rPr>
              <a:t>03  /  06</a:t>
            </a:r>
          </a:p>
        </p:txBody>
      </p:sp>
      <p:sp>
        <p:nvSpPr>
          <p:cNvPr id="7" name="User profile &amp; consent">
            <a:extLst xmlns:a="http://schemas.openxmlformats.org/drawingml/2006/main">
              <a:ext uri="{FF2B5EF4-FFF2-40B4-BE49-F238E27FC236}">
                <a16:creationId xmlns:a16="http://schemas.microsoft.com/office/drawing/2014/main" id="{E92D37DB-8FD8-48EB-8574-EDEC335AD96B}"/>
              </a:ext>
            </a:extLst>
          </p:cNvPr>
          <p:cNvSpPr>
            <a:spLocks xmlns:a="http://schemas.openxmlformats.org/drawingml/2006/main" noGrp="1"/>
          </p:cNvSpPr>
          <p:nvPr/>
        </p:nvSpPr>
        <p:spPr>
          <a:xfrm xmlns:a="http://schemas.openxmlformats.org/drawingml/2006/main">
            <a:off x="4448175" y="1581150"/>
            <a:ext cx="329565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11906">
            <a:solidFill>
              <a:srgbClr val="D6E5E1"/>
            </a:solidFill>
            <a:prstDash val="solid"/>
          </a:ln>
        </p:spPr>
      </p:sp>
      <p:sp>
        <p:nvSpPr>
          <p:cNvPr id="8" name="User profile &amp; consent">
            <a:extLst xmlns:a="http://schemas.openxmlformats.org/drawingml/2006/main">
              <a:ext uri="{FF2B5EF4-FFF2-40B4-BE49-F238E27FC236}">
                <a16:creationId xmlns:a16="http://schemas.microsoft.com/office/drawing/2014/main" id="{6AE4DE40-9507-483D-AC74-8C67CBACC036}"/>
              </a:ext>
            </a:extLst>
          </p:cNvPr>
          <p:cNvSpPr>
            <a:spLocks xmlns:a="http://schemas.openxmlformats.org/drawingml/2006/main" noGrp="1"/>
          </p:cNvSpPr>
          <p:nvPr/>
        </p:nvSpPr>
        <p:spPr>
          <a:xfrm xmlns:a="http://schemas.openxmlformats.org/drawingml/2006/main">
            <a:off x="4619625" y="1666875"/>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61"/>
          </a:bodyPr>
          <a:lstStyle xmlns:a="http://schemas.openxmlformats.org/drawingml/2006/main">
            <a:defPPr algn="l">
              <a:defRPr sz="1575" b="1">
                <a:solidFill>
                  <a:srgbClr val="173B4A"/>
                </a:solidFill>
                <a:latin typeface="Arial"/>
                <a:ea typeface="Arial"/>
                <a:cs typeface="Arial"/>
              </a:defRPr>
            </a:defPPr>
          </a:lstStyle>
          <a:p xmlns:a="http://schemas.openxmlformats.org/drawingml/2006/main">
            <a:pPr algn="l">
              <a:lnSpc>
                <a:spcPct val="105000"/>
              </a:lnSpc>
              <a:buNone/>
              <a:defRPr sz="1575" b="1">
                <a:solidFill>
                  <a:srgbClr val="173B4A"/>
                </a:solidFill>
                <a:latin typeface="Arial"/>
                <a:ea typeface="Arial"/>
                <a:cs typeface="Arial"/>
              </a:defRPr>
            </a:pPr>
            <a:r>
              <a:rPr sz="1575" b="1">
                <a:solidFill>
                  <a:srgbClr val="173B4A"/>
                </a:solidFill>
                <a:latin typeface="Arial"/>
                <a:ea typeface="Arial"/>
                <a:cs typeface="Arial"/>
              </a:rPr>
              <a:t>User profile &amp; consent</a:t>
            </a:r>
          </a:p>
        </p:txBody>
      </p:sp>
      <p:sp>
        <p:nvSpPr>
          <p:cNvPr id="9" name="Health &amp; lifestyle inputs">
            <a:extLst xmlns:a="http://schemas.openxmlformats.org/drawingml/2006/main">
              <a:ext uri="{FF2B5EF4-FFF2-40B4-BE49-F238E27FC236}">
                <a16:creationId xmlns:a16="http://schemas.microsoft.com/office/drawing/2014/main" id="{8558483C-853C-4AEB-BE48-76464ED90AA2}"/>
              </a:ext>
            </a:extLst>
          </p:cNvPr>
          <p:cNvSpPr>
            <a:spLocks xmlns:a="http://schemas.openxmlformats.org/drawingml/2006/main" noGrp="1"/>
          </p:cNvSpPr>
          <p:nvPr/>
        </p:nvSpPr>
        <p:spPr>
          <a:xfrm xmlns:a="http://schemas.openxmlformats.org/drawingml/2006/main">
            <a:off x="4448175" y="2247900"/>
            <a:ext cx="3295650" cy="552450"/>
          </a:xfrm>
          <a:prstGeom xmlns:a="http://schemas.openxmlformats.org/drawingml/2006/main" prst="roundRect">
            <a:avLst>
              <a:gd name="adj" fmla="val 13793"/>
            </a:avLst>
          </a:prstGeom>
          <a:solidFill xmlns:a="http://schemas.openxmlformats.org/drawingml/2006/main">
            <a:srgbClr val="F5EACB"/>
          </a:solidFill>
          <a:ln xmlns:a="http://schemas.openxmlformats.org/drawingml/2006/main" w="11906">
            <a:solidFill>
              <a:srgbClr val="D6E5E1"/>
            </a:solidFill>
            <a:prstDash val="solid"/>
          </a:ln>
        </p:spPr>
      </p:sp>
      <p:sp>
        <p:nvSpPr>
          <p:cNvPr id="10" name="Health &amp; lifestyle inputs">
            <a:extLst xmlns:a="http://schemas.openxmlformats.org/drawingml/2006/main">
              <a:ext uri="{FF2B5EF4-FFF2-40B4-BE49-F238E27FC236}">
                <a16:creationId xmlns:a16="http://schemas.microsoft.com/office/drawing/2014/main" id="{D92FE84D-3569-45F2-8D2F-770319D0B413}"/>
              </a:ext>
            </a:extLst>
          </p:cNvPr>
          <p:cNvSpPr>
            <a:spLocks xmlns:a="http://schemas.openxmlformats.org/drawingml/2006/main" noGrp="1"/>
          </p:cNvSpPr>
          <p:nvPr/>
        </p:nvSpPr>
        <p:spPr>
          <a:xfrm xmlns:a="http://schemas.openxmlformats.org/drawingml/2006/main">
            <a:off x="4619625" y="2333625"/>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61"/>
          </a:bodyPr>
          <a:lstStyle xmlns:a="http://schemas.openxmlformats.org/drawingml/2006/main">
            <a:defPPr algn="l">
              <a:defRPr sz="1575" b="1">
                <a:solidFill>
                  <a:srgbClr val="173B4A"/>
                </a:solidFill>
                <a:latin typeface="Arial"/>
                <a:ea typeface="Arial"/>
                <a:cs typeface="Arial"/>
              </a:defRPr>
            </a:defPPr>
          </a:lstStyle>
          <a:p xmlns:a="http://schemas.openxmlformats.org/drawingml/2006/main">
            <a:pPr algn="l">
              <a:lnSpc>
                <a:spcPct val="105000"/>
              </a:lnSpc>
              <a:buNone/>
              <a:defRPr sz="1575" b="1">
                <a:solidFill>
                  <a:srgbClr val="173B4A"/>
                </a:solidFill>
                <a:latin typeface="Arial"/>
                <a:ea typeface="Arial"/>
                <a:cs typeface="Arial"/>
              </a:defRPr>
            </a:pPr>
            <a:r>
              <a:rPr sz="1575" b="1">
                <a:solidFill>
                  <a:srgbClr val="173B4A"/>
                </a:solidFill>
                <a:latin typeface="Arial"/>
                <a:ea typeface="Arial"/>
                <a:cs typeface="Arial"/>
              </a:rPr>
              <a:t>Health &amp; lifestyle inputs</a:t>
            </a:r>
          </a:p>
        </p:txBody>
      </p:sp>
      <p:sp>
        <p:nvSpPr>
          <p:cNvPr id="11" name="flow-↓-640-218">
            <a:extLst xmlns:a="http://schemas.openxmlformats.org/drawingml/2006/main">
              <a:ext uri="{FF2B5EF4-FFF2-40B4-BE49-F238E27FC236}">
                <a16:creationId xmlns:a16="http://schemas.microsoft.com/office/drawing/2014/main" id="{A8673DC6-69D5-4A32-A511-D015C529CFA1}"/>
              </a:ext>
            </a:extLst>
          </p:cNvPr>
          <p:cNvSpPr>
            <a:spLocks xmlns:a="http://schemas.openxmlformats.org/drawingml/2006/main" noGrp="1"/>
          </p:cNvSpPr>
          <p:nvPr/>
        </p:nvSpPr>
        <p:spPr>
          <a:xfrm xmlns:a="http://schemas.openxmlformats.org/drawingml/2006/main">
            <a:off x="5924550" y="2076450"/>
            <a:ext cx="342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3696"/>
          </a:bodyPr>
          <a:lstStyle xmlns:a="http://schemas.openxmlformats.org/drawingml/2006/main">
            <a:defPPr algn="ctr">
              <a:defRPr sz="2100" b="1">
                <a:solidFill>
                  <a:srgbClr val="176B65"/>
                </a:solidFill>
                <a:latin typeface="Arial"/>
                <a:ea typeface="Arial"/>
                <a:cs typeface="Arial"/>
              </a:defRPr>
            </a:defPPr>
          </a:lstStyle>
          <a:p xmlns:a="http://schemas.openxmlformats.org/drawingml/2006/main">
            <a:pPr algn="ctr">
              <a:lnSpc>
                <a:spcPct val="105000"/>
              </a:lnSpc>
              <a:buNone/>
              <a:defRPr sz="2100" b="1">
                <a:solidFill>
                  <a:srgbClr val="176B65"/>
                </a:solidFill>
                <a:latin typeface="Arial"/>
                <a:ea typeface="Arial"/>
                <a:cs typeface="Arial"/>
              </a:defRPr>
            </a:pPr>
            <a:r>
              <a:rPr sz="2100" b="1">
                <a:solidFill>
                  <a:srgbClr val="176B65"/>
                </a:solidFill>
                <a:latin typeface="Arial"/>
                <a:ea typeface="Arial"/>
                <a:cs typeface="Arial"/>
              </a:rPr>
              <a:t>↓</a:t>
            </a:r>
          </a:p>
        </p:txBody>
      </p:sp>
      <p:sp>
        <p:nvSpPr>
          <p:cNvPr id="12" name="MODEL BRANCH">
            <a:extLst xmlns:a="http://schemas.openxmlformats.org/drawingml/2006/main">
              <a:ext uri="{FF2B5EF4-FFF2-40B4-BE49-F238E27FC236}">
                <a16:creationId xmlns:a16="http://schemas.microsoft.com/office/drawing/2014/main" id="{62DE9714-1057-4890-A66D-C8C9BC35CECE}"/>
              </a:ext>
            </a:extLst>
          </p:cNvPr>
          <p:cNvSpPr>
            <a:spLocks xmlns:a="http://schemas.openxmlformats.org/drawingml/2006/main" noGrp="1"/>
          </p:cNvSpPr>
          <p:nvPr/>
        </p:nvSpPr>
        <p:spPr>
          <a:xfrm xmlns:a="http://schemas.openxmlformats.org/drawingml/2006/main">
            <a:off x="723900" y="3076575"/>
            <a:ext cx="276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477A97"/>
                </a:solidFill>
                <a:latin typeface="Arial"/>
                <a:ea typeface="Arial"/>
                <a:cs typeface="Arial"/>
              </a:defRPr>
            </a:defPPr>
          </a:lstStyle>
          <a:p xmlns:a="http://schemas.openxmlformats.org/drawingml/2006/main">
            <a:pPr algn="l">
              <a:lnSpc>
                <a:spcPct val="105000"/>
              </a:lnSpc>
              <a:buNone/>
              <a:defRPr sz="1125" b="1">
                <a:solidFill>
                  <a:srgbClr val="477A97"/>
                </a:solidFill>
                <a:latin typeface="Arial"/>
                <a:ea typeface="Arial"/>
                <a:cs typeface="Arial"/>
              </a:defRPr>
            </a:pPr>
            <a:r>
              <a:rPr sz="1125" b="1">
                <a:solidFill>
                  <a:srgbClr val="477A97"/>
                </a:solidFill>
                <a:latin typeface="Arial"/>
                <a:ea typeface="Arial"/>
                <a:cs typeface="Arial"/>
              </a:rPr>
              <a:t>MODEL BRANCH</a:t>
            </a:r>
          </a:p>
        </p:txBody>
      </p:sp>
      <p:sp>
        <p:nvSpPr>
          <p:cNvPr id="13" name="Preprocess structured inputs">
            <a:extLst xmlns:a="http://schemas.openxmlformats.org/drawingml/2006/main">
              <a:ext uri="{FF2B5EF4-FFF2-40B4-BE49-F238E27FC236}">
                <a16:creationId xmlns:a16="http://schemas.microsoft.com/office/drawing/2014/main" id="{11CA8403-5CA6-4FA8-8F8F-A17BD7CA3A31}"/>
              </a:ext>
            </a:extLst>
          </p:cNvPr>
          <p:cNvSpPr>
            <a:spLocks xmlns:a="http://schemas.openxmlformats.org/drawingml/2006/main" noGrp="1"/>
          </p:cNvSpPr>
          <p:nvPr/>
        </p:nvSpPr>
        <p:spPr>
          <a:xfrm xmlns:a="http://schemas.openxmlformats.org/drawingml/2006/main">
            <a:off x="685800" y="3400425"/>
            <a:ext cx="3162300" cy="542925"/>
          </a:xfrm>
          <a:prstGeom xmlns:a="http://schemas.openxmlformats.org/drawingml/2006/main" prst="roundRect">
            <a:avLst>
              <a:gd name="adj" fmla="val 14035"/>
            </a:avLst>
          </a:prstGeom>
          <a:solidFill xmlns:a="http://schemas.openxmlformats.org/drawingml/2006/main">
            <a:srgbClr val="E9F2F8"/>
          </a:solidFill>
          <a:ln xmlns:a="http://schemas.openxmlformats.org/drawingml/2006/main" w="11906">
            <a:solidFill>
              <a:srgbClr val="D6E5E1"/>
            </a:solidFill>
            <a:prstDash val="solid"/>
          </a:ln>
        </p:spPr>
      </p:sp>
      <p:sp>
        <p:nvSpPr>
          <p:cNvPr id="14" name="Preprocess structured inputs">
            <a:extLst xmlns:a="http://schemas.openxmlformats.org/drawingml/2006/main">
              <a:ext uri="{FF2B5EF4-FFF2-40B4-BE49-F238E27FC236}">
                <a16:creationId xmlns:a16="http://schemas.microsoft.com/office/drawing/2014/main" id="{6EDF6970-58F8-434F-B8A3-B8E724CAFEAF}"/>
              </a:ext>
            </a:extLst>
          </p:cNvPr>
          <p:cNvSpPr>
            <a:spLocks xmlns:a="http://schemas.openxmlformats.org/drawingml/2006/main" noGrp="1"/>
          </p:cNvSpPr>
          <p:nvPr/>
        </p:nvSpPr>
        <p:spPr>
          <a:xfrm xmlns:a="http://schemas.openxmlformats.org/drawingml/2006/main">
            <a:off x="857250" y="3486150"/>
            <a:ext cx="2819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3B4A"/>
                </a:solidFill>
                <a:latin typeface="Arial"/>
                <a:ea typeface="Arial"/>
                <a:cs typeface="Arial"/>
              </a:defRPr>
            </a:defPPr>
          </a:lstStyle>
          <a:p xmlns:a="http://schemas.openxmlformats.org/drawingml/2006/main">
            <a:pPr algn="l">
              <a:lnSpc>
                <a:spcPct val="105000"/>
              </a:lnSpc>
              <a:buNone/>
              <a:defRPr sz="1500" b="1">
                <a:solidFill>
                  <a:srgbClr val="173B4A"/>
                </a:solidFill>
                <a:latin typeface="Arial"/>
                <a:ea typeface="Arial"/>
                <a:cs typeface="Arial"/>
              </a:defRPr>
            </a:pPr>
            <a:r>
              <a:rPr sz="1500" b="1">
                <a:solidFill>
                  <a:srgbClr val="173B4A"/>
                </a:solidFill>
                <a:latin typeface="Arial"/>
                <a:ea typeface="Arial"/>
                <a:cs typeface="Arial"/>
              </a:rPr>
              <a:t>Preprocess structured inputs</a:t>
            </a:r>
          </a:p>
        </p:txBody>
      </p:sp>
      <p:sp>
        <p:nvSpPr>
          <p:cNvPr id="15" name="Risk assessment models">
            <a:extLst xmlns:a="http://schemas.openxmlformats.org/drawingml/2006/main">
              <a:ext uri="{FF2B5EF4-FFF2-40B4-BE49-F238E27FC236}">
                <a16:creationId xmlns:a16="http://schemas.microsoft.com/office/drawing/2014/main" id="{CD8DDAFE-934A-4794-855B-068F7A1D5A79}"/>
              </a:ext>
            </a:extLst>
          </p:cNvPr>
          <p:cNvSpPr>
            <a:spLocks xmlns:a="http://schemas.openxmlformats.org/drawingml/2006/main" noGrp="1"/>
          </p:cNvSpPr>
          <p:nvPr/>
        </p:nvSpPr>
        <p:spPr>
          <a:xfrm xmlns:a="http://schemas.openxmlformats.org/drawingml/2006/main">
            <a:off x="685800" y="4152900"/>
            <a:ext cx="3162300" cy="638175"/>
          </a:xfrm>
          <a:prstGeom xmlns:a="http://schemas.openxmlformats.org/drawingml/2006/main" prst="roundRect">
            <a:avLst>
              <a:gd name="adj" fmla="val 11940"/>
            </a:avLst>
          </a:prstGeom>
          <a:solidFill xmlns:a="http://schemas.openxmlformats.org/drawingml/2006/main">
            <a:srgbClr val="FFFFFF"/>
          </a:solidFill>
          <a:ln xmlns:a="http://schemas.openxmlformats.org/drawingml/2006/main" w="11906">
            <a:solidFill>
              <a:srgbClr val="D6E5E1"/>
            </a:solidFill>
            <a:prstDash val="solid"/>
          </a:ln>
        </p:spPr>
      </p:sp>
      <p:sp>
        <p:nvSpPr>
          <p:cNvPr id="16" name="Risk assessment models">
            <a:extLst xmlns:a="http://schemas.openxmlformats.org/drawingml/2006/main">
              <a:ext uri="{FF2B5EF4-FFF2-40B4-BE49-F238E27FC236}">
                <a16:creationId xmlns:a16="http://schemas.microsoft.com/office/drawing/2014/main" id="{316F9545-34B4-4152-BDB0-7F2EC7E488C7}"/>
              </a:ext>
            </a:extLst>
          </p:cNvPr>
          <p:cNvSpPr>
            <a:spLocks xmlns:a="http://schemas.openxmlformats.org/drawingml/2006/main" noGrp="1"/>
          </p:cNvSpPr>
          <p:nvPr/>
        </p:nvSpPr>
        <p:spPr>
          <a:xfrm xmlns:a="http://schemas.openxmlformats.org/drawingml/2006/main">
            <a:off x="857250" y="4238625"/>
            <a:ext cx="2819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defPPr algn="l">
              <a:defRPr sz="1500" b="1">
                <a:solidFill>
                  <a:srgbClr val="173B4A"/>
                </a:solidFill>
                <a:latin typeface="Arial"/>
                <a:ea typeface="Arial"/>
                <a:cs typeface="Arial"/>
              </a:defRPr>
            </a:defPPr>
          </a:lstStyle>
          <a:p xmlns:a="http://schemas.openxmlformats.org/drawingml/2006/main">
            <a:pPr algn="l">
              <a:lnSpc>
                <a:spcPct val="105000"/>
              </a:lnSpc>
              <a:buNone/>
              <a:defRPr sz="1500" b="1">
                <a:solidFill>
                  <a:srgbClr val="173B4A"/>
                </a:solidFill>
                <a:latin typeface="Arial"/>
                <a:ea typeface="Arial"/>
                <a:cs typeface="Arial"/>
              </a:defRPr>
            </a:pPr>
            <a:r>
              <a:rPr sz="1500" b="1">
                <a:solidFill>
                  <a:srgbClr val="173B4A"/>
                </a:solidFill>
                <a:latin typeface="Arial"/>
                <a:ea typeface="Arial"/>
                <a:cs typeface="Arial"/>
              </a:rPr>
              <a:t>Risk assessment models</a:t>
            </a:r>
          </a:p>
        </p:txBody>
      </p:sp>
      <p:sp>
        <p:nvSpPr>
          <p:cNvPr id="17" name="Heart  ·  Diabetes  ·  Weigh">
            <a:extLst xmlns:a="http://schemas.openxmlformats.org/drawingml/2006/main">
              <a:ext uri="{FF2B5EF4-FFF2-40B4-BE49-F238E27FC236}">
                <a16:creationId xmlns:a16="http://schemas.microsoft.com/office/drawing/2014/main" id="{3A99329A-36C7-4768-9ACB-733D2243DF4A}"/>
              </a:ext>
            </a:extLst>
          </p:cNvPr>
          <p:cNvSpPr>
            <a:spLocks xmlns:a="http://schemas.openxmlformats.org/drawingml/2006/main" noGrp="1"/>
          </p:cNvSpPr>
          <p:nvPr/>
        </p:nvSpPr>
        <p:spPr>
          <a:xfrm xmlns:a="http://schemas.openxmlformats.org/drawingml/2006/main">
            <a:off x="857250" y="4514850"/>
            <a:ext cx="2819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C74"/>
                </a:solidFill>
                <a:latin typeface="Arial"/>
                <a:ea typeface="Arial"/>
                <a:cs typeface="Arial"/>
              </a:defRPr>
            </a:defPPr>
          </a:lstStyle>
          <a:p xmlns:a="http://schemas.openxmlformats.org/drawingml/2006/main">
            <a:pPr algn="l">
              <a:lnSpc>
                <a:spcPct val="108000"/>
              </a:lnSpc>
              <a:buNone/>
              <a:defRPr sz="1200" b="0">
                <a:solidFill>
                  <a:srgbClr val="536C74"/>
                </a:solidFill>
                <a:latin typeface="Arial"/>
                <a:ea typeface="Arial"/>
                <a:cs typeface="Arial"/>
              </a:defRPr>
            </a:pPr>
            <a:r>
              <a:rPr sz="1200" b="0">
                <a:solidFill>
                  <a:srgbClr val="536C74"/>
                </a:solidFill>
                <a:latin typeface="Arial"/>
                <a:ea typeface="Arial"/>
                <a:cs typeface="Arial"/>
              </a:rPr>
              <a:t>Heart  ·  Diabetes  ·  Weight-related risk</a:t>
            </a:r>
          </a:p>
        </p:txBody>
      </p:sp>
      <p:sp>
        <p:nvSpPr>
          <p:cNvPr id="18" name="Risk indicators + AI summary">
            <a:extLst xmlns:a="http://schemas.openxmlformats.org/drawingml/2006/main">
              <a:ext uri="{FF2B5EF4-FFF2-40B4-BE49-F238E27FC236}">
                <a16:creationId xmlns:a16="http://schemas.microsoft.com/office/drawing/2014/main" id="{A9B1F563-3793-49CB-8A51-9346984F4D49}"/>
              </a:ext>
            </a:extLst>
          </p:cNvPr>
          <p:cNvSpPr>
            <a:spLocks xmlns:a="http://schemas.openxmlformats.org/drawingml/2006/main" noGrp="1"/>
          </p:cNvSpPr>
          <p:nvPr/>
        </p:nvSpPr>
        <p:spPr>
          <a:xfrm xmlns:a="http://schemas.openxmlformats.org/drawingml/2006/main">
            <a:off x="685800" y="5000625"/>
            <a:ext cx="3162300" cy="581025"/>
          </a:xfrm>
          <a:prstGeom xmlns:a="http://schemas.openxmlformats.org/drawingml/2006/main" prst="roundRect">
            <a:avLst>
              <a:gd name="adj" fmla="val 13115"/>
            </a:avLst>
          </a:prstGeom>
          <a:solidFill xmlns:a="http://schemas.openxmlformats.org/drawingml/2006/main">
            <a:srgbClr val="E5F4EF"/>
          </a:solidFill>
          <a:ln xmlns:a="http://schemas.openxmlformats.org/drawingml/2006/main" w="11906">
            <a:solidFill>
              <a:srgbClr val="D6E5E1"/>
            </a:solidFill>
            <a:prstDash val="solid"/>
          </a:ln>
        </p:spPr>
      </p:sp>
      <p:sp>
        <p:nvSpPr>
          <p:cNvPr id="19" name="Risk indicators + AI summary">
            <a:extLst xmlns:a="http://schemas.openxmlformats.org/drawingml/2006/main">
              <a:ext uri="{FF2B5EF4-FFF2-40B4-BE49-F238E27FC236}">
                <a16:creationId xmlns:a16="http://schemas.microsoft.com/office/drawing/2014/main" id="{8EB2F0E9-1171-41BF-850A-8049732A9F28}"/>
              </a:ext>
            </a:extLst>
          </p:cNvPr>
          <p:cNvSpPr>
            <a:spLocks xmlns:a="http://schemas.openxmlformats.org/drawingml/2006/main" noGrp="1"/>
          </p:cNvSpPr>
          <p:nvPr/>
        </p:nvSpPr>
        <p:spPr>
          <a:xfrm xmlns:a="http://schemas.openxmlformats.org/drawingml/2006/main">
            <a:off x="857250" y="508635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73B4A"/>
                </a:solidFill>
                <a:latin typeface="Arial"/>
                <a:ea typeface="Arial"/>
                <a:cs typeface="Arial"/>
              </a:defRPr>
            </a:defPPr>
          </a:lstStyle>
          <a:p xmlns:a="http://schemas.openxmlformats.org/drawingml/2006/main">
            <a:pPr algn="l">
              <a:lnSpc>
                <a:spcPct val="105000"/>
              </a:lnSpc>
              <a:buNone/>
              <a:defRPr sz="1425" b="1">
                <a:solidFill>
                  <a:srgbClr val="173B4A"/>
                </a:solidFill>
                <a:latin typeface="Arial"/>
                <a:ea typeface="Arial"/>
                <a:cs typeface="Arial"/>
              </a:defRPr>
            </a:pPr>
            <a:r>
              <a:rPr sz="1425" b="1">
                <a:solidFill>
                  <a:srgbClr val="173B4A"/>
                </a:solidFill>
                <a:latin typeface="Arial"/>
                <a:ea typeface="Arial"/>
                <a:cs typeface="Arial"/>
              </a:rPr>
              <a:t>Risk indicators + AI summary</a:t>
            </a:r>
          </a:p>
        </p:txBody>
      </p:sp>
      <p:sp>
        <p:nvSpPr>
          <p:cNvPr id="20" name="Interpretable health context">
            <a:extLst xmlns:a="http://schemas.openxmlformats.org/drawingml/2006/main">
              <a:ext uri="{FF2B5EF4-FFF2-40B4-BE49-F238E27FC236}">
                <a16:creationId xmlns:a16="http://schemas.microsoft.com/office/drawing/2014/main" id="{B6FD80EA-1481-4A20-97FE-3A662D8DBC23}"/>
              </a:ext>
            </a:extLst>
          </p:cNvPr>
          <p:cNvSpPr>
            <a:spLocks xmlns:a="http://schemas.openxmlformats.org/drawingml/2006/main" noGrp="1"/>
          </p:cNvSpPr>
          <p:nvPr/>
        </p:nvSpPr>
        <p:spPr>
          <a:xfrm xmlns:a="http://schemas.openxmlformats.org/drawingml/2006/main">
            <a:off x="857250" y="5343525"/>
            <a:ext cx="2819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806"/>
          </a:bodyPr>
          <a:lstStyle xmlns:a="http://schemas.openxmlformats.org/drawingml/2006/main">
            <a:defPPr algn="l">
              <a:defRPr sz="1200" b="0">
                <a:solidFill>
                  <a:srgbClr val="536C74"/>
                </a:solidFill>
                <a:latin typeface="Arial"/>
                <a:ea typeface="Arial"/>
                <a:cs typeface="Arial"/>
              </a:defRPr>
            </a:defPPr>
          </a:lstStyle>
          <a:p xmlns:a="http://schemas.openxmlformats.org/drawingml/2006/main">
            <a:pPr algn="l">
              <a:lnSpc>
                <a:spcPct val="108000"/>
              </a:lnSpc>
              <a:buNone/>
              <a:defRPr sz="1200" b="0">
                <a:solidFill>
                  <a:srgbClr val="536C74"/>
                </a:solidFill>
                <a:latin typeface="Arial"/>
                <a:ea typeface="Arial"/>
                <a:cs typeface="Arial"/>
              </a:defRPr>
            </a:pPr>
            <a:r>
              <a:rPr sz="1200" b="0">
                <a:solidFill>
                  <a:srgbClr val="536C74"/>
                </a:solidFill>
                <a:latin typeface="Arial"/>
                <a:ea typeface="Arial"/>
                <a:cs typeface="Arial"/>
              </a:rPr>
              <a:t>Interpretable health context</a:t>
            </a:r>
          </a:p>
        </p:txBody>
      </p:sp>
      <p:sp>
        <p:nvSpPr>
          <p:cNvPr id="21" name="flow-↓-238-302">
            <a:extLst xmlns:a="http://schemas.openxmlformats.org/drawingml/2006/main">
              <a:ext uri="{FF2B5EF4-FFF2-40B4-BE49-F238E27FC236}">
                <a16:creationId xmlns:a16="http://schemas.microsoft.com/office/drawing/2014/main" id="{FC5FD4C0-0C9C-4C9A-851E-14BEEB62636A}"/>
              </a:ext>
            </a:extLst>
          </p:cNvPr>
          <p:cNvSpPr>
            <a:spLocks xmlns:a="http://schemas.openxmlformats.org/drawingml/2006/main" noGrp="1"/>
          </p:cNvSpPr>
          <p:nvPr/>
        </p:nvSpPr>
        <p:spPr>
          <a:xfrm xmlns:a="http://schemas.openxmlformats.org/drawingml/2006/main">
            <a:off x="2095500" y="2876550"/>
            <a:ext cx="342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3696"/>
          </a:bodyPr>
          <a:lstStyle xmlns:a="http://schemas.openxmlformats.org/drawingml/2006/main">
            <a:defPPr algn="ctr">
              <a:defRPr sz="2100" b="1">
                <a:solidFill>
                  <a:srgbClr val="477A97"/>
                </a:solidFill>
                <a:latin typeface="Arial"/>
                <a:ea typeface="Arial"/>
                <a:cs typeface="Arial"/>
              </a:defRPr>
            </a:defPPr>
          </a:lstStyle>
          <a:p xmlns:a="http://schemas.openxmlformats.org/drawingml/2006/main">
            <a:pPr algn="ctr">
              <a:lnSpc>
                <a:spcPct val="105000"/>
              </a:lnSpc>
              <a:buNone/>
              <a:defRPr sz="2100" b="1">
                <a:solidFill>
                  <a:srgbClr val="477A97"/>
                </a:solidFill>
                <a:latin typeface="Arial"/>
                <a:ea typeface="Arial"/>
                <a:cs typeface="Arial"/>
              </a:defRPr>
            </a:pPr>
            <a:r>
              <a:rPr sz="2100" b="1">
                <a:solidFill>
                  <a:srgbClr val="477A97"/>
                </a:solidFill>
                <a:latin typeface="Arial"/>
                <a:ea typeface="Arial"/>
                <a:cs typeface="Arial"/>
              </a:rPr>
              <a:t>↓</a:t>
            </a:r>
          </a:p>
        </p:txBody>
      </p:sp>
      <p:sp>
        <p:nvSpPr>
          <p:cNvPr id="22" name="flow-↓-238-413">
            <a:extLst xmlns:a="http://schemas.openxmlformats.org/drawingml/2006/main">
              <a:ext uri="{FF2B5EF4-FFF2-40B4-BE49-F238E27FC236}">
                <a16:creationId xmlns:a16="http://schemas.microsoft.com/office/drawing/2014/main" id="{26A639FA-E07C-4D99-A84F-A0B7FF7493F9}"/>
              </a:ext>
            </a:extLst>
          </p:cNvPr>
          <p:cNvSpPr>
            <a:spLocks xmlns:a="http://schemas.openxmlformats.org/drawingml/2006/main" noGrp="1"/>
          </p:cNvSpPr>
          <p:nvPr/>
        </p:nvSpPr>
        <p:spPr>
          <a:xfrm xmlns:a="http://schemas.openxmlformats.org/drawingml/2006/main">
            <a:off x="2095500" y="3933825"/>
            <a:ext cx="342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3696"/>
          </a:bodyPr>
          <a:lstStyle xmlns:a="http://schemas.openxmlformats.org/drawingml/2006/main">
            <a:defPPr algn="ctr">
              <a:defRPr sz="2100" b="1">
                <a:solidFill>
                  <a:srgbClr val="477A97"/>
                </a:solidFill>
                <a:latin typeface="Arial"/>
                <a:ea typeface="Arial"/>
                <a:cs typeface="Arial"/>
              </a:defRPr>
            </a:defPPr>
          </a:lstStyle>
          <a:p xmlns:a="http://schemas.openxmlformats.org/drawingml/2006/main">
            <a:pPr algn="ctr">
              <a:lnSpc>
                <a:spcPct val="105000"/>
              </a:lnSpc>
              <a:buNone/>
              <a:defRPr sz="2100" b="1">
                <a:solidFill>
                  <a:srgbClr val="477A97"/>
                </a:solidFill>
                <a:latin typeface="Arial"/>
                <a:ea typeface="Arial"/>
                <a:cs typeface="Arial"/>
              </a:defRPr>
            </a:pPr>
            <a:r>
              <a:rPr sz="2100" b="1">
                <a:solidFill>
                  <a:srgbClr val="477A97"/>
                </a:solidFill>
                <a:latin typeface="Arial"/>
                <a:ea typeface="Arial"/>
                <a:cs typeface="Arial"/>
              </a:rPr>
              <a:t>↓</a:t>
            </a:r>
          </a:p>
        </p:txBody>
      </p:sp>
      <p:sp>
        <p:nvSpPr>
          <p:cNvPr id="23" name="flow-↓-238-502">
            <a:extLst xmlns:a="http://schemas.openxmlformats.org/drawingml/2006/main">
              <a:ext uri="{FF2B5EF4-FFF2-40B4-BE49-F238E27FC236}">
                <a16:creationId xmlns:a16="http://schemas.microsoft.com/office/drawing/2014/main" id="{82D06CEB-8AF5-41A2-937A-1EC188121D77}"/>
              </a:ext>
            </a:extLst>
          </p:cNvPr>
          <p:cNvSpPr>
            <a:spLocks xmlns:a="http://schemas.openxmlformats.org/drawingml/2006/main" noGrp="1"/>
          </p:cNvSpPr>
          <p:nvPr/>
        </p:nvSpPr>
        <p:spPr>
          <a:xfrm xmlns:a="http://schemas.openxmlformats.org/drawingml/2006/main">
            <a:off x="2095500" y="4781550"/>
            <a:ext cx="342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3696"/>
          </a:bodyPr>
          <a:lstStyle xmlns:a="http://schemas.openxmlformats.org/drawingml/2006/main">
            <a:defPPr algn="ctr">
              <a:defRPr sz="2100" b="1">
                <a:solidFill>
                  <a:srgbClr val="477A97"/>
                </a:solidFill>
                <a:latin typeface="Arial"/>
                <a:ea typeface="Arial"/>
                <a:cs typeface="Arial"/>
              </a:defRPr>
            </a:defPPr>
          </a:lstStyle>
          <a:p xmlns:a="http://schemas.openxmlformats.org/drawingml/2006/main">
            <a:pPr algn="ctr">
              <a:lnSpc>
                <a:spcPct val="105000"/>
              </a:lnSpc>
              <a:buNone/>
              <a:defRPr sz="2100" b="1">
                <a:solidFill>
                  <a:srgbClr val="477A97"/>
                </a:solidFill>
                <a:latin typeface="Arial"/>
                <a:ea typeface="Arial"/>
                <a:cs typeface="Arial"/>
              </a:defRPr>
            </a:pPr>
            <a:r>
              <a:rPr sz="2100" b="1">
                <a:solidFill>
                  <a:srgbClr val="477A97"/>
                </a:solidFill>
                <a:latin typeface="Arial"/>
                <a:ea typeface="Arial"/>
                <a:cs typeface="Arial"/>
              </a:rPr>
              <a:t>↓</a:t>
            </a:r>
          </a:p>
        </p:txBody>
      </p:sp>
      <p:sp>
        <p:nvSpPr>
          <p:cNvPr id="24" name="OPTIONAL RESEARCH IMAGE PATH">
            <a:extLst xmlns:a="http://schemas.openxmlformats.org/drawingml/2006/main">
              <a:ext uri="{FF2B5EF4-FFF2-40B4-BE49-F238E27FC236}">
                <a16:creationId xmlns:a16="http://schemas.microsoft.com/office/drawing/2014/main" id="{8A478A18-312A-4630-A9C7-D4E7654D7B29}"/>
              </a:ext>
            </a:extLst>
          </p:cNvPr>
          <p:cNvSpPr>
            <a:spLocks xmlns:a="http://schemas.openxmlformats.org/drawingml/2006/main" noGrp="1"/>
          </p:cNvSpPr>
          <p:nvPr/>
        </p:nvSpPr>
        <p:spPr>
          <a:xfrm xmlns:a="http://schemas.openxmlformats.org/drawingml/2006/main">
            <a:off x="4324350" y="3076575"/>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756397"/>
                </a:solidFill>
                <a:latin typeface="Arial"/>
                <a:ea typeface="Arial"/>
                <a:cs typeface="Arial"/>
              </a:defRPr>
            </a:defPPr>
          </a:lstStyle>
          <a:p xmlns:a="http://schemas.openxmlformats.org/drawingml/2006/main">
            <a:pPr algn="l">
              <a:lnSpc>
                <a:spcPct val="105000"/>
              </a:lnSpc>
              <a:buNone/>
              <a:defRPr sz="1125" b="1">
                <a:solidFill>
                  <a:srgbClr val="756397"/>
                </a:solidFill>
                <a:latin typeface="Arial"/>
                <a:ea typeface="Arial"/>
                <a:cs typeface="Arial"/>
              </a:defRPr>
            </a:pPr>
            <a:r>
              <a:rPr sz="1125" b="1">
                <a:solidFill>
                  <a:srgbClr val="756397"/>
                </a:solidFill>
                <a:latin typeface="Arial"/>
                <a:ea typeface="Arial"/>
                <a:cs typeface="Arial"/>
              </a:rPr>
              <a:t>OPTIONAL RESEARCH IMAGE PATH</a:t>
            </a:r>
          </a:p>
        </p:txBody>
      </p:sp>
      <p:sp>
        <p:nvSpPr>
          <p:cNvPr id="25" name="Chest X-ray upload">
            <a:extLst xmlns:a="http://schemas.openxmlformats.org/drawingml/2006/main">
              <a:ext uri="{FF2B5EF4-FFF2-40B4-BE49-F238E27FC236}">
                <a16:creationId xmlns:a16="http://schemas.microsoft.com/office/drawing/2014/main" id="{3B35EC5D-38CD-43DF-A901-209E29917632}"/>
              </a:ext>
            </a:extLst>
          </p:cNvPr>
          <p:cNvSpPr>
            <a:spLocks xmlns:a="http://schemas.openxmlformats.org/drawingml/2006/main" noGrp="1"/>
          </p:cNvSpPr>
          <p:nvPr/>
        </p:nvSpPr>
        <p:spPr>
          <a:xfrm xmlns:a="http://schemas.openxmlformats.org/drawingml/2006/main">
            <a:off x="4276725" y="3400425"/>
            <a:ext cx="3333750" cy="542925"/>
          </a:xfrm>
          <a:prstGeom xmlns:a="http://schemas.openxmlformats.org/drawingml/2006/main" prst="roundRect">
            <a:avLst>
              <a:gd name="adj" fmla="val 14035"/>
            </a:avLst>
          </a:prstGeom>
          <a:solidFill xmlns:a="http://schemas.openxmlformats.org/drawingml/2006/main">
            <a:srgbClr val="EEEAF7"/>
          </a:solidFill>
          <a:ln xmlns:a="http://schemas.openxmlformats.org/drawingml/2006/main" w="11906">
            <a:solidFill>
              <a:srgbClr val="DCD3EC"/>
            </a:solidFill>
            <a:prstDash val="solid"/>
          </a:ln>
        </p:spPr>
      </p:sp>
      <p:sp>
        <p:nvSpPr>
          <p:cNvPr id="26" name="Chest X-ray upload">
            <a:extLst xmlns:a="http://schemas.openxmlformats.org/drawingml/2006/main">
              <a:ext uri="{FF2B5EF4-FFF2-40B4-BE49-F238E27FC236}">
                <a16:creationId xmlns:a16="http://schemas.microsoft.com/office/drawing/2014/main" id="{88941F8A-4FA1-45E1-8501-BA13BBC502EC}"/>
              </a:ext>
            </a:extLst>
          </p:cNvPr>
          <p:cNvSpPr>
            <a:spLocks xmlns:a="http://schemas.openxmlformats.org/drawingml/2006/main" noGrp="1"/>
          </p:cNvSpPr>
          <p:nvPr/>
        </p:nvSpPr>
        <p:spPr>
          <a:xfrm xmlns:a="http://schemas.openxmlformats.org/drawingml/2006/main">
            <a:off x="4448175" y="3486150"/>
            <a:ext cx="29908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3B4A"/>
                </a:solidFill>
                <a:latin typeface="Arial"/>
                <a:ea typeface="Arial"/>
                <a:cs typeface="Arial"/>
              </a:defRPr>
            </a:defPPr>
          </a:lstStyle>
          <a:p xmlns:a="http://schemas.openxmlformats.org/drawingml/2006/main">
            <a:pPr algn="l">
              <a:lnSpc>
                <a:spcPct val="105000"/>
              </a:lnSpc>
              <a:buNone/>
              <a:defRPr sz="1500" b="1">
                <a:solidFill>
                  <a:srgbClr val="173B4A"/>
                </a:solidFill>
                <a:latin typeface="Arial"/>
                <a:ea typeface="Arial"/>
                <a:cs typeface="Arial"/>
              </a:defRPr>
            </a:pPr>
            <a:r>
              <a:rPr sz="1500" b="1">
                <a:solidFill>
                  <a:srgbClr val="173B4A"/>
                </a:solidFill>
                <a:latin typeface="Arial"/>
                <a:ea typeface="Arial"/>
                <a:cs typeface="Arial"/>
              </a:rPr>
              <a:t>Chest X-ray upload</a:t>
            </a:r>
          </a:p>
        </p:txBody>
      </p:sp>
      <p:sp>
        <p:nvSpPr>
          <p:cNvPr id="27" name="AI-assisted scan analysis">
            <a:extLst xmlns:a="http://schemas.openxmlformats.org/drawingml/2006/main">
              <a:ext uri="{FF2B5EF4-FFF2-40B4-BE49-F238E27FC236}">
                <a16:creationId xmlns:a16="http://schemas.microsoft.com/office/drawing/2014/main" id="{CC02C449-B534-4088-BBE6-CE8B7D74D872}"/>
              </a:ext>
            </a:extLst>
          </p:cNvPr>
          <p:cNvSpPr>
            <a:spLocks xmlns:a="http://schemas.openxmlformats.org/drawingml/2006/main" noGrp="1"/>
          </p:cNvSpPr>
          <p:nvPr/>
        </p:nvSpPr>
        <p:spPr>
          <a:xfrm xmlns:a="http://schemas.openxmlformats.org/drawingml/2006/main">
            <a:off x="4276725" y="4152900"/>
            <a:ext cx="3333750" cy="638175"/>
          </a:xfrm>
          <a:prstGeom xmlns:a="http://schemas.openxmlformats.org/drawingml/2006/main" prst="roundRect">
            <a:avLst>
              <a:gd name="adj" fmla="val 11940"/>
            </a:avLst>
          </a:prstGeom>
          <a:solidFill xmlns:a="http://schemas.openxmlformats.org/drawingml/2006/main">
            <a:srgbClr val="FFFFFF"/>
          </a:solidFill>
          <a:ln xmlns:a="http://schemas.openxmlformats.org/drawingml/2006/main" w="11906">
            <a:solidFill>
              <a:srgbClr val="DCD3EC"/>
            </a:solidFill>
            <a:prstDash val="solid"/>
          </a:ln>
        </p:spPr>
      </p:sp>
      <p:sp>
        <p:nvSpPr>
          <p:cNvPr id="28" name="AI-assisted scan analysis">
            <a:extLst xmlns:a="http://schemas.openxmlformats.org/drawingml/2006/main">
              <a:ext uri="{FF2B5EF4-FFF2-40B4-BE49-F238E27FC236}">
                <a16:creationId xmlns:a16="http://schemas.microsoft.com/office/drawing/2014/main" id="{290F8B68-6E93-4F52-91EA-82FF449E2F74}"/>
              </a:ext>
            </a:extLst>
          </p:cNvPr>
          <p:cNvSpPr>
            <a:spLocks xmlns:a="http://schemas.openxmlformats.org/drawingml/2006/main" noGrp="1"/>
          </p:cNvSpPr>
          <p:nvPr/>
        </p:nvSpPr>
        <p:spPr>
          <a:xfrm xmlns:a="http://schemas.openxmlformats.org/drawingml/2006/main">
            <a:off x="4448175" y="4238625"/>
            <a:ext cx="2990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73B4A"/>
                </a:solidFill>
                <a:latin typeface="Arial"/>
                <a:ea typeface="Arial"/>
                <a:cs typeface="Arial"/>
              </a:defRPr>
            </a:defPPr>
          </a:lstStyle>
          <a:p xmlns:a="http://schemas.openxmlformats.org/drawingml/2006/main">
            <a:pPr algn="l">
              <a:lnSpc>
                <a:spcPct val="105000"/>
              </a:lnSpc>
              <a:buNone/>
              <a:defRPr sz="1425" b="1">
                <a:solidFill>
                  <a:srgbClr val="173B4A"/>
                </a:solidFill>
                <a:latin typeface="Arial"/>
                <a:ea typeface="Arial"/>
                <a:cs typeface="Arial"/>
              </a:defRPr>
            </a:pPr>
            <a:r>
              <a:rPr sz="1425" b="1">
                <a:solidFill>
                  <a:srgbClr val="173B4A"/>
                </a:solidFill>
                <a:latin typeface="Arial"/>
                <a:ea typeface="Arial"/>
                <a:cs typeface="Arial"/>
              </a:rPr>
              <a:t>AI-assisted scan analysis</a:t>
            </a:r>
          </a:p>
        </p:txBody>
      </p:sp>
      <p:sp>
        <p:nvSpPr>
          <p:cNvPr id="29" name="Research-oriented observatio">
            <a:extLst xmlns:a="http://schemas.openxmlformats.org/drawingml/2006/main">
              <a:ext uri="{FF2B5EF4-FFF2-40B4-BE49-F238E27FC236}">
                <a16:creationId xmlns:a16="http://schemas.microsoft.com/office/drawing/2014/main" id="{AC40C22B-51EA-40F4-A21C-22A77244D77E}"/>
              </a:ext>
            </a:extLst>
          </p:cNvPr>
          <p:cNvSpPr>
            <a:spLocks xmlns:a="http://schemas.openxmlformats.org/drawingml/2006/main" noGrp="1"/>
          </p:cNvSpPr>
          <p:nvPr/>
        </p:nvSpPr>
        <p:spPr>
          <a:xfrm xmlns:a="http://schemas.openxmlformats.org/drawingml/2006/main">
            <a:off x="4448175" y="4514850"/>
            <a:ext cx="2990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C74"/>
                </a:solidFill>
                <a:latin typeface="Arial"/>
                <a:ea typeface="Arial"/>
                <a:cs typeface="Arial"/>
              </a:defRPr>
            </a:defPPr>
          </a:lstStyle>
          <a:p xmlns:a="http://schemas.openxmlformats.org/drawingml/2006/main">
            <a:pPr algn="l">
              <a:lnSpc>
                <a:spcPct val="108000"/>
              </a:lnSpc>
              <a:buNone/>
              <a:defRPr sz="1200" b="0">
                <a:solidFill>
                  <a:srgbClr val="536C74"/>
                </a:solidFill>
                <a:latin typeface="Arial"/>
                <a:ea typeface="Arial"/>
                <a:cs typeface="Arial"/>
              </a:defRPr>
            </a:pPr>
            <a:r>
              <a:rPr sz="1200" b="0">
                <a:solidFill>
                  <a:srgbClr val="536C74"/>
                </a:solidFill>
                <a:latin typeface="Arial"/>
                <a:ea typeface="Arial"/>
                <a:cs typeface="Arial"/>
              </a:rPr>
              <a:t>Research-oriented observations only</a:t>
            </a:r>
          </a:p>
        </p:txBody>
      </p:sp>
      <p:sp>
        <p:nvSpPr>
          <p:cNvPr id="30" name="Separate scan insight">
            <a:extLst xmlns:a="http://schemas.openxmlformats.org/drawingml/2006/main">
              <a:ext uri="{FF2B5EF4-FFF2-40B4-BE49-F238E27FC236}">
                <a16:creationId xmlns:a16="http://schemas.microsoft.com/office/drawing/2014/main" id="{2BCF27DD-0EAA-4B04-8F01-4002180A4478}"/>
              </a:ext>
            </a:extLst>
          </p:cNvPr>
          <p:cNvSpPr>
            <a:spLocks xmlns:a="http://schemas.openxmlformats.org/drawingml/2006/main" noGrp="1"/>
          </p:cNvSpPr>
          <p:nvPr/>
        </p:nvSpPr>
        <p:spPr>
          <a:xfrm xmlns:a="http://schemas.openxmlformats.org/drawingml/2006/main">
            <a:off x="4276725" y="5000625"/>
            <a:ext cx="3333750" cy="581025"/>
          </a:xfrm>
          <a:prstGeom xmlns:a="http://schemas.openxmlformats.org/drawingml/2006/main" prst="roundRect">
            <a:avLst>
              <a:gd name="adj" fmla="val 13115"/>
            </a:avLst>
          </a:prstGeom>
          <a:solidFill xmlns:a="http://schemas.openxmlformats.org/drawingml/2006/main">
            <a:srgbClr val="EEEAF7"/>
          </a:solidFill>
          <a:ln xmlns:a="http://schemas.openxmlformats.org/drawingml/2006/main" w="11906">
            <a:solidFill>
              <a:srgbClr val="DCD3EC"/>
            </a:solidFill>
            <a:prstDash val="solid"/>
          </a:ln>
        </p:spPr>
      </p:sp>
      <p:sp>
        <p:nvSpPr>
          <p:cNvPr id="31" name="Separate scan insight">
            <a:extLst xmlns:a="http://schemas.openxmlformats.org/drawingml/2006/main">
              <a:ext uri="{FF2B5EF4-FFF2-40B4-BE49-F238E27FC236}">
                <a16:creationId xmlns:a16="http://schemas.microsoft.com/office/drawing/2014/main" id="{DEB5D9B2-B9D8-48FA-A983-D21CF4645B8C}"/>
              </a:ext>
            </a:extLst>
          </p:cNvPr>
          <p:cNvSpPr>
            <a:spLocks xmlns:a="http://schemas.openxmlformats.org/drawingml/2006/main" noGrp="1"/>
          </p:cNvSpPr>
          <p:nvPr/>
        </p:nvSpPr>
        <p:spPr>
          <a:xfrm xmlns:a="http://schemas.openxmlformats.org/drawingml/2006/main">
            <a:off x="4448175" y="5086350"/>
            <a:ext cx="2990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73B4A"/>
                </a:solidFill>
                <a:latin typeface="Arial"/>
                <a:ea typeface="Arial"/>
                <a:cs typeface="Arial"/>
              </a:defRPr>
            </a:defPPr>
          </a:lstStyle>
          <a:p xmlns:a="http://schemas.openxmlformats.org/drawingml/2006/main">
            <a:pPr algn="l">
              <a:lnSpc>
                <a:spcPct val="105000"/>
              </a:lnSpc>
              <a:buNone/>
              <a:defRPr sz="1425" b="1">
                <a:solidFill>
                  <a:srgbClr val="173B4A"/>
                </a:solidFill>
                <a:latin typeface="Arial"/>
                <a:ea typeface="Arial"/>
                <a:cs typeface="Arial"/>
              </a:defRPr>
            </a:pPr>
            <a:r>
              <a:rPr sz="1425" b="1">
                <a:solidFill>
                  <a:srgbClr val="173B4A"/>
                </a:solidFill>
                <a:latin typeface="Arial"/>
                <a:ea typeface="Arial"/>
                <a:cs typeface="Arial"/>
              </a:rPr>
              <a:t>Separate scan insight</a:t>
            </a:r>
          </a:p>
        </p:txBody>
      </p:sp>
      <p:sp>
        <p:nvSpPr>
          <p:cNvPr id="32" name="Kept outside the combined he">
            <a:extLst xmlns:a="http://schemas.openxmlformats.org/drawingml/2006/main">
              <a:ext uri="{FF2B5EF4-FFF2-40B4-BE49-F238E27FC236}">
                <a16:creationId xmlns:a16="http://schemas.microsoft.com/office/drawing/2014/main" id="{94FFAB08-02A3-4DE8-A742-60F054CE96F0}"/>
              </a:ext>
            </a:extLst>
          </p:cNvPr>
          <p:cNvSpPr>
            <a:spLocks xmlns:a="http://schemas.openxmlformats.org/drawingml/2006/main" noGrp="1"/>
          </p:cNvSpPr>
          <p:nvPr/>
        </p:nvSpPr>
        <p:spPr>
          <a:xfrm xmlns:a="http://schemas.openxmlformats.org/drawingml/2006/main">
            <a:off x="4448175" y="5343525"/>
            <a:ext cx="2990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806"/>
          </a:bodyPr>
          <a:lstStyle xmlns:a="http://schemas.openxmlformats.org/drawingml/2006/main">
            <a:defPPr algn="l">
              <a:defRPr sz="1200" b="0">
                <a:solidFill>
                  <a:srgbClr val="536C74"/>
                </a:solidFill>
                <a:latin typeface="Arial"/>
                <a:ea typeface="Arial"/>
                <a:cs typeface="Arial"/>
              </a:defRPr>
            </a:defPPr>
          </a:lstStyle>
          <a:p xmlns:a="http://schemas.openxmlformats.org/drawingml/2006/main">
            <a:pPr algn="l">
              <a:lnSpc>
                <a:spcPct val="108000"/>
              </a:lnSpc>
              <a:buNone/>
              <a:defRPr sz="1200" b="0">
                <a:solidFill>
                  <a:srgbClr val="536C74"/>
                </a:solidFill>
                <a:latin typeface="Arial"/>
                <a:ea typeface="Arial"/>
                <a:cs typeface="Arial"/>
              </a:defRPr>
            </a:pPr>
            <a:r>
              <a:rPr sz="1200" b="0">
                <a:solidFill>
                  <a:srgbClr val="536C74"/>
                </a:solidFill>
                <a:latin typeface="Arial"/>
                <a:ea typeface="Arial"/>
                <a:cs typeface="Arial"/>
              </a:rPr>
              <a:t>Kept outside the combined health score</a:t>
            </a:r>
          </a:p>
        </p:txBody>
      </p:sp>
      <p:sp>
        <p:nvSpPr>
          <p:cNvPr id="33" name="flow-↓-624-302">
            <a:extLst xmlns:a="http://schemas.openxmlformats.org/drawingml/2006/main">
              <a:ext uri="{FF2B5EF4-FFF2-40B4-BE49-F238E27FC236}">
                <a16:creationId xmlns:a16="http://schemas.microsoft.com/office/drawing/2014/main" id="{9128BC5B-F932-46A7-9783-FBC6479FA920}"/>
              </a:ext>
            </a:extLst>
          </p:cNvPr>
          <p:cNvSpPr>
            <a:spLocks xmlns:a="http://schemas.openxmlformats.org/drawingml/2006/main" noGrp="1"/>
          </p:cNvSpPr>
          <p:nvPr/>
        </p:nvSpPr>
        <p:spPr>
          <a:xfrm xmlns:a="http://schemas.openxmlformats.org/drawingml/2006/main">
            <a:off x="5772150" y="2876550"/>
            <a:ext cx="342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3696"/>
          </a:bodyPr>
          <a:lstStyle xmlns:a="http://schemas.openxmlformats.org/drawingml/2006/main">
            <a:defPPr algn="ctr">
              <a:defRPr sz="2100" b="1">
                <a:solidFill>
                  <a:srgbClr val="756397"/>
                </a:solidFill>
                <a:latin typeface="Arial"/>
                <a:ea typeface="Arial"/>
                <a:cs typeface="Arial"/>
              </a:defRPr>
            </a:defPPr>
          </a:lstStyle>
          <a:p xmlns:a="http://schemas.openxmlformats.org/drawingml/2006/main">
            <a:pPr algn="ctr">
              <a:lnSpc>
                <a:spcPct val="105000"/>
              </a:lnSpc>
              <a:buNone/>
              <a:defRPr sz="2100" b="1">
                <a:solidFill>
                  <a:srgbClr val="756397"/>
                </a:solidFill>
                <a:latin typeface="Arial"/>
                <a:ea typeface="Arial"/>
                <a:cs typeface="Arial"/>
              </a:defRPr>
            </a:pPr>
            <a:r>
              <a:rPr sz="2100" b="1">
                <a:solidFill>
                  <a:srgbClr val="756397"/>
                </a:solidFill>
                <a:latin typeface="Arial"/>
                <a:ea typeface="Arial"/>
                <a:cs typeface="Arial"/>
              </a:rPr>
              <a:t>↓</a:t>
            </a:r>
          </a:p>
        </p:txBody>
      </p:sp>
      <p:sp>
        <p:nvSpPr>
          <p:cNvPr id="34" name="flow-↓-624-413">
            <a:extLst xmlns:a="http://schemas.openxmlformats.org/drawingml/2006/main">
              <a:ext uri="{FF2B5EF4-FFF2-40B4-BE49-F238E27FC236}">
                <a16:creationId xmlns:a16="http://schemas.microsoft.com/office/drawing/2014/main" id="{F351B009-4332-460A-8E58-52DB3EEA174B}"/>
              </a:ext>
            </a:extLst>
          </p:cNvPr>
          <p:cNvSpPr>
            <a:spLocks xmlns:a="http://schemas.openxmlformats.org/drawingml/2006/main" noGrp="1"/>
          </p:cNvSpPr>
          <p:nvPr/>
        </p:nvSpPr>
        <p:spPr>
          <a:xfrm xmlns:a="http://schemas.openxmlformats.org/drawingml/2006/main">
            <a:off x="5772150" y="3933825"/>
            <a:ext cx="342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3696"/>
          </a:bodyPr>
          <a:lstStyle xmlns:a="http://schemas.openxmlformats.org/drawingml/2006/main">
            <a:defPPr algn="ctr">
              <a:defRPr sz="2100" b="1">
                <a:solidFill>
                  <a:srgbClr val="756397"/>
                </a:solidFill>
                <a:latin typeface="Arial"/>
                <a:ea typeface="Arial"/>
                <a:cs typeface="Arial"/>
              </a:defRPr>
            </a:defPPr>
          </a:lstStyle>
          <a:p xmlns:a="http://schemas.openxmlformats.org/drawingml/2006/main">
            <a:pPr algn="ctr">
              <a:lnSpc>
                <a:spcPct val="105000"/>
              </a:lnSpc>
              <a:buNone/>
              <a:defRPr sz="2100" b="1">
                <a:solidFill>
                  <a:srgbClr val="756397"/>
                </a:solidFill>
                <a:latin typeface="Arial"/>
                <a:ea typeface="Arial"/>
                <a:cs typeface="Arial"/>
              </a:defRPr>
            </a:pPr>
            <a:r>
              <a:rPr sz="2100" b="1">
                <a:solidFill>
                  <a:srgbClr val="756397"/>
                </a:solidFill>
                <a:latin typeface="Arial"/>
                <a:ea typeface="Arial"/>
                <a:cs typeface="Arial"/>
              </a:rPr>
              <a:t>↓</a:t>
            </a:r>
          </a:p>
        </p:txBody>
      </p:sp>
      <p:sp>
        <p:nvSpPr>
          <p:cNvPr id="35" name="flow-↓-624-502">
            <a:extLst xmlns:a="http://schemas.openxmlformats.org/drawingml/2006/main">
              <a:ext uri="{FF2B5EF4-FFF2-40B4-BE49-F238E27FC236}">
                <a16:creationId xmlns:a16="http://schemas.microsoft.com/office/drawing/2014/main" id="{28300800-FEF1-4891-AD05-6B2BDD30D1F0}"/>
              </a:ext>
            </a:extLst>
          </p:cNvPr>
          <p:cNvSpPr>
            <a:spLocks xmlns:a="http://schemas.openxmlformats.org/drawingml/2006/main" noGrp="1"/>
          </p:cNvSpPr>
          <p:nvPr/>
        </p:nvSpPr>
        <p:spPr>
          <a:xfrm xmlns:a="http://schemas.openxmlformats.org/drawingml/2006/main">
            <a:off x="5772150" y="4781550"/>
            <a:ext cx="342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3696"/>
          </a:bodyPr>
          <a:lstStyle xmlns:a="http://schemas.openxmlformats.org/drawingml/2006/main">
            <a:defPPr algn="ctr">
              <a:defRPr sz="2100" b="1">
                <a:solidFill>
                  <a:srgbClr val="756397"/>
                </a:solidFill>
                <a:latin typeface="Arial"/>
                <a:ea typeface="Arial"/>
                <a:cs typeface="Arial"/>
              </a:defRPr>
            </a:defPPr>
          </a:lstStyle>
          <a:p xmlns:a="http://schemas.openxmlformats.org/drawingml/2006/main">
            <a:pPr algn="ctr">
              <a:lnSpc>
                <a:spcPct val="105000"/>
              </a:lnSpc>
              <a:buNone/>
              <a:defRPr sz="2100" b="1">
                <a:solidFill>
                  <a:srgbClr val="756397"/>
                </a:solidFill>
                <a:latin typeface="Arial"/>
                <a:ea typeface="Arial"/>
                <a:cs typeface="Arial"/>
              </a:defRPr>
            </a:pPr>
            <a:r>
              <a:rPr sz="2100" b="1">
                <a:solidFill>
                  <a:srgbClr val="756397"/>
                </a:solidFill>
                <a:latin typeface="Arial"/>
                <a:ea typeface="Arial"/>
                <a:cs typeface="Arial"/>
              </a:rPr>
              <a:t>↓</a:t>
            </a:r>
          </a:p>
        </p:txBody>
      </p:sp>
      <p:sp>
        <p:nvSpPr>
          <p:cNvPr id="36" name="FOOD INTELLIGENCE">
            <a:extLst xmlns:a="http://schemas.openxmlformats.org/drawingml/2006/main">
              <a:ext uri="{FF2B5EF4-FFF2-40B4-BE49-F238E27FC236}">
                <a16:creationId xmlns:a16="http://schemas.microsoft.com/office/drawing/2014/main" id="{AFC60DBD-BEFB-451F-BA9F-7EDDE0383F06}"/>
              </a:ext>
            </a:extLst>
          </p:cNvPr>
          <p:cNvSpPr>
            <a:spLocks xmlns:a="http://schemas.openxmlformats.org/drawingml/2006/main" noGrp="1"/>
          </p:cNvSpPr>
          <p:nvPr/>
        </p:nvSpPr>
        <p:spPr>
          <a:xfrm xmlns:a="http://schemas.openxmlformats.org/drawingml/2006/main">
            <a:off x="8096250" y="3076575"/>
            <a:ext cx="3276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76B65"/>
                </a:solidFill>
                <a:latin typeface="Arial"/>
                <a:ea typeface="Arial"/>
                <a:cs typeface="Arial"/>
              </a:defRPr>
            </a:defPPr>
          </a:lstStyle>
          <a:p xmlns:a="http://schemas.openxmlformats.org/drawingml/2006/main">
            <a:pPr algn="l">
              <a:lnSpc>
                <a:spcPct val="105000"/>
              </a:lnSpc>
              <a:buNone/>
              <a:defRPr sz="1125" b="1">
                <a:solidFill>
                  <a:srgbClr val="176B65"/>
                </a:solidFill>
                <a:latin typeface="Arial"/>
                <a:ea typeface="Arial"/>
                <a:cs typeface="Arial"/>
              </a:defRPr>
            </a:pPr>
            <a:r>
              <a:rPr sz="1125" b="1">
                <a:solidFill>
                  <a:srgbClr val="176B65"/>
                </a:solidFill>
                <a:latin typeface="Arial"/>
                <a:ea typeface="Arial"/>
                <a:cs typeface="Arial"/>
              </a:rPr>
              <a:t>FOOD INTELLIGENCE</a:t>
            </a:r>
          </a:p>
        </p:txBody>
      </p:sp>
      <p:sp>
        <p:nvSpPr>
          <p:cNvPr id="37" name="Food-label image">
            <a:extLst xmlns:a="http://schemas.openxmlformats.org/drawingml/2006/main">
              <a:ext uri="{FF2B5EF4-FFF2-40B4-BE49-F238E27FC236}">
                <a16:creationId xmlns:a16="http://schemas.microsoft.com/office/drawing/2014/main" id="{93DF7C9A-1B2F-4441-934D-FDF104722B90}"/>
              </a:ext>
            </a:extLst>
          </p:cNvPr>
          <p:cNvSpPr>
            <a:spLocks xmlns:a="http://schemas.openxmlformats.org/drawingml/2006/main" noGrp="1"/>
          </p:cNvSpPr>
          <p:nvPr/>
        </p:nvSpPr>
        <p:spPr>
          <a:xfrm xmlns:a="http://schemas.openxmlformats.org/drawingml/2006/main">
            <a:off x="8058150" y="3400425"/>
            <a:ext cx="3429000" cy="542925"/>
          </a:xfrm>
          <a:prstGeom xmlns:a="http://schemas.openxmlformats.org/drawingml/2006/main" prst="roundRect">
            <a:avLst>
              <a:gd name="adj" fmla="val 14035"/>
            </a:avLst>
          </a:prstGeom>
          <a:solidFill xmlns:a="http://schemas.openxmlformats.org/drawingml/2006/main">
            <a:srgbClr val="E5F4EF"/>
          </a:solidFill>
          <a:ln xmlns:a="http://schemas.openxmlformats.org/drawingml/2006/main" w="11906">
            <a:solidFill>
              <a:srgbClr val="D6E5E1"/>
            </a:solidFill>
            <a:prstDash val="solid"/>
          </a:ln>
        </p:spPr>
      </p:sp>
      <p:sp>
        <p:nvSpPr>
          <p:cNvPr id="38" name="Food-label image">
            <a:extLst xmlns:a="http://schemas.openxmlformats.org/drawingml/2006/main">
              <a:ext uri="{FF2B5EF4-FFF2-40B4-BE49-F238E27FC236}">
                <a16:creationId xmlns:a16="http://schemas.microsoft.com/office/drawing/2014/main" id="{48254478-CAE8-40ED-AECC-DD0C3AA3611F}"/>
              </a:ext>
            </a:extLst>
          </p:cNvPr>
          <p:cNvSpPr>
            <a:spLocks xmlns:a="http://schemas.openxmlformats.org/drawingml/2006/main" noGrp="1"/>
          </p:cNvSpPr>
          <p:nvPr/>
        </p:nvSpPr>
        <p:spPr>
          <a:xfrm xmlns:a="http://schemas.openxmlformats.org/drawingml/2006/main">
            <a:off x="8229600" y="3486150"/>
            <a:ext cx="30861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73B4A"/>
                </a:solidFill>
                <a:latin typeface="Arial"/>
                <a:ea typeface="Arial"/>
                <a:cs typeface="Arial"/>
              </a:defRPr>
            </a:defPPr>
          </a:lstStyle>
          <a:p xmlns:a="http://schemas.openxmlformats.org/drawingml/2006/main">
            <a:pPr algn="l">
              <a:lnSpc>
                <a:spcPct val="105000"/>
              </a:lnSpc>
              <a:buNone/>
              <a:defRPr sz="1500" b="1">
                <a:solidFill>
                  <a:srgbClr val="173B4A"/>
                </a:solidFill>
                <a:latin typeface="Arial"/>
                <a:ea typeface="Arial"/>
                <a:cs typeface="Arial"/>
              </a:defRPr>
            </a:pPr>
            <a:r>
              <a:rPr sz="1500" b="1">
                <a:solidFill>
                  <a:srgbClr val="173B4A"/>
                </a:solidFill>
                <a:latin typeface="Arial"/>
                <a:ea typeface="Arial"/>
                <a:cs typeface="Arial"/>
              </a:rPr>
              <a:t>Food-label image</a:t>
            </a:r>
          </a:p>
        </p:txBody>
      </p:sp>
      <p:sp>
        <p:nvSpPr>
          <p:cNvPr id="39" name="Extract nutrition + ingredients">
            <a:extLst xmlns:a="http://schemas.openxmlformats.org/drawingml/2006/main">
              <a:ext uri="{FF2B5EF4-FFF2-40B4-BE49-F238E27FC236}">
                <a16:creationId xmlns:a16="http://schemas.microsoft.com/office/drawing/2014/main" id="{F2B7F58F-1BF8-4BD0-A8CB-7B4E749FA09B}"/>
              </a:ext>
            </a:extLst>
          </p:cNvPr>
          <p:cNvSpPr>
            <a:spLocks xmlns:a="http://schemas.openxmlformats.org/drawingml/2006/main" noGrp="1"/>
          </p:cNvSpPr>
          <p:nvPr/>
        </p:nvSpPr>
        <p:spPr>
          <a:xfrm xmlns:a="http://schemas.openxmlformats.org/drawingml/2006/main">
            <a:off x="8058150" y="4152900"/>
            <a:ext cx="3429000" cy="638175"/>
          </a:xfrm>
          <a:prstGeom xmlns:a="http://schemas.openxmlformats.org/drawingml/2006/main" prst="roundRect">
            <a:avLst>
              <a:gd name="adj" fmla="val 11940"/>
            </a:avLst>
          </a:prstGeom>
          <a:solidFill xmlns:a="http://schemas.openxmlformats.org/drawingml/2006/main">
            <a:srgbClr val="FFFFFF"/>
          </a:solidFill>
          <a:ln xmlns:a="http://schemas.openxmlformats.org/drawingml/2006/main" w="11906">
            <a:solidFill>
              <a:srgbClr val="D6E5E1"/>
            </a:solidFill>
            <a:prstDash val="solid"/>
          </a:ln>
        </p:spPr>
      </p:sp>
      <p:sp>
        <p:nvSpPr>
          <p:cNvPr id="40" name="Extract nutrition + ingredie">
            <a:extLst xmlns:a="http://schemas.openxmlformats.org/drawingml/2006/main">
              <a:ext uri="{FF2B5EF4-FFF2-40B4-BE49-F238E27FC236}">
                <a16:creationId xmlns:a16="http://schemas.microsoft.com/office/drawing/2014/main" id="{AA857731-E918-4B8A-9E09-ACCA13EA7A17}"/>
              </a:ext>
            </a:extLst>
          </p:cNvPr>
          <p:cNvSpPr>
            <a:spLocks xmlns:a="http://schemas.openxmlformats.org/drawingml/2006/main" noGrp="1"/>
          </p:cNvSpPr>
          <p:nvPr/>
        </p:nvSpPr>
        <p:spPr>
          <a:xfrm xmlns:a="http://schemas.openxmlformats.org/drawingml/2006/main">
            <a:off x="8229600" y="4238625"/>
            <a:ext cx="3086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73B4A"/>
                </a:solidFill>
                <a:latin typeface="Arial"/>
                <a:ea typeface="Arial"/>
                <a:cs typeface="Arial"/>
              </a:defRPr>
            </a:defPPr>
          </a:lstStyle>
          <a:p xmlns:a="http://schemas.openxmlformats.org/drawingml/2006/main">
            <a:pPr algn="l">
              <a:lnSpc>
                <a:spcPct val="105000"/>
              </a:lnSpc>
              <a:buNone/>
              <a:defRPr sz="1425" b="1">
                <a:solidFill>
                  <a:srgbClr val="173B4A"/>
                </a:solidFill>
                <a:latin typeface="Arial"/>
                <a:ea typeface="Arial"/>
                <a:cs typeface="Arial"/>
              </a:defRPr>
            </a:pPr>
            <a:r>
              <a:rPr sz="1425" b="1">
                <a:solidFill>
                  <a:srgbClr val="173B4A"/>
                </a:solidFill>
                <a:latin typeface="Arial"/>
                <a:ea typeface="Arial"/>
                <a:cs typeface="Arial"/>
              </a:rPr>
              <a:t>Extract nutrition + ingredients</a:t>
            </a:r>
          </a:p>
        </p:txBody>
      </p:sp>
      <p:sp>
        <p:nvSpPr>
          <p:cNvPr id="41" name="Structured label details">
            <a:extLst xmlns:a="http://schemas.openxmlformats.org/drawingml/2006/main">
              <a:ext uri="{FF2B5EF4-FFF2-40B4-BE49-F238E27FC236}">
                <a16:creationId xmlns:a16="http://schemas.microsoft.com/office/drawing/2014/main" id="{09BE959A-6605-4E0D-9A38-B6F9721B29E1}"/>
              </a:ext>
            </a:extLst>
          </p:cNvPr>
          <p:cNvSpPr>
            <a:spLocks xmlns:a="http://schemas.openxmlformats.org/drawingml/2006/main" noGrp="1"/>
          </p:cNvSpPr>
          <p:nvPr/>
        </p:nvSpPr>
        <p:spPr>
          <a:xfrm xmlns:a="http://schemas.openxmlformats.org/drawingml/2006/main">
            <a:off x="8229600" y="4514850"/>
            <a:ext cx="3086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C74"/>
                </a:solidFill>
                <a:latin typeface="Arial"/>
                <a:ea typeface="Arial"/>
                <a:cs typeface="Arial"/>
              </a:defRPr>
            </a:defPPr>
          </a:lstStyle>
          <a:p xmlns:a="http://schemas.openxmlformats.org/drawingml/2006/main">
            <a:pPr algn="l">
              <a:lnSpc>
                <a:spcPct val="108000"/>
              </a:lnSpc>
              <a:buNone/>
              <a:defRPr sz="1200" b="0">
                <a:solidFill>
                  <a:srgbClr val="536C74"/>
                </a:solidFill>
                <a:latin typeface="Arial"/>
                <a:ea typeface="Arial"/>
                <a:cs typeface="Arial"/>
              </a:defRPr>
            </a:pPr>
            <a:r>
              <a:rPr sz="1200" b="0">
                <a:solidFill>
                  <a:srgbClr val="536C74"/>
                </a:solidFill>
                <a:latin typeface="Arial"/>
                <a:ea typeface="Arial"/>
                <a:cs typeface="Arial"/>
              </a:rPr>
              <a:t>Structured label details</a:t>
            </a:r>
          </a:p>
        </p:txBody>
      </p:sp>
      <p:sp>
        <p:nvSpPr>
          <p:cNvPr id="42" name="Contextual food guidance">
            <a:extLst xmlns:a="http://schemas.openxmlformats.org/drawingml/2006/main">
              <a:ext uri="{FF2B5EF4-FFF2-40B4-BE49-F238E27FC236}">
                <a16:creationId xmlns:a16="http://schemas.microsoft.com/office/drawing/2014/main" id="{07D79F76-76A7-4C93-88A7-592E29FEB4C2}"/>
              </a:ext>
            </a:extLst>
          </p:cNvPr>
          <p:cNvSpPr>
            <a:spLocks xmlns:a="http://schemas.openxmlformats.org/drawingml/2006/main" noGrp="1"/>
          </p:cNvSpPr>
          <p:nvPr/>
        </p:nvSpPr>
        <p:spPr>
          <a:xfrm xmlns:a="http://schemas.openxmlformats.org/drawingml/2006/main">
            <a:off x="8058150" y="5000625"/>
            <a:ext cx="3429000" cy="581025"/>
          </a:xfrm>
          <a:prstGeom xmlns:a="http://schemas.openxmlformats.org/drawingml/2006/main" prst="roundRect">
            <a:avLst>
              <a:gd name="adj" fmla="val 13115"/>
            </a:avLst>
          </a:prstGeom>
          <a:solidFill xmlns:a="http://schemas.openxmlformats.org/drawingml/2006/main">
            <a:srgbClr val="F5EACB"/>
          </a:solidFill>
          <a:ln xmlns:a="http://schemas.openxmlformats.org/drawingml/2006/main" w="11906">
            <a:solidFill>
              <a:srgbClr val="D6E5E1"/>
            </a:solidFill>
            <a:prstDash val="solid"/>
          </a:ln>
        </p:spPr>
      </p:sp>
      <p:sp>
        <p:nvSpPr>
          <p:cNvPr id="43" name="Contextual food guidance">
            <a:extLst xmlns:a="http://schemas.openxmlformats.org/drawingml/2006/main">
              <a:ext uri="{FF2B5EF4-FFF2-40B4-BE49-F238E27FC236}">
                <a16:creationId xmlns:a16="http://schemas.microsoft.com/office/drawing/2014/main" id="{6AAE2442-1775-42FA-A492-C488F8DE1BB4}"/>
              </a:ext>
            </a:extLst>
          </p:cNvPr>
          <p:cNvSpPr>
            <a:spLocks xmlns:a="http://schemas.openxmlformats.org/drawingml/2006/main" noGrp="1"/>
          </p:cNvSpPr>
          <p:nvPr/>
        </p:nvSpPr>
        <p:spPr>
          <a:xfrm xmlns:a="http://schemas.openxmlformats.org/drawingml/2006/main">
            <a:off x="8229600" y="5086350"/>
            <a:ext cx="3086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73B4A"/>
                </a:solidFill>
                <a:latin typeface="Arial"/>
                <a:ea typeface="Arial"/>
                <a:cs typeface="Arial"/>
              </a:defRPr>
            </a:defPPr>
          </a:lstStyle>
          <a:p xmlns:a="http://schemas.openxmlformats.org/drawingml/2006/main">
            <a:pPr algn="l">
              <a:lnSpc>
                <a:spcPct val="105000"/>
              </a:lnSpc>
              <a:buNone/>
              <a:defRPr sz="1425" b="1">
                <a:solidFill>
                  <a:srgbClr val="173B4A"/>
                </a:solidFill>
                <a:latin typeface="Arial"/>
                <a:ea typeface="Arial"/>
                <a:cs typeface="Arial"/>
              </a:defRPr>
            </a:pPr>
            <a:r>
              <a:rPr sz="1425" b="1">
                <a:solidFill>
                  <a:srgbClr val="173B4A"/>
                </a:solidFill>
                <a:latin typeface="Arial"/>
                <a:ea typeface="Arial"/>
                <a:cs typeface="Arial"/>
              </a:rPr>
              <a:t>Contextual food guidance</a:t>
            </a:r>
          </a:p>
        </p:txBody>
      </p:sp>
      <p:sp>
        <p:nvSpPr>
          <p:cNvPr id="44" name="Explain suitability and rele">
            <a:extLst xmlns:a="http://schemas.openxmlformats.org/drawingml/2006/main">
              <a:ext uri="{FF2B5EF4-FFF2-40B4-BE49-F238E27FC236}">
                <a16:creationId xmlns:a16="http://schemas.microsoft.com/office/drawing/2014/main" id="{0C4E972F-084A-451D-9B94-9FDCC38D9DB3}"/>
              </a:ext>
            </a:extLst>
          </p:cNvPr>
          <p:cNvSpPr>
            <a:spLocks xmlns:a="http://schemas.openxmlformats.org/drawingml/2006/main" noGrp="1"/>
          </p:cNvSpPr>
          <p:nvPr/>
        </p:nvSpPr>
        <p:spPr>
          <a:xfrm xmlns:a="http://schemas.openxmlformats.org/drawingml/2006/main">
            <a:off x="8229600" y="5343525"/>
            <a:ext cx="3086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806"/>
          </a:bodyPr>
          <a:lstStyle xmlns:a="http://schemas.openxmlformats.org/drawingml/2006/main">
            <a:defPPr algn="l">
              <a:defRPr sz="1200" b="0">
                <a:solidFill>
                  <a:srgbClr val="536C74"/>
                </a:solidFill>
                <a:latin typeface="Arial"/>
                <a:ea typeface="Arial"/>
                <a:cs typeface="Arial"/>
              </a:defRPr>
            </a:defPPr>
          </a:lstStyle>
          <a:p xmlns:a="http://schemas.openxmlformats.org/drawingml/2006/main">
            <a:pPr algn="l">
              <a:lnSpc>
                <a:spcPct val="108000"/>
              </a:lnSpc>
              <a:buNone/>
              <a:defRPr sz="1200" b="0">
                <a:solidFill>
                  <a:srgbClr val="536C74"/>
                </a:solidFill>
                <a:latin typeface="Arial"/>
                <a:ea typeface="Arial"/>
                <a:cs typeface="Arial"/>
              </a:defRPr>
            </a:pPr>
            <a:r>
              <a:rPr sz="1200" b="0">
                <a:solidFill>
                  <a:srgbClr val="536C74"/>
                </a:solidFill>
                <a:latin typeface="Arial"/>
                <a:ea typeface="Arial"/>
                <a:cs typeface="Arial"/>
              </a:rPr>
              <a:t>Explain suitability and relevant flags</a:t>
            </a:r>
          </a:p>
        </p:txBody>
      </p:sp>
      <p:sp>
        <p:nvSpPr>
          <p:cNvPr id="45" name="flow-↓-1026-302">
            <a:extLst xmlns:a="http://schemas.openxmlformats.org/drawingml/2006/main">
              <a:ext uri="{FF2B5EF4-FFF2-40B4-BE49-F238E27FC236}">
                <a16:creationId xmlns:a16="http://schemas.microsoft.com/office/drawing/2014/main" id="{2C5495DC-1662-4B98-87A0-77CC58E14293}"/>
              </a:ext>
            </a:extLst>
          </p:cNvPr>
          <p:cNvSpPr>
            <a:spLocks xmlns:a="http://schemas.openxmlformats.org/drawingml/2006/main" noGrp="1"/>
          </p:cNvSpPr>
          <p:nvPr/>
        </p:nvSpPr>
        <p:spPr>
          <a:xfrm xmlns:a="http://schemas.openxmlformats.org/drawingml/2006/main">
            <a:off x="9601200" y="2876550"/>
            <a:ext cx="342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3696"/>
          </a:bodyPr>
          <a:lstStyle xmlns:a="http://schemas.openxmlformats.org/drawingml/2006/main">
            <a:defPPr algn="ctr">
              <a:defRPr sz="2100" b="1">
                <a:solidFill>
                  <a:srgbClr val="2C8C83"/>
                </a:solidFill>
                <a:latin typeface="Arial"/>
                <a:ea typeface="Arial"/>
                <a:cs typeface="Arial"/>
              </a:defRPr>
            </a:defPPr>
          </a:lstStyle>
          <a:p xmlns:a="http://schemas.openxmlformats.org/drawingml/2006/main">
            <a:pPr algn="ctr">
              <a:lnSpc>
                <a:spcPct val="105000"/>
              </a:lnSpc>
              <a:buNone/>
              <a:defRPr sz="2100" b="1">
                <a:solidFill>
                  <a:srgbClr val="2C8C83"/>
                </a:solidFill>
                <a:latin typeface="Arial"/>
                <a:ea typeface="Arial"/>
                <a:cs typeface="Arial"/>
              </a:defRPr>
            </a:pPr>
            <a:r>
              <a:rPr sz="2100" b="1">
                <a:solidFill>
                  <a:srgbClr val="2C8C83"/>
                </a:solidFill>
                <a:latin typeface="Arial"/>
                <a:ea typeface="Arial"/>
                <a:cs typeface="Arial"/>
              </a:rPr>
              <a:t>↓</a:t>
            </a:r>
          </a:p>
        </p:txBody>
      </p:sp>
      <p:sp>
        <p:nvSpPr>
          <p:cNvPr id="46" name="flow-↓-1026-413">
            <a:extLst xmlns:a="http://schemas.openxmlformats.org/drawingml/2006/main">
              <a:ext uri="{FF2B5EF4-FFF2-40B4-BE49-F238E27FC236}">
                <a16:creationId xmlns:a16="http://schemas.microsoft.com/office/drawing/2014/main" id="{F8CC69AA-1C96-4BD5-BB22-5F4AE812BC6D}"/>
              </a:ext>
            </a:extLst>
          </p:cNvPr>
          <p:cNvSpPr>
            <a:spLocks xmlns:a="http://schemas.openxmlformats.org/drawingml/2006/main" noGrp="1"/>
          </p:cNvSpPr>
          <p:nvPr/>
        </p:nvSpPr>
        <p:spPr>
          <a:xfrm xmlns:a="http://schemas.openxmlformats.org/drawingml/2006/main">
            <a:off x="9601200" y="3933825"/>
            <a:ext cx="342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3696"/>
          </a:bodyPr>
          <a:lstStyle xmlns:a="http://schemas.openxmlformats.org/drawingml/2006/main">
            <a:defPPr algn="ctr">
              <a:defRPr sz="2100" b="1">
                <a:solidFill>
                  <a:srgbClr val="2C8C83"/>
                </a:solidFill>
                <a:latin typeface="Arial"/>
                <a:ea typeface="Arial"/>
                <a:cs typeface="Arial"/>
              </a:defRPr>
            </a:defPPr>
          </a:lstStyle>
          <a:p xmlns:a="http://schemas.openxmlformats.org/drawingml/2006/main">
            <a:pPr algn="ctr">
              <a:lnSpc>
                <a:spcPct val="105000"/>
              </a:lnSpc>
              <a:buNone/>
              <a:defRPr sz="2100" b="1">
                <a:solidFill>
                  <a:srgbClr val="2C8C83"/>
                </a:solidFill>
                <a:latin typeface="Arial"/>
                <a:ea typeface="Arial"/>
                <a:cs typeface="Arial"/>
              </a:defRPr>
            </a:pPr>
            <a:r>
              <a:rPr sz="2100" b="1">
                <a:solidFill>
                  <a:srgbClr val="2C8C83"/>
                </a:solidFill>
                <a:latin typeface="Arial"/>
                <a:ea typeface="Arial"/>
                <a:cs typeface="Arial"/>
              </a:rPr>
              <a:t>↓</a:t>
            </a:r>
          </a:p>
        </p:txBody>
      </p:sp>
      <p:sp>
        <p:nvSpPr>
          <p:cNvPr id="47" name="flow-↓-1026-502">
            <a:extLst xmlns:a="http://schemas.openxmlformats.org/drawingml/2006/main">
              <a:ext uri="{FF2B5EF4-FFF2-40B4-BE49-F238E27FC236}">
                <a16:creationId xmlns:a16="http://schemas.microsoft.com/office/drawing/2014/main" id="{AA7D9EFC-2FFC-43DA-A28F-9B8A27B1B02B}"/>
              </a:ext>
            </a:extLst>
          </p:cNvPr>
          <p:cNvSpPr>
            <a:spLocks xmlns:a="http://schemas.openxmlformats.org/drawingml/2006/main" noGrp="1"/>
          </p:cNvSpPr>
          <p:nvPr/>
        </p:nvSpPr>
        <p:spPr>
          <a:xfrm xmlns:a="http://schemas.openxmlformats.org/drawingml/2006/main">
            <a:off x="9601200" y="4781550"/>
            <a:ext cx="342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3696"/>
          </a:bodyPr>
          <a:lstStyle xmlns:a="http://schemas.openxmlformats.org/drawingml/2006/main">
            <a:defPPr algn="ctr">
              <a:defRPr sz="2100" b="1">
                <a:solidFill>
                  <a:srgbClr val="2C8C83"/>
                </a:solidFill>
                <a:latin typeface="Arial"/>
                <a:ea typeface="Arial"/>
                <a:cs typeface="Arial"/>
              </a:defRPr>
            </a:defPPr>
          </a:lstStyle>
          <a:p xmlns:a="http://schemas.openxmlformats.org/drawingml/2006/main">
            <a:pPr algn="ctr">
              <a:lnSpc>
                <a:spcPct val="105000"/>
              </a:lnSpc>
              <a:buNone/>
              <a:defRPr sz="2100" b="1">
                <a:solidFill>
                  <a:srgbClr val="2C8C83"/>
                </a:solidFill>
                <a:latin typeface="Arial"/>
                <a:ea typeface="Arial"/>
                <a:cs typeface="Arial"/>
              </a:defRPr>
            </a:pPr>
            <a:r>
              <a:rPr sz="2100" b="1">
                <a:solidFill>
                  <a:srgbClr val="2C8C83"/>
                </a:solidFill>
                <a:latin typeface="Arial"/>
                <a:ea typeface="Arial"/>
                <a:cs typeface="Arial"/>
              </a:rPr>
              <a:t>↓</a:t>
            </a:r>
          </a:p>
        </p:txBody>
      </p:sp>
      <p:sp>
        <p:nvSpPr>
          <p:cNvPr id="48" name="flow-↓-238-587">
            <a:extLst xmlns:a="http://schemas.openxmlformats.org/drawingml/2006/main">
              <a:ext uri="{FF2B5EF4-FFF2-40B4-BE49-F238E27FC236}">
                <a16:creationId xmlns:a16="http://schemas.microsoft.com/office/drawing/2014/main" id="{0633292C-CE62-442C-94F8-FB7596893780}"/>
              </a:ext>
            </a:extLst>
          </p:cNvPr>
          <p:cNvSpPr>
            <a:spLocks xmlns:a="http://schemas.openxmlformats.org/drawingml/2006/main" noGrp="1"/>
          </p:cNvSpPr>
          <p:nvPr/>
        </p:nvSpPr>
        <p:spPr>
          <a:xfrm xmlns:a="http://schemas.openxmlformats.org/drawingml/2006/main">
            <a:off x="2095500" y="5591175"/>
            <a:ext cx="342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3696"/>
          </a:bodyPr>
          <a:lstStyle xmlns:a="http://schemas.openxmlformats.org/drawingml/2006/main">
            <a:defPPr algn="ctr">
              <a:defRPr sz="2100" b="1">
                <a:solidFill>
                  <a:srgbClr val="477A97"/>
                </a:solidFill>
                <a:latin typeface="Arial"/>
                <a:ea typeface="Arial"/>
                <a:cs typeface="Arial"/>
              </a:defRPr>
            </a:defPPr>
          </a:lstStyle>
          <a:p xmlns:a="http://schemas.openxmlformats.org/drawingml/2006/main">
            <a:pPr algn="ctr">
              <a:lnSpc>
                <a:spcPct val="105000"/>
              </a:lnSpc>
              <a:buNone/>
              <a:defRPr sz="2100" b="1">
                <a:solidFill>
                  <a:srgbClr val="477A97"/>
                </a:solidFill>
                <a:latin typeface="Arial"/>
                <a:ea typeface="Arial"/>
                <a:cs typeface="Arial"/>
              </a:defRPr>
            </a:pPr>
            <a:r>
              <a:rPr sz="2100" b="1">
                <a:solidFill>
                  <a:srgbClr val="477A97"/>
                </a:solidFill>
                <a:latin typeface="Arial"/>
                <a:ea typeface="Arial"/>
                <a:cs typeface="Arial"/>
              </a:rPr>
              <a:t>↓</a:t>
            </a:r>
          </a:p>
        </p:txBody>
      </p:sp>
      <p:sp>
        <p:nvSpPr>
          <p:cNvPr id="49" name="flow-↓-624-587">
            <a:extLst xmlns:a="http://schemas.openxmlformats.org/drawingml/2006/main">
              <a:ext uri="{FF2B5EF4-FFF2-40B4-BE49-F238E27FC236}">
                <a16:creationId xmlns:a16="http://schemas.microsoft.com/office/drawing/2014/main" id="{9259611E-F37B-46A6-8EB4-F95FBAED45DF}"/>
              </a:ext>
            </a:extLst>
          </p:cNvPr>
          <p:cNvSpPr>
            <a:spLocks xmlns:a="http://schemas.openxmlformats.org/drawingml/2006/main" noGrp="1"/>
          </p:cNvSpPr>
          <p:nvPr/>
        </p:nvSpPr>
        <p:spPr>
          <a:xfrm xmlns:a="http://schemas.openxmlformats.org/drawingml/2006/main">
            <a:off x="5772150" y="5591175"/>
            <a:ext cx="342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3696"/>
          </a:bodyPr>
          <a:lstStyle xmlns:a="http://schemas.openxmlformats.org/drawingml/2006/main">
            <a:defPPr algn="ctr">
              <a:defRPr sz="2100" b="1">
                <a:solidFill>
                  <a:srgbClr val="756397"/>
                </a:solidFill>
                <a:latin typeface="Arial"/>
                <a:ea typeface="Arial"/>
                <a:cs typeface="Arial"/>
              </a:defRPr>
            </a:defPPr>
          </a:lstStyle>
          <a:p xmlns:a="http://schemas.openxmlformats.org/drawingml/2006/main">
            <a:pPr algn="ctr">
              <a:lnSpc>
                <a:spcPct val="105000"/>
              </a:lnSpc>
              <a:buNone/>
              <a:defRPr sz="2100" b="1">
                <a:solidFill>
                  <a:srgbClr val="756397"/>
                </a:solidFill>
                <a:latin typeface="Arial"/>
                <a:ea typeface="Arial"/>
                <a:cs typeface="Arial"/>
              </a:defRPr>
            </a:pPr>
            <a:r>
              <a:rPr sz="2100" b="1">
                <a:solidFill>
                  <a:srgbClr val="756397"/>
                </a:solidFill>
                <a:latin typeface="Arial"/>
                <a:ea typeface="Arial"/>
                <a:cs typeface="Arial"/>
              </a:rPr>
              <a:t>↓</a:t>
            </a:r>
          </a:p>
        </p:txBody>
      </p:sp>
      <p:sp>
        <p:nvSpPr>
          <p:cNvPr id="50" name="flow-↓-1026-587">
            <a:extLst xmlns:a="http://schemas.openxmlformats.org/drawingml/2006/main">
              <a:ext uri="{FF2B5EF4-FFF2-40B4-BE49-F238E27FC236}">
                <a16:creationId xmlns:a16="http://schemas.microsoft.com/office/drawing/2014/main" id="{76F0868B-D206-41B3-B5B3-FE7961EAB481}"/>
              </a:ext>
            </a:extLst>
          </p:cNvPr>
          <p:cNvSpPr>
            <a:spLocks xmlns:a="http://schemas.openxmlformats.org/drawingml/2006/main" noGrp="1"/>
          </p:cNvSpPr>
          <p:nvPr/>
        </p:nvSpPr>
        <p:spPr>
          <a:xfrm xmlns:a="http://schemas.openxmlformats.org/drawingml/2006/main">
            <a:off x="9601200" y="5591175"/>
            <a:ext cx="342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3696"/>
          </a:bodyPr>
          <a:lstStyle xmlns:a="http://schemas.openxmlformats.org/drawingml/2006/main">
            <a:defPPr algn="ctr">
              <a:defRPr sz="2100" b="1">
                <a:solidFill>
                  <a:srgbClr val="2C8C83"/>
                </a:solidFill>
                <a:latin typeface="Arial"/>
                <a:ea typeface="Arial"/>
                <a:cs typeface="Arial"/>
              </a:defRPr>
            </a:defPPr>
          </a:lstStyle>
          <a:p xmlns:a="http://schemas.openxmlformats.org/drawingml/2006/main">
            <a:pPr algn="ctr">
              <a:lnSpc>
                <a:spcPct val="105000"/>
              </a:lnSpc>
              <a:buNone/>
              <a:defRPr sz="2100" b="1">
                <a:solidFill>
                  <a:srgbClr val="2C8C83"/>
                </a:solidFill>
                <a:latin typeface="Arial"/>
                <a:ea typeface="Arial"/>
                <a:cs typeface="Arial"/>
              </a:defRPr>
            </a:pPr>
            <a:r>
              <a:rPr sz="2100" b="1">
                <a:solidFill>
                  <a:srgbClr val="2C8C83"/>
                </a:solidFill>
                <a:latin typeface="Arial"/>
                <a:ea typeface="Arial"/>
                <a:cs typeface="Arial"/>
              </a:rPr>
              <a:t>↓</a:t>
            </a:r>
          </a:p>
        </p:txBody>
      </p:sp>
      <p:sp>
        <p:nvSpPr>
          <p:cNvPr id="51" name="assessment-output">
            <a:extLst xmlns:a="http://schemas.openxmlformats.org/drawingml/2006/main">
              <a:ext uri="{FF2B5EF4-FFF2-40B4-BE49-F238E27FC236}">
                <a16:creationId xmlns:a16="http://schemas.microsoft.com/office/drawing/2014/main" id="{E87FFF39-398F-4C0D-9759-A5E7AECA46C2}"/>
              </a:ext>
            </a:extLst>
          </p:cNvPr>
          <p:cNvSpPr>
            <a:spLocks xmlns:a="http://schemas.openxmlformats.org/drawingml/2006/main" noGrp="1"/>
          </p:cNvSpPr>
          <p:nvPr/>
        </p:nvSpPr>
        <p:spPr>
          <a:xfrm xmlns:a="http://schemas.openxmlformats.org/drawingml/2006/main">
            <a:off x="647700" y="5867400"/>
            <a:ext cx="10858500" cy="409575"/>
          </a:xfrm>
          <a:prstGeom xmlns:a="http://schemas.openxmlformats.org/drawingml/2006/main" prst="roundRect">
            <a:avLst>
              <a:gd name="adj" fmla="val 18605"/>
            </a:avLst>
          </a:prstGeom>
          <a:solidFill xmlns:a="http://schemas.openxmlformats.org/drawingml/2006/main">
            <a:srgbClr val="FFFFFF"/>
          </a:solidFill>
          <a:ln xmlns:a="http://schemas.openxmlformats.org/drawingml/2006/main" w="11430">
            <a:solidFill>
              <a:srgbClr val="D6E5E1"/>
            </a:solidFill>
            <a:prstDash val="solid"/>
          </a:ln>
        </p:spPr>
      </p:sp>
      <p:sp>
        <p:nvSpPr>
          <p:cNvPr id="52" name="PERSONALIZED ASSESSMENT OUTP">
            <a:extLst xmlns:a="http://schemas.openxmlformats.org/drawingml/2006/main">
              <a:ext uri="{FF2B5EF4-FFF2-40B4-BE49-F238E27FC236}">
                <a16:creationId xmlns:a16="http://schemas.microsoft.com/office/drawing/2014/main" id="{6238AAC0-5A19-453D-BE32-B993F5507D22}"/>
              </a:ext>
            </a:extLst>
          </p:cNvPr>
          <p:cNvSpPr>
            <a:spLocks xmlns:a="http://schemas.openxmlformats.org/drawingml/2006/main" noGrp="1"/>
          </p:cNvSpPr>
          <p:nvPr/>
        </p:nvSpPr>
        <p:spPr>
          <a:xfrm xmlns:a="http://schemas.openxmlformats.org/drawingml/2006/main">
            <a:off x="800100" y="5972175"/>
            <a:ext cx="10553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002"/>
          </a:bodyPr>
          <a:lstStyle xmlns:a="http://schemas.openxmlformats.org/drawingml/2006/main">
            <a:defPPr algn="ctr">
              <a:defRPr sz="1350" b="1">
                <a:solidFill>
                  <a:srgbClr val="176B65"/>
                </a:solidFill>
                <a:latin typeface="Arial"/>
                <a:ea typeface="Arial"/>
                <a:cs typeface="Arial"/>
              </a:defRPr>
            </a:defPPr>
          </a:lstStyle>
          <a:p xmlns:a="http://schemas.openxmlformats.org/drawingml/2006/main">
            <a:pPr algn="ctr">
              <a:lnSpc>
                <a:spcPct val="105000"/>
              </a:lnSpc>
              <a:buNone/>
              <a:defRPr sz="1350" b="1">
                <a:solidFill>
                  <a:srgbClr val="176B65"/>
                </a:solidFill>
                <a:latin typeface="Arial"/>
                <a:ea typeface="Arial"/>
                <a:cs typeface="Arial"/>
              </a:defRPr>
            </a:pPr>
            <a:r>
              <a:rPr sz="1350" b="1">
                <a:solidFill>
                  <a:srgbClr val="176B65"/>
                </a:solidFill>
                <a:latin typeface="Arial"/>
                <a:ea typeface="Arial"/>
                <a:cs typeface="Arial"/>
              </a:rPr>
              <a:t>PERSONALIZED ASSESSMENT OUTPUT   /   Health summary  ·  scan insight  ·  food guidance</a:t>
            </a:r>
          </a:p>
        </p:txBody>
      </p:sp>
    </p:spTree>
    <p:extLst>
      <p:ext uri="{BB962C8B-B14F-4D97-AF65-F5344CB8AC3E}">
        <p14:creationId xmlns:p14="http://schemas.microsoft.com/office/powerpoint/2010/main" val="463567221"/>
      </p:ext>
    </p:extLst>
  </p:cSld>
</p:sld>
</file>

<file path=ppt/slides/slide4.xml><?xml version="1.0" encoding="utf-8"?>
<p:sld xmlns:p="http://schemas.openxmlformats.org/presentationml/2006/main">
  <p:cSld>
    <p:bg>
      <p:bgPr>
        <a:gradFill xmlns:a="http://schemas.openxmlformats.org/drawingml/2006/main">
          <a:gsLst>
            <a:gs pos="0">
              <a:srgbClr val="F3FAF7"/>
            </a:gs>
            <a:gs pos="100000">
              <a:srgbClr val="FBFCFC"/>
            </a:gs>
          </a:gsLst>
          <a:lin ang="0"/>
        </a:gradFill>
      </p:bgPr>
    </p:bg>
    <p:spTree>
      <p:nvGrpSpPr>
        <p:cNvPr id="1" name=""/>
        <p:cNvGrpSpPr/>
        <p:nvPr/>
      </p:nvGrpSpPr>
      <p:grpSpPr>
        <a:xfrm xmlns:a="http://schemas.openxmlformats.org/drawingml/2006/main"/>
      </p:grpSpPr>
      <p:sp>
        <p:nvSpPr>
          <p:cNvPr id="36" name="VITALIS  /  HEALTH TECH">
            <a:extLst xmlns:a="http://schemas.openxmlformats.org/drawingml/2006/main">
              <a:ext uri="{FF2B5EF4-FFF2-40B4-BE49-F238E27FC236}">
                <a16:creationId xmlns:a16="http://schemas.microsoft.com/office/drawing/2014/main" id="{58F07287-9B66-4A5D-978D-EEA4887215E4}"/>
              </a:ext>
            </a:extLst>
          </p:cNvPr>
          <p:cNvSpPr>
            <a:spLocks xmlns:a="http://schemas.openxmlformats.org/drawingml/2006/main" noGrp="1"/>
          </p:cNvSpPr>
          <p:nvPr/>
        </p:nvSpPr>
        <p:spPr>
          <a:xfrm xmlns:a="http://schemas.openxmlformats.org/drawingml/2006/main">
            <a:off x="628650" y="28575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76B65"/>
                </a:solidFill>
                <a:latin typeface="Arial"/>
                <a:ea typeface="Arial"/>
                <a:cs typeface="Arial"/>
              </a:defRPr>
            </a:defPPr>
          </a:lstStyle>
          <a:p xmlns:a="http://schemas.openxmlformats.org/drawingml/2006/main">
            <a:pPr algn="l">
              <a:lnSpc>
                <a:spcPct val="105000"/>
              </a:lnSpc>
              <a:buNone/>
              <a:defRPr sz="1125" b="1">
                <a:solidFill>
                  <a:srgbClr val="176B65"/>
                </a:solidFill>
                <a:latin typeface="Arial"/>
                <a:ea typeface="Arial"/>
                <a:cs typeface="Arial"/>
              </a:defRPr>
            </a:pPr>
            <a:r>
              <a:rPr sz="1125" b="1">
                <a:solidFill>
                  <a:srgbClr val="176B65"/>
                </a:solidFill>
                <a:latin typeface="Arial"/>
                <a:ea typeface="Arial"/>
                <a:cs typeface="Arial"/>
              </a:rPr>
              <a:t>VITALIS  /  HEALTH TECH</a:t>
            </a:r>
          </a:p>
        </p:txBody>
      </p:sp>
      <p:sp>
        <p:nvSpPr>
          <p:cNvPr id="2" name="Technical approach">
            <a:extLst xmlns:a="http://schemas.openxmlformats.org/drawingml/2006/main">
              <a:ext uri="{FF2B5EF4-FFF2-40B4-BE49-F238E27FC236}">
                <a16:creationId xmlns:a16="http://schemas.microsoft.com/office/drawing/2014/main" id="{B1942EE2-BDD5-4DCD-9F9D-232B9AEB46A5}"/>
              </a:ext>
            </a:extLst>
          </p:cNvPr>
          <p:cNvSpPr>
            <a:spLocks xmlns:a="http://schemas.openxmlformats.org/drawingml/2006/main" noGrp="1"/>
          </p:cNvSpPr>
          <p:nvPr/>
        </p:nvSpPr>
        <p:spPr>
          <a:xfrm xmlns:a="http://schemas.openxmlformats.org/drawingml/2006/main">
            <a:off x="628650" y="571500"/>
            <a:ext cx="1085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000" b="1">
                <a:solidFill>
                  <a:srgbClr val="173B4A"/>
                </a:solidFill>
                <a:latin typeface="Arial"/>
                <a:ea typeface="Arial"/>
                <a:cs typeface="Arial"/>
              </a:defRPr>
            </a:defPPr>
          </a:lstStyle>
          <a:p xmlns:a="http://schemas.openxmlformats.org/drawingml/2006/main">
            <a:pPr algn="l">
              <a:lnSpc>
                <a:spcPct val="105000"/>
              </a:lnSpc>
              <a:buNone/>
              <a:defRPr sz="3000" b="1">
                <a:solidFill>
                  <a:srgbClr val="173B4A"/>
                </a:solidFill>
                <a:latin typeface="Arial"/>
                <a:ea typeface="Arial"/>
                <a:cs typeface="Arial"/>
              </a:defRPr>
            </a:pPr>
            <a:r>
              <a:rPr sz="3000" b="1">
                <a:solidFill>
                  <a:srgbClr val="173B4A"/>
                </a:solidFill>
                <a:latin typeface="Arial"/>
                <a:ea typeface="Arial"/>
                <a:cs typeface="Arial"/>
              </a:rPr>
              <a:t>Technical approach</a:t>
            </a:r>
          </a:p>
        </p:txBody>
      </p:sp>
      <p:sp>
        <p:nvSpPr>
          <p:cNvPr id="3" name="Proposed modular architectur">
            <a:extLst xmlns:a="http://schemas.openxmlformats.org/drawingml/2006/main">
              <a:ext uri="{FF2B5EF4-FFF2-40B4-BE49-F238E27FC236}">
                <a16:creationId xmlns:a16="http://schemas.microsoft.com/office/drawing/2014/main" id="{8AB82B57-A664-492D-BBF1-904989FE4B7D}"/>
              </a:ext>
            </a:extLst>
          </p:cNvPr>
          <p:cNvSpPr>
            <a:spLocks xmlns:a="http://schemas.openxmlformats.org/drawingml/2006/main" noGrp="1"/>
          </p:cNvSpPr>
          <p:nvPr/>
        </p:nvSpPr>
        <p:spPr>
          <a:xfrm xmlns:a="http://schemas.openxmlformats.org/drawingml/2006/main">
            <a:off x="647700" y="1095375"/>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36C74"/>
                </a:solidFill>
                <a:latin typeface="Arial"/>
                <a:ea typeface="Arial"/>
                <a:cs typeface="Arial"/>
              </a:defRPr>
            </a:defPPr>
          </a:lstStyle>
          <a:p xmlns:a="http://schemas.openxmlformats.org/drawingml/2006/main">
            <a:pPr algn="l">
              <a:lnSpc>
                <a:spcPct val="105000"/>
              </a:lnSpc>
              <a:buNone/>
              <a:defRPr sz="1575" b="0">
                <a:solidFill>
                  <a:srgbClr val="536C74"/>
                </a:solidFill>
                <a:latin typeface="Arial"/>
                <a:ea typeface="Arial"/>
                <a:cs typeface="Arial"/>
              </a:defRPr>
            </a:pPr>
            <a:r>
              <a:rPr sz="1575" b="0">
                <a:solidFill>
                  <a:srgbClr val="536C74"/>
                </a:solidFill>
                <a:latin typeface="Arial"/>
                <a:ea typeface="Arial"/>
                <a:cs typeface="Arial"/>
              </a:rPr>
              <a:t>Proposed modular architecture  /  implementation choices from the project discussion</a:t>
            </a:r>
          </a:p>
        </p:txBody>
      </p:sp>
      <p:sp>
        <p:nvSpPr>
          <p:cNvPr id="4" name="">
            <a:extLst xmlns:a="http://schemas.openxmlformats.org/drawingml/2006/main">
              <a:ext uri="{FF2B5EF4-FFF2-40B4-BE49-F238E27FC236}">
                <a16:creationId xmlns:a16="http://schemas.microsoft.com/office/drawing/2014/main" id="{131DA53F-12EE-47E1-A060-3F7CD6829C5D}"/>
              </a:ext>
            </a:extLst>
          </p:cNvPr>
          <p:cNvSpPr>
            <a:spLocks xmlns:a="http://schemas.openxmlformats.org/drawingml/2006/main" noGrp="1"/>
          </p:cNvSpPr>
          <p:nvPr/>
        </p:nvSpPr>
        <p:spPr>
          <a:xfrm xmlns:a="http://schemas.openxmlformats.org/drawingml/2006/main">
            <a:off x="628650" y="6400800"/>
            <a:ext cx="10934700" cy="9525"/>
          </a:xfrm>
          <a:prstGeom xmlns:a="http://schemas.openxmlformats.org/drawingml/2006/main" prst="rect">
            <a:avLst/>
          </a:prstGeom>
          <a:solidFill xmlns:a="http://schemas.openxmlformats.org/drawingml/2006/main">
            <a:srgbClr val="D6E5E1"/>
          </a:solidFill>
          <a:ln xmlns:a="http://schemas.openxmlformats.org/drawingml/2006/main" w="0">
            <a:noFill/>
            <a:prstDash val="solid"/>
          </a:ln>
        </p:spPr>
      </p:sp>
      <p:sp>
        <p:nvSpPr>
          <p:cNvPr id="5" name="VITALIS  |  HACK X 2026">
            <a:extLst xmlns:a="http://schemas.openxmlformats.org/drawingml/2006/main">
              <a:ext uri="{FF2B5EF4-FFF2-40B4-BE49-F238E27FC236}">
                <a16:creationId xmlns:a16="http://schemas.microsoft.com/office/drawing/2014/main" id="{308FB0F6-343A-4D2F-976D-9232D5AA2DE0}"/>
              </a:ext>
            </a:extLst>
          </p:cNvPr>
          <p:cNvSpPr>
            <a:spLocks xmlns:a="http://schemas.openxmlformats.org/drawingml/2006/main" noGrp="1"/>
          </p:cNvSpPr>
          <p:nvPr/>
        </p:nvSpPr>
        <p:spPr>
          <a:xfrm xmlns:a="http://schemas.openxmlformats.org/drawingml/2006/main">
            <a:off x="647700" y="64770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36C74"/>
                </a:solidFill>
                <a:latin typeface="Arial"/>
                <a:ea typeface="Arial"/>
                <a:cs typeface="Arial"/>
              </a:defRPr>
            </a:defPPr>
          </a:lstStyle>
          <a:p xmlns:a="http://schemas.openxmlformats.org/drawingml/2006/main">
            <a:pPr algn="l">
              <a:lnSpc>
                <a:spcPct val="105000"/>
              </a:lnSpc>
              <a:buNone/>
              <a:defRPr sz="975" b="1">
                <a:solidFill>
                  <a:srgbClr val="536C74"/>
                </a:solidFill>
                <a:latin typeface="Arial"/>
                <a:ea typeface="Arial"/>
                <a:cs typeface="Arial"/>
              </a:defRPr>
            </a:pPr>
            <a:r>
              <a:rPr sz="975" b="1">
                <a:solidFill>
                  <a:srgbClr val="536C74"/>
                </a:solidFill>
                <a:latin typeface="Arial"/>
                <a:ea typeface="Arial"/>
                <a:cs typeface="Arial"/>
              </a:rPr>
              <a:t>VITALIS  |  HACK X 2026</a:t>
            </a:r>
          </a:p>
        </p:txBody>
      </p:sp>
      <p:sp>
        <p:nvSpPr>
          <p:cNvPr id="6" name="04  /  06">
            <a:extLst xmlns:a="http://schemas.openxmlformats.org/drawingml/2006/main">
              <a:ext uri="{FF2B5EF4-FFF2-40B4-BE49-F238E27FC236}">
                <a16:creationId xmlns:a16="http://schemas.microsoft.com/office/drawing/2014/main" id="{A8BEED7C-260F-4C21-94E0-57F245EDB2A3}"/>
              </a:ext>
            </a:extLst>
          </p:cNvPr>
          <p:cNvSpPr>
            <a:spLocks xmlns:a="http://schemas.openxmlformats.org/drawingml/2006/main" noGrp="1"/>
          </p:cNvSpPr>
          <p:nvPr/>
        </p:nvSpPr>
        <p:spPr>
          <a:xfrm xmlns:a="http://schemas.openxmlformats.org/drawingml/2006/main">
            <a:off x="10687050" y="647700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C74"/>
                </a:solidFill>
                <a:latin typeface="Arial"/>
                <a:ea typeface="Arial"/>
                <a:cs typeface="Arial"/>
              </a:defRPr>
            </a:defPPr>
          </a:lstStyle>
          <a:p xmlns:a="http://schemas.openxmlformats.org/drawingml/2006/main">
            <a:pPr algn="r">
              <a:lnSpc>
                <a:spcPct val="105000"/>
              </a:lnSpc>
              <a:buNone/>
              <a:defRPr sz="975" b="1">
                <a:solidFill>
                  <a:srgbClr val="536C74"/>
                </a:solidFill>
                <a:latin typeface="Arial"/>
                <a:ea typeface="Arial"/>
                <a:cs typeface="Arial"/>
              </a:defRPr>
            </a:pPr>
            <a:r>
              <a:rPr sz="975" b="1">
                <a:solidFill>
                  <a:srgbClr val="536C74"/>
                </a:solidFill>
                <a:latin typeface="Arial"/>
                <a:ea typeface="Arial"/>
                <a:cs typeface="Arial"/>
              </a:rPr>
              <a:t>04  /  06</a:t>
            </a:r>
          </a:p>
        </p:txBody>
      </p:sp>
      <p:sp>
        <p:nvSpPr>
          <p:cNvPr id="7" name="">
            <a:extLst xmlns:a="http://schemas.openxmlformats.org/drawingml/2006/main">
              <a:ext uri="{FF2B5EF4-FFF2-40B4-BE49-F238E27FC236}">
                <a16:creationId xmlns:a16="http://schemas.microsoft.com/office/drawing/2014/main" id="{F452FA92-A6D4-47FA-8C84-75C4585B9BFB}"/>
              </a:ext>
            </a:extLst>
          </p:cNvPr>
          <p:cNvSpPr>
            <a:spLocks xmlns:a="http://schemas.openxmlformats.org/drawingml/2006/main" noGrp="1"/>
          </p:cNvSpPr>
          <p:nvPr/>
        </p:nvSpPr>
        <p:spPr>
          <a:xfrm xmlns:a="http://schemas.openxmlformats.org/drawingml/2006/main">
            <a:off x="685800" y="1695450"/>
            <a:ext cx="10820400" cy="8667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A9A0C50-3D2E-4D3F-90B8-710C3FF486AC}"/>
              </a:ext>
            </a:extLst>
          </p:cNvPr>
          <p:cNvSpPr>
            <a:spLocks xmlns:a="http://schemas.openxmlformats.org/drawingml/2006/main" noGrp="1"/>
          </p:cNvSpPr>
          <p:nvPr/>
        </p:nvSpPr>
        <p:spPr>
          <a:xfrm xmlns:a="http://schemas.openxmlformats.org/drawingml/2006/main">
            <a:off x="876300" y="1895475"/>
            <a:ext cx="447675" cy="447675"/>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9" name="01">
            <a:extLst xmlns:a="http://schemas.openxmlformats.org/drawingml/2006/main">
              <a:ext uri="{FF2B5EF4-FFF2-40B4-BE49-F238E27FC236}">
                <a16:creationId xmlns:a16="http://schemas.microsoft.com/office/drawing/2014/main" id="{C1EA9775-980D-429B-B39E-91CD60BE8C5C}"/>
              </a:ext>
            </a:extLst>
          </p:cNvPr>
          <p:cNvSpPr>
            <a:spLocks xmlns:a="http://schemas.openxmlformats.org/drawingml/2006/main" noGrp="1"/>
          </p:cNvSpPr>
          <p:nvPr/>
        </p:nvSpPr>
        <p:spPr>
          <a:xfrm xmlns:a="http://schemas.openxmlformats.org/drawingml/2006/main">
            <a:off x="876300" y="2019300"/>
            <a:ext cx="4476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1">
                <a:solidFill>
                  <a:srgbClr val="176B65"/>
                </a:solidFill>
                <a:latin typeface="Arial"/>
                <a:ea typeface="Arial"/>
                <a:cs typeface="Arial"/>
              </a:defRPr>
            </a:defPPr>
          </a:lstStyle>
          <a:p xmlns:a="http://schemas.openxmlformats.org/drawingml/2006/main">
            <a:pPr algn="ctr">
              <a:lnSpc>
                <a:spcPct val="105000"/>
              </a:lnSpc>
              <a:buNone/>
              <a:defRPr sz="1125" b="1">
                <a:solidFill>
                  <a:srgbClr val="176B65"/>
                </a:solidFill>
                <a:latin typeface="Arial"/>
                <a:ea typeface="Arial"/>
                <a:cs typeface="Arial"/>
              </a:defRPr>
            </a:pPr>
            <a:r>
              <a:rPr sz="1125" b="1">
                <a:solidFill>
                  <a:srgbClr val="176B65"/>
                </a:solidFill>
                <a:latin typeface="Arial"/>
                <a:ea typeface="Arial"/>
                <a:cs typeface="Arial"/>
              </a:rPr>
              <a:t>01</a:t>
            </a:r>
          </a:p>
        </p:txBody>
      </p:sp>
      <p:sp>
        <p:nvSpPr>
          <p:cNvPr id="10" name="User experience">
            <a:extLst xmlns:a="http://schemas.openxmlformats.org/drawingml/2006/main">
              <a:ext uri="{FF2B5EF4-FFF2-40B4-BE49-F238E27FC236}">
                <a16:creationId xmlns:a16="http://schemas.microsoft.com/office/drawing/2014/main" id="{B5F491D1-96DE-463B-B879-5A3D75026884}"/>
              </a:ext>
            </a:extLst>
          </p:cNvPr>
          <p:cNvSpPr>
            <a:spLocks xmlns:a="http://schemas.openxmlformats.org/drawingml/2006/main" noGrp="1"/>
          </p:cNvSpPr>
          <p:nvPr/>
        </p:nvSpPr>
        <p:spPr>
          <a:xfrm xmlns:a="http://schemas.openxmlformats.org/drawingml/2006/main">
            <a:off x="1524000" y="1828800"/>
            <a:ext cx="2781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3B4A"/>
                </a:solidFill>
                <a:latin typeface="Arial"/>
                <a:ea typeface="Arial"/>
                <a:cs typeface="Arial"/>
              </a:defRPr>
            </a:defPPr>
          </a:lstStyle>
          <a:p xmlns:a="http://schemas.openxmlformats.org/drawingml/2006/main">
            <a:pPr algn="l">
              <a:lnSpc>
                <a:spcPct val="105000"/>
              </a:lnSpc>
              <a:buNone/>
              <a:defRPr sz="1800" b="1">
                <a:solidFill>
                  <a:srgbClr val="173B4A"/>
                </a:solidFill>
                <a:latin typeface="Arial"/>
                <a:ea typeface="Arial"/>
                <a:cs typeface="Arial"/>
              </a:defRPr>
            </a:pPr>
            <a:r>
              <a:rPr sz="1800" b="1">
                <a:solidFill>
                  <a:srgbClr val="173B4A"/>
                </a:solidFill>
                <a:latin typeface="Arial"/>
                <a:ea typeface="Arial"/>
                <a:cs typeface="Arial"/>
              </a:rPr>
              <a:t>User experience</a:t>
            </a:r>
          </a:p>
        </p:txBody>
      </p:sp>
      <p:sp>
        <p:nvSpPr>
          <p:cNvPr id="11" name="Next.js  ·  React  ·  TypeSc">
            <a:extLst xmlns:a="http://schemas.openxmlformats.org/drawingml/2006/main">
              <a:ext uri="{FF2B5EF4-FFF2-40B4-BE49-F238E27FC236}">
                <a16:creationId xmlns:a16="http://schemas.microsoft.com/office/drawing/2014/main" id="{8935A546-D812-4DDC-80A2-3CC0F71CF401}"/>
              </a:ext>
            </a:extLst>
          </p:cNvPr>
          <p:cNvSpPr>
            <a:spLocks xmlns:a="http://schemas.openxmlformats.org/drawingml/2006/main" noGrp="1"/>
          </p:cNvSpPr>
          <p:nvPr/>
        </p:nvSpPr>
        <p:spPr>
          <a:xfrm xmlns:a="http://schemas.openxmlformats.org/drawingml/2006/main">
            <a:off x="4495800" y="1819275"/>
            <a:ext cx="6705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6B65"/>
                </a:solidFill>
                <a:latin typeface="Arial"/>
                <a:ea typeface="Arial"/>
                <a:cs typeface="Arial"/>
              </a:defRPr>
            </a:defPPr>
          </a:lstStyle>
          <a:p xmlns:a="http://schemas.openxmlformats.org/drawingml/2006/main">
            <a:pPr algn="l">
              <a:lnSpc>
                <a:spcPct val="105000"/>
              </a:lnSpc>
              <a:buNone/>
              <a:defRPr sz="1575" b="1">
                <a:solidFill>
                  <a:srgbClr val="176B65"/>
                </a:solidFill>
                <a:latin typeface="Arial"/>
                <a:ea typeface="Arial"/>
                <a:cs typeface="Arial"/>
              </a:defRPr>
            </a:pPr>
            <a:r>
              <a:rPr sz="1575" b="1">
                <a:solidFill>
                  <a:srgbClr val="176B65"/>
                </a:solidFill>
                <a:latin typeface="Arial"/>
                <a:ea typeface="Arial"/>
                <a:cs typeface="Arial"/>
              </a:rPr>
              <a:t>Next.js  ·  React  ·  TypeScript</a:t>
            </a:r>
          </a:p>
        </p:txBody>
      </p:sp>
      <p:sp>
        <p:nvSpPr>
          <p:cNvPr id="12" name="Profile, lifestyle inputs, i">
            <a:extLst xmlns:a="http://schemas.openxmlformats.org/drawingml/2006/main">
              <a:ext uri="{FF2B5EF4-FFF2-40B4-BE49-F238E27FC236}">
                <a16:creationId xmlns:a16="http://schemas.microsoft.com/office/drawing/2014/main" id="{993AE7E9-14B1-4DDD-BC60-526B9A134D85}"/>
              </a:ext>
            </a:extLst>
          </p:cNvPr>
          <p:cNvSpPr>
            <a:spLocks xmlns:a="http://schemas.openxmlformats.org/drawingml/2006/main" noGrp="1"/>
          </p:cNvSpPr>
          <p:nvPr/>
        </p:nvSpPr>
        <p:spPr>
          <a:xfrm xmlns:a="http://schemas.openxmlformats.org/drawingml/2006/main">
            <a:off x="4495800" y="2152650"/>
            <a:ext cx="67056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36C74"/>
                </a:solidFill>
                <a:latin typeface="Arial"/>
                <a:ea typeface="Arial"/>
                <a:cs typeface="Arial"/>
              </a:defRPr>
            </a:defPPr>
          </a:lstStyle>
          <a:p xmlns:a="http://schemas.openxmlformats.org/drawingml/2006/main">
            <a:pPr algn="l">
              <a:lnSpc>
                <a:spcPct val="105000"/>
              </a:lnSpc>
              <a:buNone/>
              <a:defRPr sz="1350" b="0">
                <a:solidFill>
                  <a:srgbClr val="536C74"/>
                </a:solidFill>
                <a:latin typeface="Arial"/>
                <a:ea typeface="Arial"/>
                <a:cs typeface="Arial"/>
              </a:defRPr>
            </a:pPr>
            <a:r>
              <a:rPr sz="1350" b="0">
                <a:solidFill>
                  <a:srgbClr val="536C74"/>
                </a:solidFill>
                <a:latin typeface="Arial"/>
                <a:ea typeface="Arial"/>
                <a:cs typeface="Arial"/>
              </a:rPr>
              <a:t>Profile, lifestyle inputs, image uploads, results, and portable reports</a:t>
            </a:r>
          </a:p>
        </p:txBody>
      </p:sp>
      <p:sp>
        <p:nvSpPr>
          <p:cNvPr id="13" name="">
            <a:extLst xmlns:a="http://schemas.openxmlformats.org/drawingml/2006/main">
              <a:ext uri="{FF2B5EF4-FFF2-40B4-BE49-F238E27FC236}">
                <a16:creationId xmlns:a16="http://schemas.microsoft.com/office/drawing/2014/main" id="{314BC89F-E2F0-4D12-AADC-32E70AB51966}"/>
              </a:ext>
            </a:extLst>
          </p:cNvPr>
          <p:cNvSpPr>
            <a:spLocks xmlns:a="http://schemas.openxmlformats.org/drawingml/2006/main" noGrp="1"/>
          </p:cNvSpPr>
          <p:nvPr/>
        </p:nvSpPr>
        <p:spPr>
          <a:xfrm xmlns:a="http://schemas.openxmlformats.org/drawingml/2006/main">
            <a:off x="1095375" y="2562225"/>
            <a:ext cx="19050" cy="142875"/>
          </a:xfrm>
          <a:prstGeom xmlns:a="http://schemas.openxmlformats.org/drawingml/2006/main" prst="rect">
            <a:avLst/>
          </a:prstGeom>
          <a:solidFill xmlns:a="http://schemas.openxmlformats.org/drawingml/2006/main">
            <a:srgbClr val="2C8C83"/>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E9F32F3-28CC-4621-994B-7ADB5590A58E}"/>
              </a:ext>
            </a:extLst>
          </p:cNvPr>
          <p:cNvSpPr>
            <a:spLocks xmlns:a="http://schemas.openxmlformats.org/drawingml/2006/main" noGrp="1"/>
          </p:cNvSpPr>
          <p:nvPr/>
        </p:nvSpPr>
        <p:spPr>
          <a:xfrm xmlns:a="http://schemas.openxmlformats.org/drawingml/2006/main">
            <a:off x="685800" y="2724150"/>
            <a:ext cx="10820400" cy="866775"/>
          </a:xfrm>
          <a:prstGeom xmlns:a="http://schemas.openxmlformats.org/drawingml/2006/main" prst="rect">
            <a:avLst/>
          </a:prstGeom>
          <a:solidFill xmlns:a="http://schemas.openxmlformats.org/drawingml/2006/main">
            <a:srgbClr val="E5F4E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D7867F3-E44F-44ED-943E-46E11A017C95}"/>
              </a:ext>
            </a:extLst>
          </p:cNvPr>
          <p:cNvSpPr>
            <a:spLocks xmlns:a="http://schemas.openxmlformats.org/drawingml/2006/main" noGrp="1"/>
          </p:cNvSpPr>
          <p:nvPr/>
        </p:nvSpPr>
        <p:spPr>
          <a:xfrm xmlns:a="http://schemas.openxmlformats.org/drawingml/2006/main">
            <a:off x="876300" y="2924175"/>
            <a:ext cx="447675" cy="447675"/>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6" name="02">
            <a:extLst xmlns:a="http://schemas.openxmlformats.org/drawingml/2006/main">
              <a:ext uri="{FF2B5EF4-FFF2-40B4-BE49-F238E27FC236}">
                <a16:creationId xmlns:a16="http://schemas.microsoft.com/office/drawing/2014/main" id="{486AA31F-6E5E-4689-B10F-48656B0AB089}"/>
              </a:ext>
            </a:extLst>
          </p:cNvPr>
          <p:cNvSpPr>
            <a:spLocks xmlns:a="http://schemas.openxmlformats.org/drawingml/2006/main" noGrp="1"/>
          </p:cNvSpPr>
          <p:nvPr/>
        </p:nvSpPr>
        <p:spPr>
          <a:xfrm xmlns:a="http://schemas.openxmlformats.org/drawingml/2006/main">
            <a:off x="876300" y="3048000"/>
            <a:ext cx="4476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1">
                <a:solidFill>
                  <a:srgbClr val="176B65"/>
                </a:solidFill>
                <a:latin typeface="Arial"/>
                <a:ea typeface="Arial"/>
                <a:cs typeface="Arial"/>
              </a:defRPr>
            </a:defPPr>
          </a:lstStyle>
          <a:p xmlns:a="http://schemas.openxmlformats.org/drawingml/2006/main">
            <a:pPr algn="ctr">
              <a:lnSpc>
                <a:spcPct val="105000"/>
              </a:lnSpc>
              <a:buNone/>
              <a:defRPr sz="1125" b="1">
                <a:solidFill>
                  <a:srgbClr val="176B65"/>
                </a:solidFill>
                <a:latin typeface="Arial"/>
                <a:ea typeface="Arial"/>
                <a:cs typeface="Arial"/>
              </a:defRPr>
            </a:pPr>
            <a:r>
              <a:rPr sz="1125" b="1">
                <a:solidFill>
                  <a:srgbClr val="176B65"/>
                </a:solidFill>
                <a:latin typeface="Arial"/>
                <a:ea typeface="Arial"/>
                <a:cs typeface="Arial"/>
              </a:rPr>
              <a:t>02</a:t>
            </a:r>
          </a:p>
        </p:txBody>
      </p:sp>
      <p:sp>
        <p:nvSpPr>
          <p:cNvPr id="17" name="Application services">
            <a:extLst xmlns:a="http://schemas.openxmlformats.org/drawingml/2006/main">
              <a:ext uri="{FF2B5EF4-FFF2-40B4-BE49-F238E27FC236}">
                <a16:creationId xmlns:a16="http://schemas.microsoft.com/office/drawing/2014/main" id="{8A6B5871-5440-41B0-B9A5-3E4ED342A2D4}"/>
              </a:ext>
            </a:extLst>
          </p:cNvPr>
          <p:cNvSpPr>
            <a:spLocks xmlns:a="http://schemas.openxmlformats.org/drawingml/2006/main" noGrp="1"/>
          </p:cNvSpPr>
          <p:nvPr/>
        </p:nvSpPr>
        <p:spPr>
          <a:xfrm xmlns:a="http://schemas.openxmlformats.org/drawingml/2006/main">
            <a:off x="1524000" y="2857500"/>
            <a:ext cx="2781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3B4A"/>
                </a:solidFill>
                <a:latin typeface="Arial"/>
                <a:ea typeface="Arial"/>
                <a:cs typeface="Arial"/>
              </a:defRPr>
            </a:defPPr>
          </a:lstStyle>
          <a:p xmlns:a="http://schemas.openxmlformats.org/drawingml/2006/main">
            <a:pPr algn="l">
              <a:lnSpc>
                <a:spcPct val="105000"/>
              </a:lnSpc>
              <a:buNone/>
              <a:defRPr sz="1800" b="1">
                <a:solidFill>
                  <a:srgbClr val="173B4A"/>
                </a:solidFill>
                <a:latin typeface="Arial"/>
                <a:ea typeface="Arial"/>
                <a:cs typeface="Arial"/>
              </a:defRPr>
            </a:pPr>
            <a:r>
              <a:rPr sz="1800" b="1">
                <a:solidFill>
                  <a:srgbClr val="173B4A"/>
                </a:solidFill>
                <a:latin typeface="Arial"/>
                <a:ea typeface="Arial"/>
                <a:cs typeface="Arial"/>
              </a:rPr>
              <a:t>Application services</a:t>
            </a:r>
          </a:p>
        </p:txBody>
      </p:sp>
      <p:sp>
        <p:nvSpPr>
          <p:cNvPr id="18" name="Web route handlers  ·  FastA">
            <a:extLst xmlns:a="http://schemas.openxmlformats.org/drawingml/2006/main">
              <a:ext uri="{FF2B5EF4-FFF2-40B4-BE49-F238E27FC236}">
                <a16:creationId xmlns:a16="http://schemas.microsoft.com/office/drawing/2014/main" id="{BB9C7F23-2CBB-47C5-938A-09CC757D632D}"/>
              </a:ext>
            </a:extLst>
          </p:cNvPr>
          <p:cNvSpPr>
            <a:spLocks xmlns:a="http://schemas.openxmlformats.org/drawingml/2006/main" noGrp="1"/>
          </p:cNvSpPr>
          <p:nvPr/>
        </p:nvSpPr>
        <p:spPr>
          <a:xfrm xmlns:a="http://schemas.openxmlformats.org/drawingml/2006/main">
            <a:off x="4495800" y="2847975"/>
            <a:ext cx="6705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6B65"/>
                </a:solidFill>
                <a:latin typeface="Arial"/>
                <a:ea typeface="Arial"/>
                <a:cs typeface="Arial"/>
              </a:defRPr>
            </a:defPPr>
          </a:lstStyle>
          <a:p xmlns:a="http://schemas.openxmlformats.org/drawingml/2006/main">
            <a:pPr algn="l">
              <a:lnSpc>
                <a:spcPct val="105000"/>
              </a:lnSpc>
              <a:buNone/>
              <a:defRPr sz="1575" b="1">
                <a:solidFill>
                  <a:srgbClr val="176B65"/>
                </a:solidFill>
                <a:latin typeface="Arial"/>
                <a:ea typeface="Arial"/>
                <a:cs typeface="Arial"/>
              </a:defRPr>
            </a:pPr>
            <a:r>
              <a:rPr sz="1575" b="1">
                <a:solidFill>
                  <a:srgbClr val="176B65"/>
                </a:solidFill>
                <a:latin typeface="Arial"/>
                <a:ea typeface="Arial"/>
                <a:cs typeface="Arial"/>
              </a:rPr>
              <a:t>Web route handlers  ·  FastAPI services</a:t>
            </a:r>
          </a:p>
        </p:txBody>
      </p:sp>
      <p:sp>
        <p:nvSpPr>
          <p:cNvPr id="19" name="Assessment, summary, food ex">
            <a:extLst xmlns:a="http://schemas.openxmlformats.org/drawingml/2006/main">
              <a:ext uri="{FF2B5EF4-FFF2-40B4-BE49-F238E27FC236}">
                <a16:creationId xmlns:a16="http://schemas.microsoft.com/office/drawing/2014/main" id="{8FE04D95-B939-4C79-A77A-A213BBD0BBEB}"/>
              </a:ext>
            </a:extLst>
          </p:cNvPr>
          <p:cNvSpPr>
            <a:spLocks xmlns:a="http://schemas.openxmlformats.org/drawingml/2006/main" noGrp="1"/>
          </p:cNvSpPr>
          <p:nvPr/>
        </p:nvSpPr>
        <p:spPr>
          <a:xfrm xmlns:a="http://schemas.openxmlformats.org/drawingml/2006/main">
            <a:off x="4495800" y="3181350"/>
            <a:ext cx="67056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36C74"/>
                </a:solidFill>
                <a:latin typeface="Arial"/>
                <a:ea typeface="Arial"/>
                <a:cs typeface="Arial"/>
              </a:defRPr>
            </a:defPPr>
          </a:lstStyle>
          <a:p xmlns:a="http://schemas.openxmlformats.org/drawingml/2006/main">
            <a:pPr algn="l">
              <a:lnSpc>
                <a:spcPct val="105000"/>
              </a:lnSpc>
              <a:buNone/>
              <a:defRPr sz="1350" b="0">
                <a:solidFill>
                  <a:srgbClr val="536C74"/>
                </a:solidFill>
                <a:latin typeface="Arial"/>
                <a:ea typeface="Arial"/>
                <a:cs typeface="Arial"/>
              </a:defRPr>
            </a:pPr>
            <a:r>
              <a:rPr sz="1350" b="0">
                <a:solidFill>
                  <a:srgbClr val="536C74"/>
                </a:solidFill>
                <a:latin typeface="Arial"/>
                <a:ea typeface="Arial"/>
                <a:cs typeface="Arial"/>
              </a:rPr>
              <a:t>Assessment, summary, food extraction, food recommendation, and scan endpoints</a:t>
            </a:r>
          </a:p>
        </p:txBody>
      </p:sp>
      <p:sp>
        <p:nvSpPr>
          <p:cNvPr id="20" name="">
            <a:extLst xmlns:a="http://schemas.openxmlformats.org/drawingml/2006/main">
              <a:ext uri="{FF2B5EF4-FFF2-40B4-BE49-F238E27FC236}">
                <a16:creationId xmlns:a16="http://schemas.microsoft.com/office/drawing/2014/main" id="{C31837FF-0488-4337-925F-D4E1F94D9F11}"/>
              </a:ext>
            </a:extLst>
          </p:cNvPr>
          <p:cNvSpPr>
            <a:spLocks xmlns:a="http://schemas.openxmlformats.org/drawingml/2006/main" noGrp="1"/>
          </p:cNvSpPr>
          <p:nvPr/>
        </p:nvSpPr>
        <p:spPr>
          <a:xfrm xmlns:a="http://schemas.openxmlformats.org/drawingml/2006/main">
            <a:off x="1095375" y="3590925"/>
            <a:ext cx="19050" cy="142875"/>
          </a:xfrm>
          <a:prstGeom xmlns:a="http://schemas.openxmlformats.org/drawingml/2006/main" prst="rect">
            <a:avLst/>
          </a:prstGeom>
          <a:solidFill xmlns:a="http://schemas.openxmlformats.org/drawingml/2006/main">
            <a:srgbClr val="2C8C83"/>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F4E223F-C1EF-45C0-8E39-4CECAD45A14E}"/>
              </a:ext>
            </a:extLst>
          </p:cNvPr>
          <p:cNvSpPr>
            <a:spLocks xmlns:a="http://schemas.openxmlformats.org/drawingml/2006/main" noGrp="1"/>
          </p:cNvSpPr>
          <p:nvPr/>
        </p:nvSpPr>
        <p:spPr>
          <a:xfrm xmlns:a="http://schemas.openxmlformats.org/drawingml/2006/main">
            <a:off x="685800" y="3752850"/>
            <a:ext cx="10820400" cy="866775"/>
          </a:xfrm>
          <a:prstGeom xmlns:a="http://schemas.openxmlformats.org/drawingml/2006/main" prst="rect">
            <a:avLst/>
          </a:prstGeom>
          <a:solidFill xmlns:a="http://schemas.openxmlformats.org/drawingml/2006/main">
            <a:srgbClr val="EEEAF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B45F9CC-152A-460D-B4CF-F327C8B6F669}"/>
              </a:ext>
            </a:extLst>
          </p:cNvPr>
          <p:cNvSpPr>
            <a:spLocks xmlns:a="http://schemas.openxmlformats.org/drawingml/2006/main" noGrp="1"/>
          </p:cNvSpPr>
          <p:nvPr/>
        </p:nvSpPr>
        <p:spPr>
          <a:xfrm xmlns:a="http://schemas.openxmlformats.org/drawingml/2006/main">
            <a:off x="876300" y="3952875"/>
            <a:ext cx="447675" cy="447675"/>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3" name="03">
            <a:extLst xmlns:a="http://schemas.openxmlformats.org/drawingml/2006/main">
              <a:ext uri="{FF2B5EF4-FFF2-40B4-BE49-F238E27FC236}">
                <a16:creationId xmlns:a16="http://schemas.microsoft.com/office/drawing/2014/main" id="{16EDA296-EDA4-4221-95FF-7FFA161D369F}"/>
              </a:ext>
            </a:extLst>
          </p:cNvPr>
          <p:cNvSpPr>
            <a:spLocks xmlns:a="http://schemas.openxmlformats.org/drawingml/2006/main" noGrp="1"/>
          </p:cNvSpPr>
          <p:nvPr/>
        </p:nvSpPr>
        <p:spPr>
          <a:xfrm xmlns:a="http://schemas.openxmlformats.org/drawingml/2006/main">
            <a:off x="876300" y="4076700"/>
            <a:ext cx="4476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1">
                <a:solidFill>
                  <a:srgbClr val="176B65"/>
                </a:solidFill>
                <a:latin typeface="Arial"/>
                <a:ea typeface="Arial"/>
                <a:cs typeface="Arial"/>
              </a:defRPr>
            </a:defPPr>
          </a:lstStyle>
          <a:p xmlns:a="http://schemas.openxmlformats.org/drawingml/2006/main">
            <a:pPr algn="ctr">
              <a:lnSpc>
                <a:spcPct val="105000"/>
              </a:lnSpc>
              <a:buNone/>
              <a:defRPr sz="1125" b="1">
                <a:solidFill>
                  <a:srgbClr val="176B65"/>
                </a:solidFill>
                <a:latin typeface="Arial"/>
                <a:ea typeface="Arial"/>
                <a:cs typeface="Arial"/>
              </a:defRPr>
            </a:pPr>
            <a:r>
              <a:rPr sz="1125" b="1">
                <a:solidFill>
                  <a:srgbClr val="176B65"/>
                </a:solidFill>
                <a:latin typeface="Arial"/>
                <a:ea typeface="Arial"/>
                <a:cs typeface="Arial"/>
              </a:rPr>
              <a:t>03</a:t>
            </a:r>
          </a:p>
        </p:txBody>
      </p:sp>
      <p:sp>
        <p:nvSpPr>
          <p:cNvPr id="24" name="ML + multimodal analysis">
            <a:extLst xmlns:a="http://schemas.openxmlformats.org/drawingml/2006/main">
              <a:ext uri="{FF2B5EF4-FFF2-40B4-BE49-F238E27FC236}">
                <a16:creationId xmlns:a16="http://schemas.microsoft.com/office/drawing/2014/main" id="{5B608921-B0D7-479F-877A-698079B54471}"/>
              </a:ext>
            </a:extLst>
          </p:cNvPr>
          <p:cNvSpPr>
            <a:spLocks xmlns:a="http://schemas.openxmlformats.org/drawingml/2006/main" noGrp="1"/>
          </p:cNvSpPr>
          <p:nvPr/>
        </p:nvSpPr>
        <p:spPr>
          <a:xfrm xmlns:a="http://schemas.openxmlformats.org/drawingml/2006/main">
            <a:off x="1524000" y="3886200"/>
            <a:ext cx="2781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3B4A"/>
                </a:solidFill>
                <a:latin typeface="Arial"/>
                <a:ea typeface="Arial"/>
                <a:cs typeface="Arial"/>
              </a:defRPr>
            </a:defPPr>
          </a:lstStyle>
          <a:p xmlns:a="http://schemas.openxmlformats.org/drawingml/2006/main">
            <a:pPr algn="l">
              <a:lnSpc>
                <a:spcPct val="105000"/>
              </a:lnSpc>
              <a:buNone/>
              <a:defRPr sz="1800" b="1">
                <a:solidFill>
                  <a:srgbClr val="173B4A"/>
                </a:solidFill>
                <a:latin typeface="Arial"/>
                <a:ea typeface="Arial"/>
                <a:cs typeface="Arial"/>
              </a:defRPr>
            </a:pPr>
            <a:r>
              <a:rPr sz="1800" b="1">
                <a:solidFill>
                  <a:srgbClr val="173B4A"/>
                </a:solidFill>
                <a:latin typeface="Arial"/>
                <a:ea typeface="Arial"/>
                <a:cs typeface="Arial"/>
              </a:rPr>
              <a:t>ML + multimodal analysis</a:t>
            </a:r>
          </a:p>
        </p:txBody>
      </p:sp>
      <p:sp>
        <p:nvSpPr>
          <p:cNvPr id="25" name="scikit-learn  ·  Python  ·  ">
            <a:extLst xmlns:a="http://schemas.openxmlformats.org/drawingml/2006/main">
              <a:ext uri="{FF2B5EF4-FFF2-40B4-BE49-F238E27FC236}">
                <a16:creationId xmlns:a16="http://schemas.microsoft.com/office/drawing/2014/main" id="{ADD0A7D0-A139-4A7A-A59D-68E1ADB61DDF}"/>
              </a:ext>
            </a:extLst>
          </p:cNvPr>
          <p:cNvSpPr>
            <a:spLocks xmlns:a="http://schemas.openxmlformats.org/drawingml/2006/main" noGrp="1"/>
          </p:cNvSpPr>
          <p:nvPr/>
        </p:nvSpPr>
        <p:spPr>
          <a:xfrm xmlns:a="http://schemas.openxmlformats.org/drawingml/2006/main">
            <a:off x="4495800" y="3876675"/>
            <a:ext cx="6705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6B65"/>
                </a:solidFill>
                <a:latin typeface="Arial"/>
                <a:ea typeface="Arial"/>
                <a:cs typeface="Arial"/>
              </a:defRPr>
            </a:defPPr>
          </a:lstStyle>
          <a:p xmlns:a="http://schemas.openxmlformats.org/drawingml/2006/main">
            <a:pPr algn="l">
              <a:lnSpc>
                <a:spcPct val="105000"/>
              </a:lnSpc>
              <a:buNone/>
              <a:defRPr sz="1575" b="1">
                <a:solidFill>
                  <a:srgbClr val="176B65"/>
                </a:solidFill>
                <a:latin typeface="Arial"/>
                <a:ea typeface="Arial"/>
                <a:cs typeface="Arial"/>
              </a:defRPr>
            </a:pPr>
            <a:r>
              <a:rPr sz="1575" b="1">
                <a:solidFill>
                  <a:srgbClr val="176B65"/>
                </a:solidFill>
                <a:latin typeface="Arial"/>
                <a:ea typeface="Arial"/>
                <a:cs typeface="Arial"/>
              </a:rPr>
              <a:t>scikit-learn  ·  Python  ·  ONNX / imaging models</a:t>
            </a:r>
          </a:p>
        </p:txBody>
      </p:sp>
      <p:sp>
        <p:nvSpPr>
          <p:cNvPr id="26" name="Structured risk estimates, n">
            <a:extLst xmlns:a="http://schemas.openxmlformats.org/drawingml/2006/main">
              <a:ext uri="{FF2B5EF4-FFF2-40B4-BE49-F238E27FC236}">
                <a16:creationId xmlns:a16="http://schemas.microsoft.com/office/drawing/2014/main" id="{EA3A56AB-44A3-45E8-A5E0-60ED30D46DF9}"/>
              </a:ext>
            </a:extLst>
          </p:cNvPr>
          <p:cNvSpPr>
            <a:spLocks xmlns:a="http://schemas.openxmlformats.org/drawingml/2006/main" noGrp="1"/>
          </p:cNvSpPr>
          <p:nvPr/>
        </p:nvSpPr>
        <p:spPr>
          <a:xfrm xmlns:a="http://schemas.openxmlformats.org/drawingml/2006/main">
            <a:off x="4495800" y="4210050"/>
            <a:ext cx="67056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36C74"/>
                </a:solidFill>
                <a:latin typeface="Arial"/>
                <a:ea typeface="Arial"/>
                <a:cs typeface="Arial"/>
              </a:defRPr>
            </a:defPPr>
          </a:lstStyle>
          <a:p xmlns:a="http://schemas.openxmlformats.org/drawingml/2006/main">
            <a:pPr algn="l">
              <a:lnSpc>
                <a:spcPct val="105000"/>
              </a:lnSpc>
              <a:buNone/>
              <a:defRPr sz="1350" b="0">
                <a:solidFill>
                  <a:srgbClr val="536C74"/>
                </a:solidFill>
                <a:latin typeface="Arial"/>
                <a:ea typeface="Arial"/>
                <a:cs typeface="Arial"/>
              </a:defRPr>
            </a:pPr>
            <a:r>
              <a:rPr sz="1350" b="0">
                <a:solidFill>
                  <a:srgbClr val="536C74"/>
                </a:solidFill>
                <a:latin typeface="Arial"/>
                <a:ea typeface="Arial"/>
                <a:cs typeface="Arial"/>
              </a:rPr>
              <a:t>Structured risk estimates, nutrition extraction, and a separate research X-ray path</a:t>
            </a:r>
          </a:p>
        </p:txBody>
      </p:sp>
      <p:sp>
        <p:nvSpPr>
          <p:cNvPr id="27" name="">
            <a:extLst xmlns:a="http://schemas.openxmlformats.org/drawingml/2006/main">
              <a:ext uri="{FF2B5EF4-FFF2-40B4-BE49-F238E27FC236}">
                <a16:creationId xmlns:a16="http://schemas.microsoft.com/office/drawing/2014/main" id="{2C7F53E0-898A-4CBE-A7C1-ADC027164AFF}"/>
              </a:ext>
            </a:extLst>
          </p:cNvPr>
          <p:cNvSpPr>
            <a:spLocks xmlns:a="http://schemas.openxmlformats.org/drawingml/2006/main" noGrp="1"/>
          </p:cNvSpPr>
          <p:nvPr/>
        </p:nvSpPr>
        <p:spPr>
          <a:xfrm xmlns:a="http://schemas.openxmlformats.org/drawingml/2006/main">
            <a:off x="1095375" y="4619625"/>
            <a:ext cx="19050" cy="142875"/>
          </a:xfrm>
          <a:prstGeom xmlns:a="http://schemas.openxmlformats.org/drawingml/2006/main" prst="rect">
            <a:avLst/>
          </a:prstGeom>
          <a:solidFill xmlns:a="http://schemas.openxmlformats.org/drawingml/2006/main">
            <a:srgbClr val="2C8C83"/>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9B4768A-8F7B-473A-9CE9-3A2623B6C150}"/>
              </a:ext>
            </a:extLst>
          </p:cNvPr>
          <p:cNvSpPr>
            <a:spLocks xmlns:a="http://schemas.openxmlformats.org/drawingml/2006/main" noGrp="1"/>
          </p:cNvSpPr>
          <p:nvPr/>
        </p:nvSpPr>
        <p:spPr>
          <a:xfrm xmlns:a="http://schemas.openxmlformats.org/drawingml/2006/main">
            <a:off x="685800" y="4781550"/>
            <a:ext cx="10820400" cy="866775"/>
          </a:xfrm>
          <a:prstGeom xmlns:a="http://schemas.openxmlformats.org/drawingml/2006/main" prst="rect">
            <a:avLst/>
          </a:prstGeom>
          <a:solidFill xmlns:a="http://schemas.openxmlformats.org/drawingml/2006/main">
            <a:srgbClr val="F5EAC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8AE0E1DF-B27F-490C-AAED-956817C62296}"/>
              </a:ext>
            </a:extLst>
          </p:cNvPr>
          <p:cNvSpPr>
            <a:spLocks xmlns:a="http://schemas.openxmlformats.org/drawingml/2006/main" noGrp="1"/>
          </p:cNvSpPr>
          <p:nvPr/>
        </p:nvSpPr>
        <p:spPr>
          <a:xfrm xmlns:a="http://schemas.openxmlformats.org/drawingml/2006/main">
            <a:off x="876300" y="4981575"/>
            <a:ext cx="447675" cy="447675"/>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30" name="04">
            <a:extLst xmlns:a="http://schemas.openxmlformats.org/drawingml/2006/main">
              <a:ext uri="{FF2B5EF4-FFF2-40B4-BE49-F238E27FC236}">
                <a16:creationId xmlns:a16="http://schemas.microsoft.com/office/drawing/2014/main" id="{BB3A1F7C-E5F8-40BC-8167-BCB475B7FA2A}"/>
              </a:ext>
            </a:extLst>
          </p:cNvPr>
          <p:cNvSpPr>
            <a:spLocks xmlns:a="http://schemas.openxmlformats.org/drawingml/2006/main" noGrp="1"/>
          </p:cNvSpPr>
          <p:nvPr/>
        </p:nvSpPr>
        <p:spPr>
          <a:xfrm xmlns:a="http://schemas.openxmlformats.org/drawingml/2006/main">
            <a:off x="876300" y="5105400"/>
            <a:ext cx="4476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1">
                <a:solidFill>
                  <a:srgbClr val="176B65"/>
                </a:solidFill>
                <a:latin typeface="Arial"/>
                <a:ea typeface="Arial"/>
                <a:cs typeface="Arial"/>
              </a:defRPr>
            </a:defPPr>
          </a:lstStyle>
          <a:p xmlns:a="http://schemas.openxmlformats.org/drawingml/2006/main">
            <a:pPr algn="ctr">
              <a:lnSpc>
                <a:spcPct val="105000"/>
              </a:lnSpc>
              <a:buNone/>
              <a:defRPr sz="1125" b="1">
                <a:solidFill>
                  <a:srgbClr val="176B65"/>
                </a:solidFill>
                <a:latin typeface="Arial"/>
                <a:ea typeface="Arial"/>
                <a:cs typeface="Arial"/>
              </a:defRPr>
            </a:pPr>
            <a:r>
              <a:rPr sz="1125" b="1">
                <a:solidFill>
                  <a:srgbClr val="176B65"/>
                </a:solidFill>
                <a:latin typeface="Arial"/>
                <a:ea typeface="Arial"/>
                <a:cs typeface="Arial"/>
              </a:rPr>
              <a:t>04</a:t>
            </a:r>
          </a:p>
        </p:txBody>
      </p:sp>
      <p:sp>
        <p:nvSpPr>
          <p:cNvPr id="31" name="Language model interpretatio">
            <a:extLst xmlns:a="http://schemas.openxmlformats.org/drawingml/2006/main">
              <a:ext uri="{FF2B5EF4-FFF2-40B4-BE49-F238E27FC236}">
                <a16:creationId xmlns:a16="http://schemas.microsoft.com/office/drawing/2014/main" id="{CFE1ED0E-722C-4CBA-9D19-8F4BC8CBD755}"/>
              </a:ext>
            </a:extLst>
          </p:cNvPr>
          <p:cNvSpPr>
            <a:spLocks xmlns:a="http://schemas.openxmlformats.org/drawingml/2006/main" noGrp="1"/>
          </p:cNvSpPr>
          <p:nvPr/>
        </p:nvSpPr>
        <p:spPr>
          <a:xfrm xmlns:a="http://schemas.openxmlformats.org/drawingml/2006/main">
            <a:off x="1524000" y="4914900"/>
            <a:ext cx="2781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060"/>
          </a:bodyPr>
          <a:lstStyle xmlns:a="http://schemas.openxmlformats.org/drawingml/2006/main">
            <a:defPPr algn="l">
              <a:defRPr sz="1800" b="1">
                <a:solidFill>
                  <a:srgbClr val="173B4A"/>
                </a:solidFill>
                <a:latin typeface="Arial"/>
                <a:ea typeface="Arial"/>
                <a:cs typeface="Arial"/>
              </a:defRPr>
            </a:defPPr>
          </a:lstStyle>
          <a:p xmlns:a="http://schemas.openxmlformats.org/drawingml/2006/main">
            <a:pPr algn="l">
              <a:lnSpc>
                <a:spcPct val="105000"/>
              </a:lnSpc>
              <a:buNone/>
              <a:defRPr sz="1800" b="1">
                <a:solidFill>
                  <a:srgbClr val="173B4A"/>
                </a:solidFill>
                <a:latin typeface="Arial"/>
                <a:ea typeface="Arial"/>
                <a:cs typeface="Arial"/>
              </a:defRPr>
            </a:pPr>
            <a:r>
              <a:rPr sz="1800" b="1">
                <a:solidFill>
                  <a:srgbClr val="173B4A"/>
                </a:solidFill>
                <a:latin typeface="Arial"/>
                <a:ea typeface="Arial"/>
                <a:cs typeface="Arial"/>
              </a:rPr>
              <a:t>Language model interpretation</a:t>
            </a:r>
          </a:p>
        </p:txBody>
      </p:sp>
      <p:sp>
        <p:nvSpPr>
          <p:cNvPr id="32" name="Gemma via Gemini API">
            <a:extLst xmlns:a="http://schemas.openxmlformats.org/drawingml/2006/main">
              <a:ext uri="{FF2B5EF4-FFF2-40B4-BE49-F238E27FC236}">
                <a16:creationId xmlns:a16="http://schemas.microsoft.com/office/drawing/2014/main" id="{AC05F073-605B-4A8B-B5B8-5792D239E214}"/>
              </a:ext>
            </a:extLst>
          </p:cNvPr>
          <p:cNvSpPr>
            <a:spLocks xmlns:a="http://schemas.openxmlformats.org/drawingml/2006/main" noGrp="1"/>
          </p:cNvSpPr>
          <p:nvPr/>
        </p:nvSpPr>
        <p:spPr>
          <a:xfrm xmlns:a="http://schemas.openxmlformats.org/drawingml/2006/main">
            <a:off x="4495800" y="4905375"/>
            <a:ext cx="6705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76B65"/>
                </a:solidFill>
                <a:latin typeface="Arial"/>
                <a:ea typeface="Arial"/>
                <a:cs typeface="Arial"/>
              </a:defRPr>
            </a:defPPr>
          </a:lstStyle>
          <a:p xmlns:a="http://schemas.openxmlformats.org/drawingml/2006/main">
            <a:pPr algn="l">
              <a:lnSpc>
                <a:spcPct val="105000"/>
              </a:lnSpc>
              <a:buNone/>
              <a:defRPr sz="1575" b="1">
                <a:solidFill>
                  <a:srgbClr val="176B65"/>
                </a:solidFill>
                <a:latin typeface="Arial"/>
                <a:ea typeface="Arial"/>
                <a:cs typeface="Arial"/>
              </a:defRPr>
            </a:pPr>
            <a:r>
              <a:rPr sz="1575" b="1">
                <a:solidFill>
                  <a:srgbClr val="176B65"/>
                </a:solidFill>
                <a:latin typeface="Arial"/>
                <a:ea typeface="Arial"/>
                <a:cs typeface="Arial"/>
              </a:rPr>
              <a:t>Gemma via Gemini API</a:t>
            </a:r>
          </a:p>
        </p:txBody>
      </p:sp>
      <p:sp>
        <p:nvSpPr>
          <p:cNvPr id="33" name="Turn structured outputs into">
            <a:extLst xmlns:a="http://schemas.openxmlformats.org/drawingml/2006/main">
              <a:ext uri="{FF2B5EF4-FFF2-40B4-BE49-F238E27FC236}">
                <a16:creationId xmlns:a16="http://schemas.microsoft.com/office/drawing/2014/main" id="{4074347D-CD8C-463C-97F9-140B29EF10E1}"/>
              </a:ext>
            </a:extLst>
          </p:cNvPr>
          <p:cNvSpPr>
            <a:spLocks xmlns:a="http://schemas.openxmlformats.org/drawingml/2006/main" noGrp="1"/>
          </p:cNvSpPr>
          <p:nvPr/>
        </p:nvSpPr>
        <p:spPr>
          <a:xfrm xmlns:a="http://schemas.openxmlformats.org/drawingml/2006/main">
            <a:off x="4495800" y="5238750"/>
            <a:ext cx="67056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36C74"/>
                </a:solidFill>
                <a:latin typeface="Arial"/>
                <a:ea typeface="Arial"/>
                <a:cs typeface="Arial"/>
              </a:defRPr>
            </a:defPPr>
          </a:lstStyle>
          <a:p xmlns:a="http://schemas.openxmlformats.org/drawingml/2006/main">
            <a:pPr algn="l">
              <a:lnSpc>
                <a:spcPct val="105000"/>
              </a:lnSpc>
              <a:buNone/>
              <a:defRPr sz="1350" b="0">
                <a:solidFill>
                  <a:srgbClr val="536C74"/>
                </a:solidFill>
                <a:latin typeface="Arial"/>
                <a:ea typeface="Arial"/>
                <a:cs typeface="Arial"/>
              </a:defRPr>
            </a:pPr>
            <a:r>
              <a:rPr sz="1350" b="0">
                <a:solidFill>
                  <a:srgbClr val="536C74"/>
                </a:solidFill>
                <a:latin typeface="Arial"/>
                <a:ea typeface="Arial"/>
                <a:cs typeface="Arial"/>
              </a:rPr>
              <a:t>Turn structured outputs into readable explanations with clear limits</a:t>
            </a:r>
          </a:p>
        </p:txBody>
      </p:sp>
      <p:sp>
        <p:nvSpPr>
          <p:cNvPr id="34" name="Design principles">
            <a:extLst xmlns:a="http://schemas.openxmlformats.org/drawingml/2006/main">
              <a:ext uri="{FF2B5EF4-FFF2-40B4-BE49-F238E27FC236}">
                <a16:creationId xmlns:a16="http://schemas.microsoft.com/office/drawing/2014/main" id="{F9C4CA05-944F-427F-993D-50021FDBB890}"/>
              </a:ext>
            </a:extLst>
          </p:cNvPr>
          <p:cNvSpPr>
            <a:spLocks xmlns:a="http://schemas.openxmlformats.org/drawingml/2006/main" noGrp="1"/>
          </p:cNvSpPr>
          <p:nvPr/>
        </p:nvSpPr>
        <p:spPr>
          <a:xfrm xmlns:a="http://schemas.openxmlformats.org/drawingml/2006/main">
            <a:off x="695325" y="589597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76B65"/>
                </a:solidFill>
                <a:latin typeface="Arial"/>
                <a:ea typeface="Arial"/>
                <a:cs typeface="Arial"/>
              </a:defRPr>
            </a:defPPr>
          </a:lstStyle>
          <a:p xmlns:a="http://schemas.openxmlformats.org/drawingml/2006/main">
            <a:pPr algn="l">
              <a:lnSpc>
                <a:spcPct val="105000"/>
              </a:lnSpc>
              <a:buNone/>
              <a:defRPr sz="1275" b="1">
                <a:solidFill>
                  <a:srgbClr val="176B65"/>
                </a:solidFill>
                <a:latin typeface="Arial"/>
                <a:ea typeface="Arial"/>
                <a:cs typeface="Arial"/>
              </a:defRPr>
            </a:pPr>
            <a:r>
              <a:rPr sz="1275" b="1">
                <a:solidFill>
                  <a:srgbClr val="176B65"/>
                </a:solidFill>
                <a:latin typeface="Arial"/>
                <a:ea typeface="Arial"/>
                <a:cs typeface="Arial"/>
              </a:rPr>
              <a:t>Design principles</a:t>
            </a:r>
          </a:p>
        </p:txBody>
      </p:sp>
      <p:sp>
        <p:nvSpPr>
          <p:cNvPr id="35" name="Separate model services  ·  ">
            <a:extLst xmlns:a="http://schemas.openxmlformats.org/drawingml/2006/main">
              <a:ext uri="{FF2B5EF4-FFF2-40B4-BE49-F238E27FC236}">
                <a16:creationId xmlns:a16="http://schemas.microsoft.com/office/drawing/2014/main" id="{AF246022-7E50-4BF7-8AC6-54116C44A99B}"/>
              </a:ext>
            </a:extLst>
          </p:cNvPr>
          <p:cNvSpPr>
            <a:spLocks xmlns:a="http://schemas.openxmlformats.org/drawingml/2006/main" noGrp="1"/>
          </p:cNvSpPr>
          <p:nvPr/>
        </p:nvSpPr>
        <p:spPr>
          <a:xfrm xmlns:a="http://schemas.openxmlformats.org/drawingml/2006/main">
            <a:off x="2409825" y="5867400"/>
            <a:ext cx="9029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C74"/>
                </a:solidFill>
                <a:latin typeface="Arial"/>
                <a:ea typeface="Arial"/>
                <a:cs typeface="Arial"/>
              </a:defRPr>
            </a:defPPr>
          </a:lstStyle>
          <a:p xmlns:a="http://schemas.openxmlformats.org/drawingml/2006/main">
            <a:pPr algn="l">
              <a:lnSpc>
                <a:spcPct val="105000"/>
              </a:lnSpc>
              <a:buNone/>
              <a:defRPr sz="1275" b="0">
                <a:solidFill>
                  <a:srgbClr val="536C74"/>
                </a:solidFill>
                <a:latin typeface="Arial"/>
                <a:ea typeface="Arial"/>
                <a:cs typeface="Arial"/>
              </a:defRPr>
            </a:pPr>
            <a:r>
              <a:rPr sz="1275" b="0">
                <a:solidFill>
                  <a:srgbClr val="536C74"/>
                </a:solidFill>
                <a:latin typeface="Arial"/>
                <a:ea typeface="Arial"/>
                <a:cs typeface="Arial"/>
              </a:rPr>
              <a:t>Separate model services  ·  explain outputs  ·  request only needed data  ·  validate before clinical use</a:t>
            </a:r>
          </a:p>
        </p:txBody>
      </p:sp>
    </p:spTree>
    <p:extLst>
      <p:ext uri="{BB962C8B-B14F-4D97-AF65-F5344CB8AC3E}">
        <p14:creationId xmlns:p14="http://schemas.microsoft.com/office/powerpoint/2010/main" val="805497398"/>
      </p:ext>
    </p:extLst>
  </p:cSld>
</p:sld>
</file>

<file path=ppt/slides/slide5.xml><?xml version="1.0" encoding="utf-8"?>
<p:sld xmlns:p="http://schemas.openxmlformats.org/presentationml/2006/main">
  <p:cSld>
    <p:bg>
      <p:bgPr>
        <a:gradFill xmlns:a="http://schemas.openxmlformats.org/drawingml/2006/main">
          <a:gsLst>
            <a:gs pos="0">
              <a:srgbClr val="F3FAF7"/>
            </a:gs>
            <a:gs pos="100000">
              <a:srgbClr val="FBFCFC"/>
            </a:gs>
          </a:gsLst>
          <a:lin ang="0"/>
        </a:gradFill>
      </p:bgPr>
    </p:bg>
    <p:spTree>
      <p:nvGrpSpPr>
        <p:cNvPr id="1" name=""/>
        <p:cNvGrpSpPr/>
        <p:nvPr/>
      </p:nvGrpSpPr>
      <p:grpSpPr>
        <a:xfrm xmlns:a="http://schemas.openxmlformats.org/drawingml/2006/main"/>
      </p:grpSpPr>
      <p:sp>
        <p:nvSpPr>
          <p:cNvPr id="25" name="VITALIS  /  HEALTH TECH">
            <a:extLst xmlns:a="http://schemas.openxmlformats.org/drawingml/2006/main">
              <a:ext uri="{FF2B5EF4-FFF2-40B4-BE49-F238E27FC236}">
                <a16:creationId xmlns:a16="http://schemas.microsoft.com/office/drawing/2014/main" id="{A96EF779-2B9C-4185-80B7-0BFC99F02318}"/>
              </a:ext>
            </a:extLst>
          </p:cNvPr>
          <p:cNvSpPr>
            <a:spLocks xmlns:a="http://schemas.openxmlformats.org/drawingml/2006/main" noGrp="1"/>
          </p:cNvSpPr>
          <p:nvPr/>
        </p:nvSpPr>
        <p:spPr>
          <a:xfrm xmlns:a="http://schemas.openxmlformats.org/drawingml/2006/main">
            <a:off x="628650" y="28575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76B65"/>
                </a:solidFill>
                <a:latin typeface="Arial"/>
                <a:ea typeface="Arial"/>
                <a:cs typeface="Arial"/>
              </a:defRPr>
            </a:defPPr>
          </a:lstStyle>
          <a:p xmlns:a="http://schemas.openxmlformats.org/drawingml/2006/main">
            <a:pPr algn="l">
              <a:lnSpc>
                <a:spcPct val="105000"/>
              </a:lnSpc>
              <a:buNone/>
              <a:defRPr sz="1125" b="1">
                <a:solidFill>
                  <a:srgbClr val="176B65"/>
                </a:solidFill>
                <a:latin typeface="Arial"/>
                <a:ea typeface="Arial"/>
                <a:cs typeface="Arial"/>
              </a:defRPr>
            </a:pPr>
            <a:r>
              <a:rPr sz="1125" b="1">
                <a:solidFill>
                  <a:srgbClr val="176B65"/>
                </a:solidFill>
                <a:latin typeface="Arial"/>
                <a:ea typeface="Arial"/>
                <a:cs typeface="Arial"/>
              </a:rPr>
              <a:t>VITALIS  /  HEALTH TECH</a:t>
            </a:r>
          </a:p>
        </p:txBody>
      </p:sp>
      <p:sp>
        <p:nvSpPr>
          <p:cNvPr id="2" name="Feasibility, users, impact, ">
            <a:extLst xmlns:a="http://schemas.openxmlformats.org/drawingml/2006/main">
              <a:ext uri="{FF2B5EF4-FFF2-40B4-BE49-F238E27FC236}">
                <a16:creationId xmlns:a16="http://schemas.microsoft.com/office/drawing/2014/main" id="{2439DA09-6AB9-402D-A4F3-7054893EEADF}"/>
              </a:ext>
            </a:extLst>
          </p:cNvPr>
          <p:cNvSpPr>
            <a:spLocks xmlns:a="http://schemas.openxmlformats.org/drawingml/2006/main" noGrp="1"/>
          </p:cNvSpPr>
          <p:nvPr/>
        </p:nvSpPr>
        <p:spPr>
          <a:xfrm xmlns:a="http://schemas.openxmlformats.org/drawingml/2006/main">
            <a:off x="628650" y="571500"/>
            <a:ext cx="1085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000" b="1">
                <a:solidFill>
                  <a:srgbClr val="173B4A"/>
                </a:solidFill>
                <a:latin typeface="Arial"/>
                <a:ea typeface="Arial"/>
                <a:cs typeface="Arial"/>
              </a:defRPr>
            </a:defPPr>
          </a:lstStyle>
          <a:p xmlns:a="http://schemas.openxmlformats.org/drawingml/2006/main">
            <a:pPr algn="l">
              <a:lnSpc>
                <a:spcPct val="105000"/>
              </a:lnSpc>
              <a:buNone/>
              <a:defRPr sz="3000" b="1">
                <a:solidFill>
                  <a:srgbClr val="173B4A"/>
                </a:solidFill>
                <a:latin typeface="Arial"/>
                <a:ea typeface="Arial"/>
                <a:cs typeface="Arial"/>
              </a:defRPr>
            </a:pPr>
            <a:r>
              <a:rPr sz="3000" b="1">
                <a:solidFill>
                  <a:srgbClr val="173B4A"/>
                </a:solidFill>
                <a:latin typeface="Arial"/>
                <a:ea typeface="Arial"/>
                <a:cs typeface="Arial"/>
              </a:rPr>
              <a:t>Feasibility, users, impact, and next steps</a:t>
            </a:r>
          </a:p>
        </p:txBody>
      </p:sp>
      <p:sp>
        <p:nvSpPr>
          <p:cNvPr id="3" name="A practical path begins with">
            <a:extLst xmlns:a="http://schemas.openxmlformats.org/drawingml/2006/main">
              <a:ext uri="{FF2B5EF4-FFF2-40B4-BE49-F238E27FC236}">
                <a16:creationId xmlns:a16="http://schemas.microsoft.com/office/drawing/2014/main" id="{D6A0C329-FE90-4629-AD46-C682DDA59B1D}"/>
              </a:ext>
            </a:extLst>
          </p:cNvPr>
          <p:cNvSpPr>
            <a:spLocks xmlns:a="http://schemas.openxmlformats.org/drawingml/2006/main" noGrp="1"/>
          </p:cNvSpPr>
          <p:nvPr/>
        </p:nvSpPr>
        <p:spPr>
          <a:xfrm xmlns:a="http://schemas.openxmlformats.org/drawingml/2006/main">
            <a:off x="647700" y="1095375"/>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36C74"/>
                </a:solidFill>
                <a:latin typeface="Arial"/>
                <a:ea typeface="Arial"/>
                <a:cs typeface="Arial"/>
              </a:defRPr>
            </a:defPPr>
          </a:lstStyle>
          <a:p xmlns:a="http://schemas.openxmlformats.org/drawingml/2006/main">
            <a:pPr algn="l">
              <a:lnSpc>
                <a:spcPct val="105000"/>
              </a:lnSpc>
              <a:buNone/>
              <a:defRPr sz="1575" b="0">
                <a:solidFill>
                  <a:srgbClr val="536C74"/>
                </a:solidFill>
                <a:latin typeface="Arial"/>
                <a:ea typeface="Arial"/>
                <a:cs typeface="Arial"/>
              </a:defRPr>
            </a:pPr>
            <a:r>
              <a:rPr sz="1575" b="0">
                <a:solidFill>
                  <a:srgbClr val="536C74"/>
                </a:solidFill>
                <a:latin typeface="Arial"/>
                <a:ea typeface="Arial"/>
                <a:cs typeface="Arial"/>
              </a:rPr>
              <a:t>A practical path begins with decision support and earns trust through validation</a:t>
            </a:r>
          </a:p>
        </p:txBody>
      </p:sp>
      <p:sp>
        <p:nvSpPr>
          <p:cNvPr id="4" name="">
            <a:extLst xmlns:a="http://schemas.openxmlformats.org/drawingml/2006/main">
              <a:ext uri="{FF2B5EF4-FFF2-40B4-BE49-F238E27FC236}">
                <a16:creationId xmlns:a16="http://schemas.microsoft.com/office/drawing/2014/main" id="{2D66A1D7-A10E-4481-8600-97B66B643D1E}"/>
              </a:ext>
            </a:extLst>
          </p:cNvPr>
          <p:cNvSpPr>
            <a:spLocks xmlns:a="http://schemas.openxmlformats.org/drawingml/2006/main" noGrp="1"/>
          </p:cNvSpPr>
          <p:nvPr/>
        </p:nvSpPr>
        <p:spPr>
          <a:xfrm xmlns:a="http://schemas.openxmlformats.org/drawingml/2006/main">
            <a:off x="628650" y="6400800"/>
            <a:ext cx="10934700" cy="9525"/>
          </a:xfrm>
          <a:prstGeom xmlns:a="http://schemas.openxmlformats.org/drawingml/2006/main" prst="rect">
            <a:avLst/>
          </a:prstGeom>
          <a:solidFill xmlns:a="http://schemas.openxmlformats.org/drawingml/2006/main">
            <a:srgbClr val="D6E5E1"/>
          </a:solidFill>
          <a:ln xmlns:a="http://schemas.openxmlformats.org/drawingml/2006/main" w="0">
            <a:noFill/>
            <a:prstDash val="solid"/>
          </a:ln>
        </p:spPr>
      </p:sp>
      <p:sp>
        <p:nvSpPr>
          <p:cNvPr id="5" name="VITALIS  |  HACK X 2026">
            <a:extLst xmlns:a="http://schemas.openxmlformats.org/drawingml/2006/main">
              <a:ext uri="{FF2B5EF4-FFF2-40B4-BE49-F238E27FC236}">
                <a16:creationId xmlns:a16="http://schemas.microsoft.com/office/drawing/2014/main" id="{AC2B7BE2-2BA6-4494-A09F-E5A18E5653C8}"/>
              </a:ext>
            </a:extLst>
          </p:cNvPr>
          <p:cNvSpPr>
            <a:spLocks xmlns:a="http://schemas.openxmlformats.org/drawingml/2006/main" noGrp="1"/>
          </p:cNvSpPr>
          <p:nvPr/>
        </p:nvSpPr>
        <p:spPr>
          <a:xfrm xmlns:a="http://schemas.openxmlformats.org/drawingml/2006/main">
            <a:off x="647700" y="64770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36C74"/>
                </a:solidFill>
                <a:latin typeface="Arial"/>
                <a:ea typeface="Arial"/>
                <a:cs typeface="Arial"/>
              </a:defRPr>
            </a:defPPr>
          </a:lstStyle>
          <a:p xmlns:a="http://schemas.openxmlformats.org/drawingml/2006/main">
            <a:pPr algn="l">
              <a:lnSpc>
                <a:spcPct val="105000"/>
              </a:lnSpc>
              <a:buNone/>
              <a:defRPr sz="975" b="1">
                <a:solidFill>
                  <a:srgbClr val="536C74"/>
                </a:solidFill>
                <a:latin typeface="Arial"/>
                <a:ea typeface="Arial"/>
                <a:cs typeface="Arial"/>
              </a:defRPr>
            </a:pPr>
            <a:r>
              <a:rPr sz="975" b="1">
                <a:solidFill>
                  <a:srgbClr val="536C74"/>
                </a:solidFill>
                <a:latin typeface="Arial"/>
                <a:ea typeface="Arial"/>
                <a:cs typeface="Arial"/>
              </a:rPr>
              <a:t>VITALIS  |  HACK X 2026</a:t>
            </a:r>
          </a:p>
        </p:txBody>
      </p:sp>
      <p:sp>
        <p:nvSpPr>
          <p:cNvPr id="6" name="05  /  06">
            <a:extLst xmlns:a="http://schemas.openxmlformats.org/drawingml/2006/main">
              <a:ext uri="{FF2B5EF4-FFF2-40B4-BE49-F238E27FC236}">
                <a16:creationId xmlns:a16="http://schemas.microsoft.com/office/drawing/2014/main" id="{EEA28D86-5773-4E11-A9DF-E2F4C4CE2EE0}"/>
              </a:ext>
            </a:extLst>
          </p:cNvPr>
          <p:cNvSpPr>
            <a:spLocks xmlns:a="http://schemas.openxmlformats.org/drawingml/2006/main" noGrp="1"/>
          </p:cNvSpPr>
          <p:nvPr/>
        </p:nvSpPr>
        <p:spPr>
          <a:xfrm xmlns:a="http://schemas.openxmlformats.org/drawingml/2006/main">
            <a:off x="10687050" y="647700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C74"/>
                </a:solidFill>
                <a:latin typeface="Arial"/>
                <a:ea typeface="Arial"/>
                <a:cs typeface="Arial"/>
              </a:defRPr>
            </a:defPPr>
          </a:lstStyle>
          <a:p xmlns:a="http://schemas.openxmlformats.org/drawingml/2006/main">
            <a:pPr algn="r">
              <a:lnSpc>
                <a:spcPct val="105000"/>
              </a:lnSpc>
              <a:buNone/>
              <a:defRPr sz="975" b="1">
                <a:solidFill>
                  <a:srgbClr val="536C74"/>
                </a:solidFill>
                <a:latin typeface="Arial"/>
                <a:ea typeface="Arial"/>
                <a:cs typeface="Arial"/>
              </a:defRPr>
            </a:pPr>
            <a:r>
              <a:rPr sz="975" b="1">
                <a:solidFill>
                  <a:srgbClr val="536C74"/>
                </a:solidFill>
                <a:latin typeface="Arial"/>
                <a:ea typeface="Arial"/>
                <a:cs typeface="Arial"/>
              </a:rPr>
              <a:t>05  /  06</a:t>
            </a:r>
          </a:p>
        </p:txBody>
      </p:sp>
      <p:sp>
        <p:nvSpPr>
          <p:cNvPr id="7" name="">
            <a:extLst xmlns:a="http://schemas.openxmlformats.org/drawingml/2006/main">
              <a:ext uri="{FF2B5EF4-FFF2-40B4-BE49-F238E27FC236}">
                <a16:creationId xmlns:a16="http://schemas.microsoft.com/office/drawing/2014/main" id="{B59990A4-35AA-4AB7-905C-C4EBDD0C3235}"/>
              </a:ext>
            </a:extLst>
          </p:cNvPr>
          <p:cNvSpPr>
            <a:spLocks xmlns:a="http://schemas.openxmlformats.org/drawingml/2006/main" noGrp="1"/>
          </p:cNvSpPr>
          <p:nvPr/>
        </p:nvSpPr>
        <p:spPr>
          <a:xfrm xmlns:a="http://schemas.openxmlformats.org/drawingml/2006/main">
            <a:off x="666750" y="1809750"/>
            <a:ext cx="2514600" cy="34575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8" name="FEASIBILITY">
            <a:extLst xmlns:a="http://schemas.openxmlformats.org/drawingml/2006/main">
              <a:ext uri="{FF2B5EF4-FFF2-40B4-BE49-F238E27FC236}">
                <a16:creationId xmlns:a16="http://schemas.microsoft.com/office/drawing/2014/main" id="{73018196-0A18-4ACC-8B6E-B1206D60D02A}"/>
              </a:ext>
            </a:extLst>
          </p:cNvPr>
          <p:cNvSpPr>
            <a:spLocks xmlns:a="http://schemas.openxmlformats.org/drawingml/2006/main" noGrp="1"/>
          </p:cNvSpPr>
          <p:nvPr/>
        </p:nvSpPr>
        <p:spPr>
          <a:xfrm xmlns:a="http://schemas.openxmlformats.org/drawingml/2006/main">
            <a:off x="838200" y="2009775"/>
            <a:ext cx="2171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176B65"/>
                </a:solidFill>
                <a:latin typeface="Arial"/>
                <a:ea typeface="Arial"/>
                <a:cs typeface="Arial"/>
              </a:defRPr>
            </a:defPPr>
          </a:lstStyle>
          <a:p xmlns:a="http://schemas.openxmlformats.org/drawingml/2006/main">
            <a:pPr algn="l">
              <a:lnSpc>
                <a:spcPct val="105000"/>
              </a:lnSpc>
              <a:buNone/>
              <a:defRPr sz="1050" b="1">
                <a:solidFill>
                  <a:srgbClr val="176B65"/>
                </a:solidFill>
                <a:latin typeface="Arial"/>
                <a:ea typeface="Arial"/>
                <a:cs typeface="Arial"/>
              </a:defRPr>
            </a:pPr>
            <a:r>
              <a:rPr sz="1050" b="1">
                <a:solidFill>
                  <a:srgbClr val="176B65"/>
                </a:solidFill>
                <a:latin typeface="Arial"/>
                <a:ea typeface="Arial"/>
                <a:cs typeface="Arial"/>
              </a:rPr>
              <a:t>FEASIBILITY</a:t>
            </a:r>
          </a:p>
        </p:txBody>
      </p:sp>
      <p:sp>
        <p:nvSpPr>
          <p:cNvPr id="9" name="Build in modules">
            <a:extLst xmlns:a="http://schemas.openxmlformats.org/drawingml/2006/main">
              <a:ext uri="{FF2B5EF4-FFF2-40B4-BE49-F238E27FC236}">
                <a16:creationId xmlns:a16="http://schemas.microsoft.com/office/drawing/2014/main" id="{5EC9298C-7926-44B3-A1A2-BF3C9AC21622}"/>
              </a:ext>
            </a:extLst>
          </p:cNvPr>
          <p:cNvSpPr>
            <a:spLocks xmlns:a="http://schemas.openxmlformats.org/drawingml/2006/main" noGrp="1"/>
          </p:cNvSpPr>
          <p:nvPr/>
        </p:nvSpPr>
        <p:spPr>
          <a:xfrm xmlns:a="http://schemas.openxmlformats.org/drawingml/2006/main">
            <a:off x="838200" y="2390775"/>
            <a:ext cx="2171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3B4A"/>
                </a:solidFill>
                <a:latin typeface="Arial"/>
                <a:ea typeface="Arial"/>
                <a:cs typeface="Arial"/>
              </a:defRPr>
            </a:defPPr>
          </a:lstStyle>
          <a:p xmlns:a="http://schemas.openxmlformats.org/drawingml/2006/main">
            <a:pPr algn="l">
              <a:lnSpc>
                <a:spcPct val="105000"/>
              </a:lnSpc>
              <a:buNone/>
              <a:defRPr sz="1800" b="1">
                <a:solidFill>
                  <a:srgbClr val="173B4A"/>
                </a:solidFill>
                <a:latin typeface="Arial"/>
                <a:ea typeface="Arial"/>
                <a:cs typeface="Arial"/>
              </a:defRPr>
            </a:pPr>
            <a:r>
              <a:rPr sz="1800" b="1">
                <a:solidFill>
                  <a:srgbClr val="173B4A"/>
                </a:solidFill>
                <a:latin typeface="Arial"/>
                <a:ea typeface="Arial"/>
                <a:cs typeface="Arial"/>
              </a:rPr>
              <a:t>Build in modules</a:t>
            </a:r>
          </a:p>
        </p:txBody>
      </p:sp>
      <p:sp>
        <p:nvSpPr>
          <p:cNvPr id="10" name="Web client&#10;Separate risk and">
            <a:extLst xmlns:a="http://schemas.openxmlformats.org/drawingml/2006/main">
              <a:ext uri="{FF2B5EF4-FFF2-40B4-BE49-F238E27FC236}">
                <a16:creationId xmlns:a16="http://schemas.microsoft.com/office/drawing/2014/main" id="{0875C253-EF6A-46F9-B8AD-8FE1A721A2A4}"/>
              </a:ext>
            </a:extLst>
          </p:cNvPr>
          <p:cNvSpPr>
            <a:spLocks xmlns:a="http://schemas.openxmlformats.org/drawingml/2006/main" noGrp="1"/>
          </p:cNvSpPr>
          <p:nvPr/>
        </p:nvSpPr>
        <p:spPr>
          <a:xfrm xmlns:a="http://schemas.openxmlformats.org/drawingml/2006/main">
            <a:off x="838200" y="3105150"/>
            <a:ext cx="2171700" cy="1971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36C74"/>
                </a:solidFill>
                <a:latin typeface="Arial"/>
                <a:ea typeface="Arial"/>
                <a:cs typeface="Arial"/>
              </a:defRPr>
            </a:defPPr>
          </a:lstStyle>
          <a:p xmlns:a="http://schemas.openxmlformats.org/drawingml/2006/main">
            <a:pPr algn="l">
              <a:lnSpc>
                <a:spcPct val="113000"/>
              </a:lnSpc>
              <a:buNone/>
              <a:defRPr sz="1425" b="0">
                <a:solidFill>
                  <a:srgbClr val="536C74"/>
                </a:solidFill>
                <a:latin typeface="Arial"/>
                <a:ea typeface="Arial"/>
                <a:cs typeface="Arial"/>
              </a:defRPr>
            </a:pPr>
            <a:r>
              <a:rPr sz="1425" b="0">
                <a:solidFill>
                  <a:srgbClr val="536C74"/>
                </a:solidFill>
                <a:latin typeface="Arial"/>
                <a:ea typeface="Arial"/>
                <a:cs typeface="Arial"/>
              </a:rPr>
              <a:t>Web client</a:t>
            </a:r>
          </a:p>
          <a:p xmlns:a="http://schemas.openxmlformats.org/drawingml/2006/main">
            <a:pPr algn="l">
              <a:lnSpc>
                <a:spcPct val="113000"/>
              </a:lnSpc>
              <a:buNone/>
              <a:defRPr sz="1425" b="0">
                <a:solidFill>
                  <a:srgbClr val="536C74"/>
                </a:solidFill>
                <a:latin typeface="Arial"/>
                <a:ea typeface="Arial"/>
                <a:cs typeface="Arial"/>
              </a:defRPr>
            </a:pPr>
            <a:r>
              <a:rPr sz="1425" b="0">
                <a:solidFill>
                  <a:srgbClr val="536C74"/>
                </a:solidFill>
                <a:latin typeface="Arial"/>
                <a:ea typeface="Arial"/>
                <a:cs typeface="Arial"/>
              </a:rPr>
              <a:t>Separate risk and image services</a:t>
            </a:r>
          </a:p>
          <a:p xmlns:a="http://schemas.openxmlformats.org/drawingml/2006/main">
            <a:pPr algn="l">
              <a:lnSpc>
                <a:spcPct val="113000"/>
              </a:lnSpc>
              <a:buNone/>
              <a:defRPr sz="1425" b="0">
                <a:solidFill>
                  <a:srgbClr val="536C74"/>
                </a:solidFill>
                <a:latin typeface="Arial"/>
                <a:ea typeface="Arial"/>
                <a:cs typeface="Arial"/>
              </a:defRPr>
            </a:pPr>
            <a:r>
              <a:rPr sz="1425" b="0">
                <a:solidFill>
                  <a:srgbClr val="536C74"/>
                </a:solidFill>
                <a:latin typeface="Arial"/>
                <a:ea typeface="Arial"/>
                <a:cs typeface="Arial"/>
              </a:rPr>
              <a:t>Structured model outputs</a:t>
            </a:r>
          </a:p>
          <a:p xmlns:a="http://schemas.openxmlformats.org/drawingml/2006/main">
            <a:pPr algn="l">
              <a:lnSpc>
                <a:spcPct val="113000"/>
              </a:lnSpc>
              <a:buNone/>
              <a:defRPr sz="1425" b="0">
                <a:solidFill>
                  <a:srgbClr val="536C74"/>
                </a:solidFill>
                <a:latin typeface="Arial"/>
                <a:ea typeface="Arial"/>
                <a:cs typeface="Arial"/>
              </a:defRPr>
            </a:pPr>
            <a:r>
              <a:rPr sz="1425" b="0">
                <a:solidFill>
                  <a:srgbClr val="536C74"/>
                </a:solidFill>
                <a:latin typeface="Arial"/>
                <a:ea typeface="Arial"/>
                <a:cs typeface="Arial"/>
              </a:rPr>
              <a:t>Staged scope for a hackathon</a:t>
            </a:r>
          </a:p>
        </p:txBody>
      </p:sp>
      <p:sp>
        <p:nvSpPr>
          <p:cNvPr id="11" name="">
            <a:extLst xmlns:a="http://schemas.openxmlformats.org/drawingml/2006/main">
              <a:ext uri="{FF2B5EF4-FFF2-40B4-BE49-F238E27FC236}">
                <a16:creationId xmlns:a16="http://schemas.microsoft.com/office/drawing/2014/main" id="{62C16D97-DF98-4F59-ADFA-318552F1EA38}"/>
              </a:ext>
            </a:extLst>
          </p:cNvPr>
          <p:cNvSpPr>
            <a:spLocks xmlns:a="http://schemas.openxmlformats.org/drawingml/2006/main" noGrp="1"/>
          </p:cNvSpPr>
          <p:nvPr/>
        </p:nvSpPr>
        <p:spPr>
          <a:xfrm xmlns:a="http://schemas.openxmlformats.org/drawingml/2006/main">
            <a:off x="3390900" y="1809750"/>
            <a:ext cx="2514600" cy="3457575"/>
          </a:xfrm>
          <a:prstGeom xmlns:a="http://schemas.openxmlformats.org/drawingml/2006/main" prst="rect">
            <a:avLst/>
          </a:prstGeom>
          <a:solidFill xmlns:a="http://schemas.openxmlformats.org/drawingml/2006/main">
            <a:srgbClr val="E5F4EF"/>
          </a:solidFill>
          <a:ln xmlns:a="http://schemas.openxmlformats.org/drawingml/2006/main" w="0">
            <a:noFill/>
            <a:prstDash val="solid"/>
          </a:ln>
        </p:spPr>
      </p:sp>
      <p:sp>
        <p:nvSpPr>
          <p:cNvPr id="12" name="WHO BENEFITS">
            <a:extLst xmlns:a="http://schemas.openxmlformats.org/drawingml/2006/main">
              <a:ext uri="{FF2B5EF4-FFF2-40B4-BE49-F238E27FC236}">
                <a16:creationId xmlns:a16="http://schemas.microsoft.com/office/drawing/2014/main" id="{DEC0BDD1-F137-47CF-A8C5-EF7AE2874370}"/>
              </a:ext>
            </a:extLst>
          </p:cNvPr>
          <p:cNvSpPr>
            <a:spLocks xmlns:a="http://schemas.openxmlformats.org/drawingml/2006/main" noGrp="1"/>
          </p:cNvSpPr>
          <p:nvPr/>
        </p:nvSpPr>
        <p:spPr>
          <a:xfrm xmlns:a="http://schemas.openxmlformats.org/drawingml/2006/main">
            <a:off x="3562350" y="2009775"/>
            <a:ext cx="2171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176B65"/>
                </a:solidFill>
                <a:latin typeface="Arial"/>
                <a:ea typeface="Arial"/>
                <a:cs typeface="Arial"/>
              </a:defRPr>
            </a:defPPr>
          </a:lstStyle>
          <a:p xmlns:a="http://schemas.openxmlformats.org/drawingml/2006/main">
            <a:pPr algn="l">
              <a:lnSpc>
                <a:spcPct val="105000"/>
              </a:lnSpc>
              <a:buNone/>
              <a:defRPr sz="1050" b="1">
                <a:solidFill>
                  <a:srgbClr val="176B65"/>
                </a:solidFill>
                <a:latin typeface="Arial"/>
                <a:ea typeface="Arial"/>
                <a:cs typeface="Arial"/>
              </a:defRPr>
            </a:pPr>
            <a:r>
              <a:rPr sz="1050" b="1">
                <a:solidFill>
                  <a:srgbClr val="176B65"/>
                </a:solidFill>
                <a:latin typeface="Arial"/>
                <a:ea typeface="Arial"/>
                <a:cs typeface="Arial"/>
              </a:rPr>
              <a:t>WHO BENEFITS</a:t>
            </a:r>
          </a:p>
        </p:txBody>
      </p:sp>
      <p:sp>
        <p:nvSpPr>
          <p:cNvPr id="13" name="Frequent users">
            <a:extLst xmlns:a="http://schemas.openxmlformats.org/drawingml/2006/main">
              <a:ext uri="{FF2B5EF4-FFF2-40B4-BE49-F238E27FC236}">
                <a16:creationId xmlns:a16="http://schemas.microsoft.com/office/drawing/2014/main" id="{E3227157-0DEA-40B6-B7EC-EB0D29FE457B}"/>
              </a:ext>
            </a:extLst>
          </p:cNvPr>
          <p:cNvSpPr>
            <a:spLocks xmlns:a="http://schemas.openxmlformats.org/drawingml/2006/main" noGrp="1"/>
          </p:cNvSpPr>
          <p:nvPr/>
        </p:nvSpPr>
        <p:spPr>
          <a:xfrm xmlns:a="http://schemas.openxmlformats.org/drawingml/2006/main">
            <a:off x="3562350" y="2390775"/>
            <a:ext cx="2171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3B4A"/>
                </a:solidFill>
                <a:latin typeface="Arial"/>
                <a:ea typeface="Arial"/>
                <a:cs typeface="Arial"/>
              </a:defRPr>
            </a:defPPr>
          </a:lstStyle>
          <a:p xmlns:a="http://schemas.openxmlformats.org/drawingml/2006/main">
            <a:pPr algn="l">
              <a:lnSpc>
                <a:spcPct val="105000"/>
              </a:lnSpc>
              <a:buNone/>
              <a:defRPr sz="1800" b="1">
                <a:solidFill>
                  <a:srgbClr val="173B4A"/>
                </a:solidFill>
                <a:latin typeface="Arial"/>
                <a:ea typeface="Arial"/>
                <a:cs typeface="Arial"/>
              </a:defRPr>
            </a:pPr>
            <a:r>
              <a:rPr sz="1800" b="1">
                <a:solidFill>
                  <a:srgbClr val="173B4A"/>
                </a:solidFill>
                <a:latin typeface="Arial"/>
                <a:ea typeface="Arial"/>
                <a:cs typeface="Arial"/>
              </a:rPr>
              <a:t>Frequent users</a:t>
            </a:r>
          </a:p>
        </p:txBody>
      </p:sp>
      <p:sp>
        <p:nvSpPr>
          <p:cNvPr id="14" name="People managing ongoing life">
            <a:extLst xmlns:a="http://schemas.openxmlformats.org/drawingml/2006/main">
              <a:ext uri="{FF2B5EF4-FFF2-40B4-BE49-F238E27FC236}">
                <a16:creationId xmlns:a16="http://schemas.microsoft.com/office/drawing/2014/main" id="{7806F46C-E4D1-40E0-AFA8-472A95BDD538}"/>
              </a:ext>
            </a:extLst>
          </p:cNvPr>
          <p:cNvSpPr>
            <a:spLocks xmlns:a="http://schemas.openxmlformats.org/drawingml/2006/main" noGrp="1"/>
          </p:cNvSpPr>
          <p:nvPr/>
        </p:nvSpPr>
        <p:spPr>
          <a:xfrm xmlns:a="http://schemas.openxmlformats.org/drawingml/2006/main">
            <a:off x="3562350" y="3105150"/>
            <a:ext cx="2171700" cy="1971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36C74"/>
                </a:solidFill>
                <a:latin typeface="Arial"/>
                <a:ea typeface="Arial"/>
                <a:cs typeface="Arial"/>
              </a:defRPr>
            </a:defPPr>
          </a:lstStyle>
          <a:p xmlns:a="http://schemas.openxmlformats.org/drawingml/2006/main">
            <a:pPr algn="l">
              <a:lnSpc>
                <a:spcPct val="113000"/>
              </a:lnSpc>
              <a:buNone/>
              <a:defRPr sz="1425" b="0">
                <a:solidFill>
                  <a:srgbClr val="536C74"/>
                </a:solidFill>
                <a:latin typeface="Arial"/>
                <a:ea typeface="Arial"/>
                <a:cs typeface="Arial"/>
              </a:defRPr>
            </a:pPr>
            <a:r>
              <a:rPr sz="1425" b="0">
                <a:solidFill>
                  <a:srgbClr val="536C74"/>
                </a:solidFill>
                <a:latin typeface="Arial"/>
                <a:ea typeface="Arial"/>
                <a:cs typeface="Arial"/>
              </a:rPr>
              <a:t>People managing ongoing lifestyle risks who want clearer food context</a:t>
            </a:r>
          </a:p>
          <a:p xmlns:a="http://schemas.openxmlformats.org/drawingml/2006/main">
            <a:r>
              <a:t/>
            </a:r>
          </a:p>
          <a:p xmlns:a="http://schemas.openxmlformats.org/drawingml/2006/main">
            <a:pPr algn="l">
              <a:lnSpc>
                <a:spcPct val="113000"/>
              </a:lnSpc>
              <a:buNone/>
              <a:defRPr sz="1425" b="0">
                <a:solidFill>
                  <a:srgbClr val="536C74"/>
                </a:solidFill>
                <a:latin typeface="Arial"/>
                <a:ea typeface="Arial"/>
                <a:cs typeface="Arial"/>
              </a:defRPr>
            </a:pPr>
            <a:r>
              <a:rPr sz="1425" b="0">
                <a:solidFill>
                  <a:srgbClr val="536C74"/>
                </a:solidFill>
                <a:latin typeface="Arial"/>
                <a:ea typeface="Arial"/>
                <a:cs typeface="Arial"/>
              </a:rPr>
              <a:t>Family members comparing labels for shared dietary needs</a:t>
            </a:r>
          </a:p>
        </p:txBody>
      </p:sp>
      <p:sp>
        <p:nvSpPr>
          <p:cNvPr id="15" name="">
            <a:extLst xmlns:a="http://schemas.openxmlformats.org/drawingml/2006/main">
              <a:ext uri="{FF2B5EF4-FFF2-40B4-BE49-F238E27FC236}">
                <a16:creationId xmlns:a16="http://schemas.microsoft.com/office/drawing/2014/main" id="{3F7D961A-ABCC-46E1-9395-9276B6AC360D}"/>
              </a:ext>
            </a:extLst>
          </p:cNvPr>
          <p:cNvSpPr>
            <a:spLocks xmlns:a="http://schemas.openxmlformats.org/drawingml/2006/main" noGrp="1"/>
          </p:cNvSpPr>
          <p:nvPr/>
        </p:nvSpPr>
        <p:spPr>
          <a:xfrm xmlns:a="http://schemas.openxmlformats.org/drawingml/2006/main">
            <a:off x="6115050" y="1809750"/>
            <a:ext cx="2514600" cy="3457575"/>
          </a:xfrm>
          <a:prstGeom xmlns:a="http://schemas.openxmlformats.org/drawingml/2006/main" prst="rect">
            <a:avLst/>
          </a:prstGeom>
          <a:solidFill xmlns:a="http://schemas.openxmlformats.org/drawingml/2006/main">
            <a:srgbClr val="EEEAF7"/>
          </a:solidFill>
          <a:ln xmlns:a="http://schemas.openxmlformats.org/drawingml/2006/main" w="0">
            <a:noFill/>
            <a:prstDash val="solid"/>
          </a:ln>
        </p:spPr>
      </p:sp>
      <p:sp>
        <p:nvSpPr>
          <p:cNvPr id="16" name="POTENTIAL IMPACT">
            <a:extLst xmlns:a="http://schemas.openxmlformats.org/drawingml/2006/main">
              <a:ext uri="{FF2B5EF4-FFF2-40B4-BE49-F238E27FC236}">
                <a16:creationId xmlns:a16="http://schemas.microsoft.com/office/drawing/2014/main" id="{9C3036F9-9E28-4B9D-8441-C1CFA6777428}"/>
              </a:ext>
            </a:extLst>
          </p:cNvPr>
          <p:cNvSpPr>
            <a:spLocks xmlns:a="http://schemas.openxmlformats.org/drawingml/2006/main" noGrp="1"/>
          </p:cNvSpPr>
          <p:nvPr/>
        </p:nvSpPr>
        <p:spPr>
          <a:xfrm xmlns:a="http://schemas.openxmlformats.org/drawingml/2006/main">
            <a:off x="6286500" y="2009775"/>
            <a:ext cx="2171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176B65"/>
                </a:solidFill>
                <a:latin typeface="Arial"/>
                <a:ea typeface="Arial"/>
                <a:cs typeface="Arial"/>
              </a:defRPr>
            </a:defPPr>
          </a:lstStyle>
          <a:p xmlns:a="http://schemas.openxmlformats.org/drawingml/2006/main">
            <a:pPr algn="l">
              <a:lnSpc>
                <a:spcPct val="105000"/>
              </a:lnSpc>
              <a:buNone/>
              <a:defRPr sz="1050" b="1">
                <a:solidFill>
                  <a:srgbClr val="176B65"/>
                </a:solidFill>
                <a:latin typeface="Arial"/>
                <a:ea typeface="Arial"/>
                <a:cs typeface="Arial"/>
              </a:defRPr>
            </a:pPr>
            <a:r>
              <a:rPr sz="1050" b="1">
                <a:solidFill>
                  <a:srgbClr val="176B65"/>
                </a:solidFill>
                <a:latin typeface="Arial"/>
                <a:ea typeface="Arial"/>
                <a:cs typeface="Arial"/>
              </a:rPr>
              <a:t>POTENTIAL IMPACT</a:t>
            </a:r>
          </a:p>
        </p:txBody>
      </p:sp>
      <p:sp>
        <p:nvSpPr>
          <p:cNvPr id="17" name="Everyday decisions">
            <a:extLst xmlns:a="http://schemas.openxmlformats.org/drawingml/2006/main">
              <a:ext uri="{FF2B5EF4-FFF2-40B4-BE49-F238E27FC236}">
                <a16:creationId xmlns:a16="http://schemas.microsoft.com/office/drawing/2014/main" id="{61A25009-99CA-4FB6-B743-CA6FC1068D9B}"/>
              </a:ext>
            </a:extLst>
          </p:cNvPr>
          <p:cNvSpPr>
            <a:spLocks xmlns:a="http://schemas.openxmlformats.org/drawingml/2006/main" noGrp="1"/>
          </p:cNvSpPr>
          <p:nvPr/>
        </p:nvSpPr>
        <p:spPr>
          <a:xfrm xmlns:a="http://schemas.openxmlformats.org/drawingml/2006/main">
            <a:off x="6286500" y="2390775"/>
            <a:ext cx="2171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3B4A"/>
                </a:solidFill>
                <a:latin typeface="Arial"/>
                <a:ea typeface="Arial"/>
                <a:cs typeface="Arial"/>
              </a:defRPr>
            </a:defPPr>
          </a:lstStyle>
          <a:p xmlns:a="http://schemas.openxmlformats.org/drawingml/2006/main">
            <a:pPr algn="l">
              <a:lnSpc>
                <a:spcPct val="105000"/>
              </a:lnSpc>
              <a:buNone/>
              <a:defRPr sz="1800" b="1">
                <a:solidFill>
                  <a:srgbClr val="173B4A"/>
                </a:solidFill>
                <a:latin typeface="Arial"/>
                <a:ea typeface="Arial"/>
                <a:cs typeface="Arial"/>
              </a:defRPr>
            </a:pPr>
            <a:r>
              <a:rPr sz="1800" b="1">
                <a:solidFill>
                  <a:srgbClr val="173B4A"/>
                </a:solidFill>
                <a:latin typeface="Arial"/>
                <a:ea typeface="Arial"/>
                <a:cs typeface="Arial"/>
              </a:rPr>
              <a:t>Everyday decisions</a:t>
            </a:r>
          </a:p>
        </p:txBody>
      </p:sp>
      <p:sp>
        <p:nvSpPr>
          <p:cNvPr id="18" name="Make health information easi">
            <a:extLst xmlns:a="http://schemas.openxmlformats.org/drawingml/2006/main">
              <a:ext uri="{FF2B5EF4-FFF2-40B4-BE49-F238E27FC236}">
                <a16:creationId xmlns:a16="http://schemas.microsoft.com/office/drawing/2014/main" id="{FF2D5111-B284-460A-92E0-66936D5E4BD4}"/>
              </a:ext>
            </a:extLst>
          </p:cNvPr>
          <p:cNvSpPr>
            <a:spLocks xmlns:a="http://schemas.openxmlformats.org/drawingml/2006/main" noGrp="1"/>
          </p:cNvSpPr>
          <p:nvPr/>
        </p:nvSpPr>
        <p:spPr>
          <a:xfrm xmlns:a="http://schemas.openxmlformats.org/drawingml/2006/main">
            <a:off x="6286500" y="3105150"/>
            <a:ext cx="2171700" cy="1971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36C74"/>
                </a:solidFill>
                <a:latin typeface="Arial"/>
                <a:ea typeface="Arial"/>
                <a:cs typeface="Arial"/>
              </a:defRPr>
            </a:defPPr>
          </a:lstStyle>
          <a:p xmlns:a="http://schemas.openxmlformats.org/drawingml/2006/main">
            <a:pPr algn="l">
              <a:lnSpc>
                <a:spcPct val="113000"/>
              </a:lnSpc>
              <a:buNone/>
              <a:defRPr sz="1425" b="0">
                <a:solidFill>
                  <a:srgbClr val="536C74"/>
                </a:solidFill>
                <a:latin typeface="Arial"/>
                <a:ea typeface="Arial"/>
                <a:cs typeface="Arial"/>
              </a:defRPr>
            </a:pPr>
            <a:r>
              <a:rPr sz="1425" b="0">
                <a:solidFill>
                  <a:srgbClr val="536C74"/>
                </a:solidFill>
                <a:latin typeface="Arial"/>
                <a:ea typeface="Arial"/>
                <a:cs typeface="Arial"/>
              </a:rPr>
              <a:t>Make health information easier to interpret</a:t>
            </a:r>
          </a:p>
          <a:p xmlns:a="http://schemas.openxmlformats.org/drawingml/2006/main">
            <a:r>
              <a:t/>
            </a:r>
          </a:p>
          <a:p xmlns:a="http://schemas.openxmlformats.org/drawingml/2006/main">
            <a:pPr algn="l">
              <a:lnSpc>
                <a:spcPct val="113000"/>
              </a:lnSpc>
              <a:buNone/>
              <a:defRPr sz="1425" b="0">
                <a:solidFill>
                  <a:srgbClr val="536C74"/>
                </a:solidFill>
                <a:latin typeface="Arial"/>
                <a:ea typeface="Arial"/>
                <a:cs typeface="Arial"/>
              </a:defRPr>
            </a:pPr>
            <a:r>
              <a:rPr sz="1425" b="0">
                <a:solidFill>
                  <a:srgbClr val="536C74"/>
                </a:solidFill>
                <a:latin typeface="Arial"/>
                <a:ea typeface="Arial"/>
                <a:cs typeface="Arial"/>
              </a:rPr>
              <a:t>Explain label details in relation to a user profile</a:t>
            </a:r>
          </a:p>
          <a:p xmlns:a="http://schemas.openxmlformats.org/drawingml/2006/main">
            <a:r>
              <a:t/>
            </a:r>
          </a:p>
          <a:p xmlns:a="http://schemas.openxmlformats.org/drawingml/2006/main">
            <a:pPr algn="l">
              <a:lnSpc>
                <a:spcPct val="113000"/>
              </a:lnSpc>
              <a:buNone/>
              <a:defRPr sz="1425" b="0">
                <a:solidFill>
                  <a:srgbClr val="536C74"/>
                </a:solidFill>
                <a:latin typeface="Arial"/>
                <a:ea typeface="Arial"/>
                <a:cs typeface="Arial"/>
              </a:defRPr>
            </a:pPr>
            <a:r>
              <a:rPr sz="1425" b="0">
                <a:solidFill>
                  <a:srgbClr val="536C74"/>
                </a:solidFill>
                <a:latin typeface="Arial"/>
                <a:ea typeface="Arial"/>
                <a:cs typeface="Arial"/>
              </a:rPr>
              <a:t>Support preventive awareness</a:t>
            </a:r>
          </a:p>
        </p:txBody>
      </p:sp>
      <p:sp>
        <p:nvSpPr>
          <p:cNvPr id="19" name="">
            <a:extLst xmlns:a="http://schemas.openxmlformats.org/drawingml/2006/main">
              <a:ext uri="{FF2B5EF4-FFF2-40B4-BE49-F238E27FC236}">
                <a16:creationId xmlns:a16="http://schemas.microsoft.com/office/drawing/2014/main" id="{606E99FF-ED3E-4BEC-B83C-1FE63F6EDA8E}"/>
              </a:ext>
            </a:extLst>
          </p:cNvPr>
          <p:cNvSpPr>
            <a:spLocks xmlns:a="http://schemas.openxmlformats.org/drawingml/2006/main" noGrp="1"/>
          </p:cNvSpPr>
          <p:nvPr/>
        </p:nvSpPr>
        <p:spPr>
          <a:xfrm xmlns:a="http://schemas.openxmlformats.org/drawingml/2006/main">
            <a:off x="8839200" y="1809750"/>
            <a:ext cx="2514600" cy="3457575"/>
          </a:xfrm>
          <a:prstGeom xmlns:a="http://schemas.openxmlformats.org/drawingml/2006/main" prst="rect">
            <a:avLst/>
          </a:prstGeom>
          <a:solidFill xmlns:a="http://schemas.openxmlformats.org/drawingml/2006/main">
            <a:srgbClr val="F5EACB"/>
          </a:solidFill>
          <a:ln xmlns:a="http://schemas.openxmlformats.org/drawingml/2006/main" w="0">
            <a:noFill/>
            <a:prstDash val="solid"/>
          </a:ln>
        </p:spPr>
      </p:sp>
      <p:sp>
        <p:nvSpPr>
          <p:cNvPr id="20" name="FUTURE MODIFICATIONS">
            <a:extLst xmlns:a="http://schemas.openxmlformats.org/drawingml/2006/main">
              <a:ext uri="{FF2B5EF4-FFF2-40B4-BE49-F238E27FC236}">
                <a16:creationId xmlns:a16="http://schemas.microsoft.com/office/drawing/2014/main" id="{2BAC30B6-40C7-4CC8-8673-D3F4547AE220}"/>
              </a:ext>
            </a:extLst>
          </p:cNvPr>
          <p:cNvSpPr>
            <a:spLocks xmlns:a="http://schemas.openxmlformats.org/drawingml/2006/main" noGrp="1"/>
          </p:cNvSpPr>
          <p:nvPr/>
        </p:nvSpPr>
        <p:spPr>
          <a:xfrm xmlns:a="http://schemas.openxmlformats.org/drawingml/2006/main">
            <a:off x="9010650" y="2009775"/>
            <a:ext cx="2171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176B65"/>
                </a:solidFill>
                <a:latin typeface="Arial"/>
                <a:ea typeface="Arial"/>
                <a:cs typeface="Arial"/>
              </a:defRPr>
            </a:defPPr>
          </a:lstStyle>
          <a:p xmlns:a="http://schemas.openxmlformats.org/drawingml/2006/main">
            <a:pPr algn="l">
              <a:lnSpc>
                <a:spcPct val="105000"/>
              </a:lnSpc>
              <a:buNone/>
              <a:defRPr sz="1050" b="1">
                <a:solidFill>
                  <a:srgbClr val="176B65"/>
                </a:solidFill>
                <a:latin typeface="Arial"/>
                <a:ea typeface="Arial"/>
                <a:cs typeface="Arial"/>
              </a:defRPr>
            </a:pPr>
            <a:r>
              <a:rPr sz="1050" b="1">
                <a:solidFill>
                  <a:srgbClr val="176B65"/>
                </a:solidFill>
                <a:latin typeface="Arial"/>
                <a:ea typeface="Arial"/>
                <a:cs typeface="Arial"/>
              </a:rPr>
              <a:t>FUTURE MODIFICATIONS</a:t>
            </a:r>
          </a:p>
        </p:txBody>
      </p:sp>
      <p:sp>
        <p:nvSpPr>
          <p:cNvPr id="21" name="Earn the next step">
            <a:extLst xmlns:a="http://schemas.openxmlformats.org/drawingml/2006/main">
              <a:ext uri="{FF2B5EF4-FFF2-40B4-BE49-F238E27FC236}">
                <a16:creationId xmlns:a16="http://schemas.microsoft.com/office/drawing/2014/main" id="{4D649E7D-8A51-4848-8F95-2DF1D1D22EAF}"/>
              </a:ext>
            </a:extLst>
          </p:cNvPr>
          <p:cNvSpPr>
            <a:spLocks xmlns:a="http://schemas.openxmlformats.org/drawingml/2006/main" noGrp="1"/>
          </p:cNvSpPr>
          <p:nvPr/>
        </p:nvSpPr>
        <p:spPr>
          <a:xfrm xmlns:a="http://schemas.openxmlformats.org/drawingml/2006/main">
            <a:off x="9010650" y="2390775"/>
            <a:ext cx="21717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73B4A"/>
                </a:solidFill>
                <a:latin typeface="Arial"/>
                <a:ea typeface="Arial"/>
                <a:cs typeface="Arial"/>
              </a:defRPr>
            </a:defPPr>
          </a:lstStyle>
          <a:p xmlns:a="http://schemas.openxmlformats.org/drawingml/2006/main">
            <a:pPr algn="l">
              <a:lnSpc>
                <a:spcPct val="105000"/>
              </a:lnSpc>
              <a:buNone/>
              <a:defRPr sz="1800" b="1">
                <a:solidFill>
                  <a:srgbClr val="173B4A"/>
                </a:solidFill>
                <a:latin typeface="Arial"/>
                <a:ea typeface="Arial"/>
                <a:cs typeface="Arial"/>
              </a:defRPr>
            </a:pPr>
            <a:r>
              <a:rPr sz="1800" b="1">
                <a:solidFill>
                  <a:srgbClr val="173B4A"/>
                </a:solidFill>
                <a:latin typeface="Arial"/>
                <a:ea typeface="Arial"/>
                <a:cs typeface="Arial"/>
              </a:rPr>
              <a:t>Earn the next step</a:t>
            </a:r>
          </a:p>
        </p:txBody>
      </p:sp>
      <p:sp>
        <p:nvSpPr>
          <p:cNvPr id="22" name="Validate models and recommen">
            <a:extLst xmlns:a="http://schemas.openxmlformats.org/drawingml/2006/main">
              <a:ext uri="{FF2B5EF4-FFF2-40B4-BE49-F238E27FC236}">
                <a16:creationId xmlns:a16="http://schemas.microsoft.com/office/drawing/2014/main" id="{56618048-6959-44AC-8CD7-6788B1213C55}"/>
              </a:ext>
            </a:extLst>
          </p:cNvPr>
          <p:cNvSpPr>
            <a:spLocks xmlns:a="http://schemas.openxmlformats.org/drawingml/2006/main" noGrp="1"/>
          </p:cNvSpPr>
          <p:nvPr/>
        </p:nvSpPr>
        <p:spPr>
          <a:xfrm xmlns:a="http://schemas.openxmlformats.org/drawingml/2006/main">
            <a:off x="9010650" y="3105150"/>
            <a:ext cx="2171700" cy="1971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560"/>
          </a:bodyPr>
          <a:lstStyle xmlns:a="http://schemas.openxmlformats.org/drawingml/2006/main">
            <a:defPPr algn="l">
              <a:defRPr sz="1425" b="0">
                <a:solidFill>
                  <a:srgbClr val="536C74"/>
                </a:solidFill>
                <a:latin typeface="Arial"/>
                <a:ea typeface="Arial"/>
                <a:cs typeface="Arial"/>
              </a:defRPr>
            </a:defPPr>
          </a:lstStyle>
          <a:p xmlns:a="http://schemas.openxmlformats.org/drawingml/2006/main">
            <a:pPr algn="l">
              <a:lnSpc>
                <a:spcPct val="113000"/>
              </a:lnSpc>
              <a:buNone/>
              <a:defRPr sz="1425" b="0">
                <a:solidFill>
                  <a:srgbClr val="536C74"/>
                </a:solidFill>
                <a:latin typeface="Arial"/>
                <a:ea typeface="Arial"/>
                <a:cs typeface="Arial"/>
              </a:defRPr>
            </a:pPr>
            <a:r>
              <a:rPr sz="1425" b="0">
                <a:solidFill>
                  <a:srgbClr val="536C74"/>
                </a:solidFill>
                <a:latin typeface="Arial"/>
                <a:ea typeface="Arial"/>
                <a:cs typeface="Arial"/>
              </a:rPr>
              <a:t>Validate models and recommendations</a:t>
            </a:r>
          </a:p>
          <a:p xmlns:a="http://schemas.openxmlformats.org/drawingml/2006/main">
            <a:r>
              <a:t/>
            </a:r>
          </a:p>
          <a:p xmlns:a="http://schemas.openxmlformats.org/drawingml/2006/main">
            <a:pPr algn="l">
              <a:lnSpc>
                <a:spcPct val="113000"/>
              </a:lnSpc>
              <a:buNone/>
              <a:defRPr sz="1425" b="0">
                <a:solidFill>
                  <a:srgbClr val="536C74"/>
                </a:solidFill>
                <a:latin typeface="Arial"/>
                <a:ea typeface="Arial"/>
                <a:cs typeface="Arial"/>
              </a:defRPr>
            </a:pPr>
            <a:r>
              <a:rPr sz="1425" b="0">
                <a:solidFill>
                  <a:srgbClr val="536C74"/>
                </a:solidFill>
                <a:latin typeface="Arial"/>
                <a:ea typeface="Arial"/>
                <a:cs typeface="Arial"/>
              </a:rPr>
              <a:t>Add explicit allergy safety rules</a:t>
            </a:r>
          </a:p>
          <a:p xmlns:a="http://schemas.openxmlformats.org/drawingml/2006/main">
            <a:r>
              <a:t/>
            </a:r>
          </a:p>
          <a:p xmlns:a="http://schemas.openxmlformats.org/drawingml/2006/main">
            <a:pPr algn="l">
              <a:lnSpc>
                <a:spcPct val="113000"/>
              </a:lnSpc>
              <a:buNone/>
              <a:defRPr sz="1425" b="0">
                <a:solidFill>
                  <a:srgbClr val="536C74"/>
                </a:solidFill>
                <a:latin typeface="Arial"/>
                <a:ea typeface="Arial"/>
                <a:cs typeface="Arial"/>
              </a:defRPr>
            </a:pPr>
            <a:r>
              <a:rPr sz="1425" b="0">
                <a:solidFill>
                  <a:srgbClr val="536C74"/>
                </a:solidFill>
                <a:latin typeface="Arial"/>
                <a:ea typeface="Arial"/>
                <a:cs typeface="Arial"/>
              </a:rPr>
              <a:t>Improve regional food coverage</a:t>
            </a:r>
          </a:p>
          <a:p xmlns:a="http://schemas.openxmlformats.org/drawingml/2006/main">
            <a:r>
              <a:t/>
            </a:r>
          </a:p>
          <a:p xmlns:a="http://schemas.openxmlformats.org/drawingml/2006/main">
            <a:pPr algn="l">
              <a:lnSpc>
                <a:spcPct val="113000"/>
              </a:lnSpc>
              <a:buNone/>
              <a:defRPr sz="1425" b="0">
                <a:solidFill>
                  <a:srgbClr val="536C74"/>
                </a:solidFill>
                <a:latin typeface="Arial"/>
                <a:ea typeface="Arial"/>
                <a:cs typeface="Arial"/>
              </a:defRPr>
            </a:pPr>
            <a:r>
              <a:rPr sz="1425" b="0">
                <a:solidFill>
                  <a:srgbClr val="536C74"/>
                </a:solidFill>
                <a:latin typeface="Arial"/>
                <a:ea typeface="Arial"/>
                <a:cs typeface="Arial"/>
              </a:rPr>
              <a:t>Assess explainability and privacy</a:t>
            </a:r>
          </a:p>
        </p:txBody>
      </p:sp>
      <p:sp>
        <p:nvSpPr>
          <p:cNvPr id="23" name="">
            <a:extLst xmlns:a="http://schemas.openxmlformats.org/drawingml/2006/main">
              <a:ext uri="{FF2B5EF4-FFF2-40B4-BE49-F238E27FC236}">
                <a16:creationId xmlns:a16="http://schemas.microsoft.com/office/drawing/2014/main" id="{5F15860B-3E9D-49F7-867C-15FE273AC2F9}"/>
              </a:ext>
            </a:extLst>
          </p:cNvPr>
          <p:cNvSpPr>
            <a:spLocks xmlns:a="http://schemas.openxmlformats.org/drawingml/2006/main" noGrp="1"/>
          </p:cNvSpPr>
          <p:nvPr/>
        </p:nvSpPr>
        <p:spPr>
          <a:xfrm xmlns:a="http://schemas.openxmlformats.org/drawingml/2006/main">
            <a:off x="676275" y="5524500"/>
            <a:ext cx="10829925" cy="561975"/>
          </a:xfrm>
          <a:prstGeom xmlns:a="http://schemas.openxmlformats.org/drawingml/2006/main" prst="roundRect">
            <a:avLst>
              <a:gd name="adj" fmla="val 13559"/>
            </a:avLst>
          </a:prstGeom>
          <a:solidFill xmlns:a="http://schemas.openxmlformats.org/drawingml/2006/main">
            <a:srgbClr val="FFFFFF"/>
          </a:solidFill>
          <a:ln xmlns:a="http://schemas.openxmlformats.org/drawingml/2006/main" w="11430">
            <a:solidFill>
              <a:srgbClr val="D6E5E1"/>
            </a:solidFill>
            <a:prstDash val="solid"/>
          </a:ln>
        </p:spPr>
      </p:sp>
      <p:sp>
        <p:nvSpPr>
          <p:cNvPr id="24" name="Responsible use  /  AI-assis">
            <a:extLst xmlns:a="http://schemas.openxmlformats.org/drawingml/2006/main">
              <a:ext uri="{FF2B5EF4-FFF2-40B4-BE49-F238E27FC236}">
                <a16:creationId xmlns:a16="http://schemas.microsoft.com/office/drawing/2014/main" id="{8C670EC7-3212-4A41-8C68-08B6D598B989}"/>
              </a:ext>
            </a:extLst>
          </p:cNvPr>
          <p:cNvSpPr>
            <a:spLocks xmlns:a="http://schemas.openxmlformats.org/drawingml/2006/main" noGrp="1"/>
          </p:cNvSpPr>
          <p:nvPr/>
        </p:nvSpPr>
        <p:spPr>
          <a:xfrm xmlns:a="http://schemas.openxmlformats.org/drawingml/2006/main">
            <a:off x="866775" y="5695950"/>
            <a:ext cx="104108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369"/>
          </a:bodyPr>
          <a:lstStyle xmlns:a="http://schemas.openxmlformats.org/drawingml/2006/main">
            <a:defPPr algn="ctr">
              <a:defRPr sz="1350" b="1">
                <a:solidFill>
                  <a:srgbClr val="173B4A"/>
                </a:solidFill>
                <a:latin typeface="Arial"/>
                <a:ea typeface="Arial"/>
                <a:cs typeface="Arial"/>
              </a:defRPr>
            </a:defPPr>
          </a:lstStyle>
          <a:p xmlns:a="http://schemas.openxmlformats.org/drawingml/2006/main">
            <a:pPr algn="ctr">
              <a:lnSpc>
                <a:spcPct val="105000"/>
              </a:lnSpc>
              <a:buNone/>
              <a:defRPr sz="1350" b="1">
                <a:solidFill>
                  <a:srgbClr val="173B4A"/>
                </a:solidFill>
                <a:latin typeface="Arial"/>
                <a:ea typeface="Arial"/>
                <a:cs typeface="Arial"/>
              </a:defRPr>
            </a:pPr>
            <a:r>
              <a:rPr sz="1350" b="1">
                <a:solidFill>
                  <a:srgbClr val="173B4A"/>
                </a:solidFill>
                <a:latin typeface="Arial"/>
                <a:ea typeface="Arial"/>
                <a:cs typeface="Arial"/>
              </a:rPr>
              <a:t>Responsible use  /  AI-assisted awareness, not diagnosis  ·  X-ray observations for research  ·  clinician guidance remains essential</a:t>
            </a:r>
          </a:p>
        </p:txBody>
      </p:sp>
    </p:spTree>
    <p:extLst>
      <p:ext uri="{BB962C8B-B14F-4D97-AF65-F5344CB8AC3E}">
        <p14:creationId xmlns:p14="http://schemas.microsoft.com/office/powerpoint/2010/main" val="2108623531"/>
      </p:ext>
    </p:extLst>
  </p:cSld>
</p:sld>
</file>

<file path=ppt/slides/slide6.xml><?xml version="1.0" encoding="utf-8"?>
<p:sld xmlns:p="http://schemas.openxmlformats.org/presentationml/2006/main">
  <p:cSld>
    <p:bg>
      <p:bgPr>
        <a:gradFill xmlns:a="http://schemas.openxmlformats.org/drawingml/2006/main">
          <a:gsLst>
            <a:gs pos="0">
              <a:srgbClr val="F3FAF7"/>
            </a:gs>
            <a:gs pos="100000">
              <a:srgbClr val="FBFCFC"/>
            </a:gs>
          </a:gsLst>
          <a:lin ang="0"/>
        </a:gradFill>
      </p:bgPr>
    </p:bg>
    <p:spTree>
      <p:nvGrpSpPr>
        <p:cNvPr id="1" name=""/>
        <p:cNvGrpSpPr/>
        <p:nvPr/>
      </p:nvGrpSpPr>
      <p:grpSpPr>
        <a:xfrm xmlns:a="http://schemas.openxmlformats.org/drawingml/2006/main"/>
      </p:grpSpPr>
      <p:sp>
        <p:nvSpPr>
          <p:cNvPr id="34" name="VITALIS  /  HEALTH TECH">
            <a:extLst xmlns:a="http://schemas.openxmlformats.org/drawingml/2006/main">
              <a:ext uri="{FF2B5EF4-FFF2-40B4-BE49-F238E27FC236}">
                <a16:creationId xmlns:a16="http://schemas.microsoft.com/office/drawing/2014/main" id="{ABA4FE9E-92AE-4B76-BE1A-95F69AE6505E}"/>
              </a:ext>
            </a:extLst>
          </p:cNvPr>
          <p:cNvSpPr>
            <a:spLocks xmlns:a="http://schemas.openxmlformats.org/drawingml/2006/main" noGrp="1"/>
          </p:cNvSpPr>
          <p:nvPr/>
        </p:nvSpPr>
        <p:spPr>
          <a:xfrm xmlns:a="http://schemas.openxmlformats.org/drawingml/2006/main">
            <a:off x="628650" y="285750"/>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76B65"/>
                </a:solidFill>
                <a:latin typeface="Arial"/>
                <a:ea typeface="Arial"/>
                <a:cs typeface="Arial"/>
              </a:defRPr>
            </a:defPPr>
          </a:lstStyle>
          <a:p xmlns:a="http://schemas.openxmlformats.org/drawingml/2006/main">
            <a:pPr algn="l">
              <a:lnSpc>
                <a:spcPct val="105000"/>
              </a:lnSpc>
              <a:buNone/>
              <a:defRPr sz="1125" b="1">
                <a:solidFill>
                  <a:srgbClr val="176B65"/>
                </a:solidFill>
                <a:latin typeface="Arial"/>
                <a:ea typeface="Arial"/>
                <a:cs typeface="Arial"/>
              </a:defRPr>
            </a:pPr>
            <a:r>
              <a:rPr sz="1125" b="1">
                <a:solidFill>
                  <a:srgbClr val="176B65"/>
                </a:solidFill>
                <a:latin typeface="Arial"/>
                <a:ea typeface="Arial"/>
                <a:cs typeface="Arial"/>
              </a:rPr>
              <a:t>VITALIS  /  HEALTH TECH</a:t>
            </a:r>
          </a:p>
        </p:txBody>
      </p:sp>
      <p:sp>
        <p:nvSpPr>
          <p:cNvPr id="2" name="Benefits and future scope">
            <a:extLst xmlns:a="http://schemas.openxmlformats.org/drawingml/2006/main">
              <a:ext uri="{FF2B5EF4-FFF2-40B4-BE49-F238E27FC236}">
                <a16:creationId xmlns:a16="http://schemas.microsoft.com/office/drawing/2014/main" id="{C23EA9F3-927C-4E43-A6DB-279A573A5491}"/>
              </a:ext>
            </a:extLst>
          </p:cNvPr>
          <p:cNvSpPr>
            <a:spLocks xmlns:a="http://schemas.openxmlformats.org/drawingml/2006/main" noGrp="1"/>
          </p:cNvSpPr>
          <p:nvPr/>
        </p:nvSpPr>
        <p:spPr>
          <a:xfrm xmlns:a="http://schemas.openxmlformats.org/drawingml/2006/main">
            <a:off x="628650" y="571500"/>
            <a:ext cx="1085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000" b="1">
                <a:solidFill>
                  <a:srgbClr val="173B4A"/>
                </a:solidFill>
                <a:latin typeface="Arial"/>
                <a:ea typeface="Arial"/>
                <a:cs typeface="Arial"/>
              </a:defRPr>
            </a:defPPr>
          </a:lstStyle>
          <a:p xmlns:a="http://schemas.openxmlformats.org/drawingml/2006/main">
            <a:pPr algn="l">
              <a:lnSpc>
                <a:spcPct val="105000"/>
              </a:lnSpc>
              <a:buNone/>
              <a:defRPr sz="3000" b="1">
                <a:solidFill>
                  <a:srgbClr val="173B4A"/>
                </a:solidFill>
                <a:latin typeface="Arial"/>
                <a:ea typeface="Arial"/>
                <a:cs typeface="Arial"/>
              </a:defRPr>
            </a:pPr>
            <a:r>
              <a:rPr sz="3000" b="1">
                <a:solidFill>
                  <a:srgbClr val="173B4A"/>
                </a:solidFill>
                <a:latin typeface="Arial"/>
                <a:ea typeface="Arial"/>
                <a:cs typeface="Arial"/>
              </a:rPr>
              <a:t>Benefits and future scope</a:t>
            </a:r>
          </a:p>
        </p:txBody>
      </p:sp>
      <p:sp>
        <p:nvSpPr>
          <p:cNvPr id="3" name="A clear decision-support con">
            <a:extLst xmlns:a="http://schemas.openxmlformats.org/drawingml/2006/main">
              <a:ext uri="{FF2B5EF4-FFF2-40B4-BE49-F238E27FC236}">
                <a16:creationId xmlns:a16="http://schemas.microsoft.com/office/drawing/2014/main" id="{BF936976-4B32-4E7C-B92E-7A0C8A0AFA75}"/>
              </a:ext>
            </a:extLst>
          </p:cNvPr>
          <p:cNvSpPr>
            <a:spLocks xmlns:a="http://schemas.openxmlformats.org/drawingml/2006/main" noGrp="1"/>
          </p:cNvSpPr>
          <p:nvPr/>
        </p:nvSpPr>
        <p:spPr>
          <a:xfrm xmlns:a="http://schemas.openxmlformats.org/drawingml/2006/main">
            <a:off x="647700" y="1095375"/>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36C74"/>
                </a:solidFill>
                <a:latin typeface="Arial"/>
                <a:ea typeface="Arial"/>
                <a:cs typeface="Arial"/>
              </a:defRPr>
            </a:defPPr>
          </a:lstStyle>
          <a:p xmlns:a="http://schemas.openxmlformats.org/drawingml/2006/main">
            <a:pPr algn="l">
              <a:lnSpc>
                <a:spcPct val="105000"/>
              </a:lnSpc>
              <a:buNone/>
              <a:defRPr sz="1575" b="0">
                <a:solidFill>
                  <a:srgbClr val="536C74"/>
                </a:solidFill>
                <a:latin typeface="Arial"/>
                <a:ea typeface="Arial"/>
                <a:cs typeface="Arial"/>
              </a:defRPr>
            </a:pPr>
            <a:r>
              <a:rPr sz="1575" b="0">
                <a:solidFill>
                  <a:srgbClr val="536C74"/>
                </a:solidFill>
                <a:latin typeface="Arial"/>
                <a:ea typeface="Arial"/>
                <a:cs typeface="Arial"/>
              </a:rPr>
              <a:t>A clear decision-support concept, grounded in credible sources and a staged path forward</a:t>
            </a:r>
          </a:p>
        </p:txBody>
      </p:sp>
      <p:sp>
        <p:nvSpPr>
          <p:cNvPr id="4" name="">
            <a:extLst xmlns:a="http://schemas.openxmlformats.org/drawingml/2006/main">
              <a:ext uri="{FF2B5EF4-FFF2-40B4-BE49-F238E27FC236}">
                <a16:creationId xmlns:a16="http://schemas.microsoft.com/office/drawing/2014/main" id="{ACD5BB8E-4616-4A57-8033-0D3D94AFEA7B}"/>
              </a:ext>
            </a:extLst>
          </p:cNvPr>
          <p:cNvSpPr>
            <a:spLocks xmlns:a="http://schemas.openxmlformats.org/drawingml/2006/main" noGrp="1"/>
          </p:cNvSpPr>
          <p:nvPr/>
        </p:nvSpPr>
        <p:spPr>
          <a:xfrm xmlns:a="http://schemas.openxmlformats.org/drawingml/2006/main">
            <a:off x="628650" y="6400800"/>
            <a:ext cx="10934700" cy="9525"/>
          </a:xfrm>
          <a:prstGeom xmlns:a="http://schemas.openxmlformats.org/drawingml/2006/main" prst="rect">
            <a:avLst/>
          </a:prstGeom>
          <a:solidFill xmlns:a="http://schemas.openxmlformats.org/drawingml/2006/main">
            <a:srgbClr val="D6E5E1"/>
          </a:solidFill>
          <a:ln xmlns:a="http://schemas.openxmlformats.org/drawingml/2006/main" w="0">
            <a:noFill/>
            <a:prstDash val="solid"/>
          </a:ln>
        </p:spPr>
      </p:sp>
      <p:sp>
        <p:nvSpPr>
          <p:cNvPr id="5" name="VITALIS  |  HACK X 2026">
            <a:extLst xmlns:a="http://schemas.openxmlformats.org/drawingml/2006/main">
              <a:ext uri="{FF2B5EF4-FFF2-40B4-BE49-F238E27FC236}">
                <a16:creationId xmlns:a16="http://schemas.microsoft.com/office/drawing/2014/main" id="{6FC5008A-FA01-4D57-BE8F-337DC282AC72}"/>
              </a:ext>
            </a:extLst>
          </p:cNvPr>
          <p:cNvSpPr>
            <a:spLocks xmlns:a="http://schemas.openxmlformats.org/drawingml/2006/main" noGrp="1"/>
          </p:cNvSpPr>
          <p:nvPr/>
        </p:nvSpPr>
        <p:spPr>
          <a:xfrm xmlns:a="http://schemas.openxmlformats.org/drawingml/2006/main">
            <a:off x="647700" y="647700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536C74"/>
                </a:solidFill>
                <a:latin typeface="Arial"/>
                <a:ea typeface="Arial"/>
                <a:cs typeface="Arial"/>
              </a:defRPr>
            </a:defPPr>
          </a:lstStyle>
          <a:p xmlns:a="http://schemas.openxmlformats.org/drawingml/2006/main">
            <a:pPr algn="l">
              <a:lnSpc>
                <a:spcPct val="105000"/>
              </a:lnSpc>
              <a:buNone/>
              <a:defRPr sz="975" b="1">
                <a:solidFill>
                  <a:srgbClr val="536C74"/>
                </a:solidFill>
                <a:latin typeface="Arial"/>
                <a:ea typeface="Arial"/>
                <a:cs typeface="Arial"/>
              </a:defRPr>
            </a:pPr>
            <a:r>
              <a:rPr sz="975" b="1">
                <a:solidFill>
                  <a:srgbClr val="536C74"/>
                </a:solidFill>
                <a:latin typeface="Arial"/>
                <a:ea typeface="Arial"/>
                <a:cs typeface="Arial"/>
              </a:rPr>
              <a:t>VITALIS  |  HACK X 2026</a:t>
            </a:r>
          </a:p>
        </p:txBody>
      </p:sp>
      <p:sp>
        <p:nvSpPr>
          <p:cNvPr id="6" name="06  /  06">
            <a:extLst xmlns:a="http://schemas.openxmlformats.org/drawingml/2006/main">
              <a:ext uri="{FF2B5EF4-FFF2-40B4-BE49-F238E27FC236}">
                <a16:creationId xmlns:a16="http://schemas.microsoft.com/office/drawing/2014/main" id="{8A002443-65D4-4216-B735-92A372BA961B}"/>
              </a:ext>
            </a:extLst>
          </p:cNvPr>
          <p:cNvSpPr>
            <a:spLocks xmlns:a="http://schemas.openxmlformats.org/drawingml/2006/main" noGrp="1"/>
          </p:cNvSpPr>
          <p:nvPr/>
        </p:nvSpPr>
        <p:spPr>
          <a:xfrm xmlns:a="http://schemas.openxmlformats.org/drawingml/2006/main">
            <a:off x="10687050" y="6477000"/>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C74"/>
                </a:solidFill>
                <a:latin typeface="Arial"/>
                <a:ea typeface="Arial"/>
                <a:cs typeface="Arial"/>
              </a:defRPr>
            </a:defPPr>
          </a:lstStyle>
          <a:p xmlns:a="http://schemas.openxmlformats.org/drawingml/2006/main">
            <a:pPr algn="r">
              <a:lnSpc>
                <a:spcPct val="105000"/>
              </a:lnSpc>
              <a:buNone/>
              <a:defRPr sz="975" b="1">
                <a:solidFill>
                  <a:srgbClr val="536C74"/>
                </a:solidFill>
                <a:latin typeface="Arial"/>
                <a:ea typeface="Arial"/>
                <a:cs typeface="Arial"/>
              </a:defRPr>
            </a:pPr>
            <a:r>
              <a:rPr sz="975" b="1">
                <a:solidFill>
                  <a:srgbClr val="536C74"/>
                </a:solidFill>
                <a:latin typeface="Arial"/>
                <a:ea typeface="Arial"/>
                <a:cs typeface="Arial"/>
              </a:rPr>
              <a:t>06  /  06</a:t>
            </a:r>
          </a:p>
        </p:txBody>
      </p:sp>
      <p:sp>
        <p:nvSpPr>
          <p:cNvPr id="7" name="">
            <a:extLst xmlns:a="http://schemas.openxmlformats.org/drawingml/2006/main">
              <a:ext uri="{FF2B5EF4-FFF2-40B4-BE49-F238E27FC236}">
                <a16:creationId xmlns:a16="http://schemas.microsoft.com/office/drawing/2014/main" id="{AE26331E-1764-4480-B2BE-FBA5D4C71D10}"/>
              </a:ext>
            </a:extLst>
          </p:cNvPr>
          <p:cNvSpPr>
            <a:spLocks xmlns:a="http://schemas.openxmlformats.org/drawingml/2006/main" noGrp="1"/>
          </p:cNvSpPr>
          <p:nvPr/>
        </p:nvSpPr>
        <p:spPr>
          <a:xfrm xmlns:a="http://schemas.openxmlformats.org/drawingml/2006/main">
            <a:off x="647700" y="1685925"/>
            <a:ext cx="3962400" cy="4171950"/>
          </a:xfrm>
          <a:prstGeom xmlns:a="http://schemas.openxmlformats.org/drawingml/2006/main" prst="rect">
            <a:avLst/>
          </a:prstGeom>
          <a:solidFill xmlns:a="http://schemas.openxmlformats.org/drawingml/2006/main">
            <a:srgbClr val="E5F4EF"/>
          </a:solidFill>
          <a:ln xmlns:a="http://schemas.openxmlformats.org/drawingml/2006/main" w="0">
            <a:noFill/>
            <a:prstDash val="solid"/>
          </a:ln>
        </p:spPr>
      </p:sp>
      <p:sp>
        <p:nvSpPr>
          <p:cNvPr id="8" name="BENEFITS TO EXPLORE">
            <a:extLst xmlns:a="http://schemas.openxmlformats.org/drawingml/2006/main">
              <a:ext uri="{FF2B5EF4-FFF2-40B4-BE49-F238E27FC236}">
                <a16:creationId xmlns:a16="http://schemas.microsoft.com/office/drawing/2014/main" id="{A5CDB94B-ABA4-4A32-A720-5778E5299AB0}"/>
              </a:ext>
            </a:extLst>
          </p:cNvPr>
          <p:cNvSpPr>
            <a:spLocks xmlns:a="http://schemas.openxmlformats.org/drawingml/2006/main" noGrp="1"/>
          </p:cNvSpPr>
          <p:nvPr/>
        </p:nvSpPr>
        <p:spPr>
          <a:xfrm xmlns:a="http://schemas.openxmlformats.org/drawingml/2006/main">
            <a:off x="857250" y="18859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76B65"/>
                </a:solidFill>
                <a:latin typeface="Arial"/>
                <a:ea typeface="Arial"/>
                <a:cs typeface="Arial"/>
              </a:defRPr>
            </a:defPPr>
          </a:lstStyle>
          <a:p xmlns:a="http://schemas.openxmlformats.org/drawingml/2006/main">
            <a:pPr algn="l">
              <a:lnSpc>
                <a:spcPct val="105000"/>
              </a:lnSpc>
              <a:buNone/>
              <a:defRPr sz="1125" b="1">
                <a:solidFill>
                  <a:srgbClr val="176B65"/>
                </a:solidFill>
                <a:latin typeface="Arial"/>
                <a:ea typeface="Arial"/>
                <a:cs typeface="Arial"/>
              </a:defRPr>
            </a:pPr>
            <a:r>
              <a:rPr sz="1125" b="1">
                <a:solidFill>
                  <a:srgbClr val="176B65"/>
                </a:solidFill>
                <a:latin typeface="Arial"/>
                <a:ea typeface="Arial"/>
                <a:cs typeface="Arial"/>
              </a:rPr>
              <a:t>BENEFITS TO EXPLORE</a:t>
            </a:r>
          </a:p>
        </p:txBody>
      </p:sp>
      <p:sp>
        <p:nvSpPr>
          <p:cNvPr id="9" name="For individuals">
            <a:extLst xmlns:a="http://schemas.openxmlformats.org/drawingml/2006/main">
              <a:ext uri="{FF2B5EF4-FFF2-40B4-BE49-F238E27FC236}">
                <a16:creationId xmlns:a16="http://schemas.microsoft.com/office/drawing/2014/main" id="{59528394-C3A5-47D4-A7C3-3F5FBF8BD3E6}"/>
              </a:ext>
            </a:extLst>
          </p:cNvPr>
          <p:cNvSpPr>
            <a:spLocks xmlns:a="http://schemas.openxmlformats.org/drawingml/2006/main" noGrp="1"/>
          </p:cNvSpPr>
          <p:nvPr/>
        </p:nvSpPr>
        <p:spPr>
          <a:xfrm xmlns:a="http://schemas.openxmlformats.org/drawingml/2006/main">
            <a:off x="857250" y="23050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73B4A"/>
                </a:solidFill>
                <a:latin typeface="Arial"/>
                <a:ea typeface="Arial"/>
                <a:cs typeface="Arial"/>
              </a:defRPr>
            </a:defPPr>
          </a:lstStyle>
          <a:p xmlns:a="http://schemas.openxmlformats.org/drawingml/2006/main">
            <a:pPr algn="l">
              <a:lnSpc>
                <a:spcPct val="105000"/>
              </a:lnSpc>
              <a:buNone/>
              <a:defRPr sz="1725" b="1">
                <a:solidFill>
                  <a:srgbClr val="173B4A"/>
                </a:solidFill>
                <a:latin typeface="Arial"/>
                <a:ea typeface="Arial"/>
                <a:cs typeface="Arial"/>
              </a:defRPr>
            </a:pPr>
            <a:r>
              <a:rPr sz="1725" b="1">
                <a:solidFill>
                  <a:srgbClr val="173B4A"/>
                </a:solidFill>
                <a:latin typeface="Arial"/>
                <a:ea typeface="Arial"/>
                <a:cs typeface="Arial"/>
              </a:rPr>
              <a:t>For individuals</a:t>
            </a:r>
          </a:p>
        </p:txBody>
      </p:sp>
      <p:sp>
        <p:nvSpPr>
          <p:cNvPr id="10" name="•  one understandable health">
            <a:extLst xmlns:a="http://schemas.openxmlformats.org/drawingml/2006/main">
              <a:ext uri="{FF2B5EF4-FFF2-40B4-BE49-F238E27FC236}">
                <a16:creationId xmlns:a16="http://schemas.microsoft.com/office/drawing/2014/main" id="{87477503-A0BB-452E-932A-9E4DE36CEDE7}"/>
              </a:ext>
            </a:extLst>
          </p:cNvPr>
          <p:cNvSpPr>
            <a:spLocks xmlns:a="http://schemas.openxmlformats.org/drawingml/2006/main" noGrp="1"/>
          </p:cNvSpPr>
          <p:nvPr/>
        </p:nvSpPr>
        <p:spPr>
          <a:xfrm xmlns:a="http://schemas.openxmlformats.org/drawingml/2006/main">
            <a:off x="857250" y="2705100"/>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73B4A"/>
                </a:solidFill>
                <a:latin typeface="Arial"/>
                <a:ea typeface="Arial"/>
                <a:cs typeface="Arial"/>
              </a:defRPr>
            </a:defPPr>
          </a:lstStyle>
          <a:p xmlns:a="http://schemas.openxmlformats.org/drawingml/2006/main">
            <a:pPr algn="l">
              <a:lnSpc>
                <a:spcPct val="120000"/>
              </a:lnSpc>
              <a:buNone/>
              <a:defRPr sz="1500" b="0">
                <a:solidFill>
                  <a:srgbClr val="173B4A"/>
                </a:solidFill>
                <a:latin typeface="Arial"/>
                <a:ea typeface="Arial"/>
                <a:cs typeface="Arial"/>
              </a:defRPr>
            </a:pPr>
            <a:r>
              <a:rPr sz="1500" b="0">
                <a:solidFill>
                  <a:srgbClr val="173B4A"/>
                </a:solidFill>
                <a:latin typeface="Arial"/>
                <a:ea typeface="Arial"/>
                <a:cs typeface="Arial"/>
              </a:rPr>
              <a:t>•  one understandable health overview</a:t>
            </a:r>
          </a:p>
          <a:p xmlns:a="http://schemas.openxmlformats.org/drawingml/2006/main">
            <a:pPr algn="l">
              <a:lnSpc>
                <a:spcPct val="120000"/>
              </a:lnSpc>
              <a:buNone/>
              <a:defRPr sz="1500" b="0">
                <a:solidFill>
                  <a:srgbClr val="173B4A"/>
                </a:solidFill>
                <a:latin typeface="Arial"/>
                <a:ea typeface="Arial"/>
                <a:cs typeface="Arial"/>
              </a:defRPr>
            </a:pPr>
            <a:r>
              <a:rPr sz="1500" b="0">
                <a:solidFill>
                  <a:srgbClr val="173B4A"/>
                </a:solidFill>
                <a:latin typeface="Arial"/>
                <a:ea typeface="Arial"/>
                <a:cs typeface="Arial"/>
              </a:rPr>
              <a:t>•  food guidance with reasons</a:t>
            </a:r>
          </a:p>
          <a:p xmlns:a="http://schemas.openxmlformats.org/drawingml/2006/main">
            <a:pPr algn="l">
              <a:lnSpc>
                <a:spcPct val="120000"/>
              </a:lnSpc>
              <a:buNone/>
              <a:defRPr sz="1500" b="0">
                <a:solidFill>
                  <a:srgbClr val="173B4A"/>
                </a:solidFill>
                <a:latin typeface="Arial"/>
                <a:ea typeface="Arial"/>
                <a:cs typeface="Arial"/>
              </a:defRPr>
            </a:pPr>
            <a:r>
              <a:rPr sz="1500" b="0">
                <a:solidFill>
                  <a:srgbClr val="173B4A"/>
                </a:solidFill>
                <a:latin typeface="Arial"/>
                <a:ea typeface="Arial"/>
                <a:cs typeface="Arial"/>
              </a:rPr>
              <a:t>•  easier label interpretation</a:t>
            </a:r>
          </a:p>
          <a:p xmlns:a="http://schemas.openxmlformats.org/drawingml/2006/main">
            <a:pPr algn="l">
              <a:lnSpc>
                <a:spcPct val="120000"/>
              </a:lnSpc>
              <a:buNone/>
              <a:defRPr sz="1500" b="0">
                <a:solidFill>
                  <a:srgbClr val="173B4A"/>
                </a:solidFill>
                <a:latin typeface="Arial"/>
                <a:ea typeface="Arial"/>
                <a:cs typeface="Arial"/>
              </a:defRPr>
            </a:pPr>
            <a:r>
              <a:rPr sz="1500" b="0">
                <a:solidFill>
                  <a:srgbClr val="173B4A"/>
                </a:solidFill>
                <a:latin typeface="Arial"/>
                <a:ea typeface="Arial"/>
                <a:cs typeface="Arial"/>
              </a:rPr>
              <a:t>•  portable assessment summary</a:t>
            </a:r>
          </a:p>
        </p:txBody>
      </p:sp>
      <p:sp>
        <p:nvSpPr>
          <p:cNvPr id="11" name="For health and wellness serv">
            <a:extLst xmlns:a="http://schemas.openxmlformats.org/drawingml/2006/main">
              <a:ext uri="{FF2B5EF4-FFF2-40B4-BE49-F238E27FC236}">
                <a16:creationId xmlns:a16="http://schemas.microsoft.com/office/drawing/2014/main" id="{750CC2E5-D377-4541-A20B-ED438BB1B4AA}"/>
              </a:ext>
            </a:extLst>
          </p:cNvPr>
          <p:cNvSpPr>
            <a:spLocks xmlns:a="http://schemas.openxmlformats.org/drawingml/2006/main" noGrp="1"/>
          </p:cNvSpPr>
          <p:nvPr/>
        </p:nvSpPr>
        <p:spPr>
          <a:xfrm xmlns:a="http://schemas.openxmlformats.org/drawingml/2006/main">
            <a:off x="857250" y="431482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3B4A"/>
                </a:solidFill>
                <a:latin typeface="Arial"/>
                <a:ea typeface="Arial"/>
                <a:cs typeface="Arial"/>
              </a:defRPr>
            </a:defPPr>
          </a:lstStyle>
          <a:p xmlns:a="http://schemas.openxmlformats.org/drawingml/2006/main">
            <a:pPr algn="l">
              <a:lnSpc>
                <a:spcPct val="105000"/>
              </a:lnSpc>
              <a:buNone/>
              <a:defRPr sz="1650" b="1">
                <a:solidFill>
                  <a:srgbClr val="173B4A"/>
                </a:solidFill>
                <a:latin typeface="Arial"/>
                <a:ea typeface="Arial"/>
                <a:cs typeface="Arial"/>
              </a:defRPr>
            </a:pPr>
            <a:r>
              <a:rPr sz="1650" b="1">
                <a:solidFill>
                  <a:srgbClr val="173B4A"/>
                </a:solidFill>
                <a:latin typeface="Arial"/>
                <a:ea typeface="Arial"/>
                <a:cs typeface="Arial"/>
              </a:rPr>
              <a:t>For health and wellness services</a:t>
            </a:r>
          </a:p>
        </p:txBody>
      </p:sp>
      <p:sp>
        <p:nvSpPr>
          <p:cNvPr id="12" name="A modular concept that could">
            <a:extLst xmlns:a="http://schemas.openxmlformats.org/drawingml/2006/main">
              <a:ext uri="{FF2B5EF4-FFF2-40B4-BE49-F238E27FC236}">
                <a16:creationId xmlns:a16="http://schemas.microsoft.com/office/drawing/2014/main" id="{44AD2A22-2E71-4AA1-967F-1118392EFED8}"/>
              </a:ext>
            </a:extLst>
          </p:cNvPr>
          <p:cNvSpPr>
            <a:spLocks xmlns:a="http://schemas.openxmlformats.org/drawingml/2006/main" noGrp="1"/>
          </p:cNvSpPr>
          <p:nvPr/>
        </p:nvSpPr>
        <p:spPr>
          <a:xfrm xmlns:a="http://schemas.openxmlformats.org/drawingml/2006/main">
            <a:off x="857250" y="4724400"/>
            <a:ext cx="33337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36C74"/>
                </a:solidFill>
                <a:latin typeface="Arial"/>
                <a:ea typeface="Arial"/>
                <a:cs typeface="Arial"/>
              </a:defRPr>
            </a:defPPr>
          </a:lstStyle>
          <a:p xmlns:a="http://schemas.openxmlformats.org/drawingml/2006/main">
            <a:pPr algn="l">
              <a:lnSpc>
                <a:spcPct val="105000"/>
              </a:lnSpc>
              <a:buNone/>
              <a:defRPr sz="1425" b="0">
                <a:solidFill>
                  <a:srgbClr val="536C74"/>
                </a:solidFill>
                <a:latin typeface="Arial"/>
                <a:ea typeface="Arial"/>
                <a:cs typeface="Arial"/>
              </a:defRPr>
            </a:pPr>
            <a:r>
              <a:rPr sz="1425" b="0">
                <a:solidFill>
                  <a:srgbClr val="536C74"/>
                </a:solidFill>
                <a:latin typeface="Arial"/>
                <a:ea typeface="Arial"/>
                <a:cs typeface="Arial"/>
              </a:rPr>
              <a:t>A modular concept that could connect preventive-health and nutrition experiences after validation.</a:t>
            </a:r>
          </a:p>
        </p:txBody>
      </p:sp>
      <p:sp>
        <p:nvSpPr>
          <p:cNvPr id="13" name="">
            <a:extLst xmlns:a="http://schemas.openxmlformats.org/drawingml/2006/main">
              <a:ext uri="{FF2B5EF4-FFF2-40B4-BE49-F238E27FC236}">
                <a16:creationId xmlns:a16="http://schemas.microsoft.com/office/drawing/2014/main" id="{59C1D6E0-18F3-4735-8E4A-74CE8452094A}"/>
              </a:ext>
            </a:extLst>
          </p:cNvPr>
          <p:cNvSpPr>
            <a:spLocks xmlns:a="http://schemas.openxmlformats.org/drawingml/2006/main" noGrp="1"/>
          </p:cNvSpPr>
          <p:nvPr/>
        </p:nvSpPr>
        <p:spPr>
          <a:xfrm xmlns:a="http://schemas.openxmlformats.org/drawingml/2006/main">
            <a:off x="4800600" y="1685925"/>
            <a:ext cx="2667000" cy="4171950"/>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14" name="ROADMAP">
            <a:extLst xmlns:a="http://schemas.openxmlformats.org/drawingml/2006/main">
              <a:ext uri="{FF2B5EF4-FFF2-40B4-BE49-F238E27FC236}">
                <a16:creationId xmlns:a16="http://schemas.microsoft.com/office/drawing/2014/main" id="{194ACE83-5984-4DB6-9F2C-A55F3619B02C}"/>
              </a:ext>
            </a:extLst>
          </p:cNvPr>
          <p:cNvSpPr>
            <a:spLocks xmlns:a="http://schemas.openxmlformats.org/drawingml/2006/main" noGrp="1"/>
          </p:cNvSpPr>
          <p:nvPr/>
        </p:nvSpPr>
        <p:spPr>
          <a:xfrm xmlns:a="http://schemas.openxmlformats.org/drawingml/2006/main">
            <a:off x="5010150" y="18859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477A97"/>
                </a:solidFill>
                <a:latin typeface="Arial"/>
                <a:ea typeface="Arial"/>
                <a:cs typeface="Arial"/>
              </a:defRPr>
            </a:defPPr>
          </a:lstStyle>
          <a:p xmlns:a="http://schemas.openxmlformats.org/drawingml/2006/main">
            <a:pPr algn="l">
              <a:lnSpc>
                <a:spcPct val="105000"/>
              </a:lnSpc>
              <a:buNone/>
              <a:defRPr sz="1125" b="1">
                <a:solidFill>
                  <a:srgbClr val="477A97"/>
                </a:solidFill>
                <a:latin typeface="Arial"/>
                <a:ea typeface="Arial"/>
                <a:cs typeface="Arial"/>
              </a:defRPr>
            </a:pPr>
            <a:r>
              <a:rPr sz="1125" b="1">
                <a:solidFill>
                  <a:srgbClr val="477A97"/>
                </a:solidFill>
                <a:latin typeface="Arial"/>
                <a:ea typeface="Arial"/>
                <a:cs typeface="Arial"/>
              </a:rPr>
              <a:t>ROADMAP</a:t>
            </a:r>
          </a:p>
        </p:txBody>
      </p:sp>
      <p:sp>
        <p:nvSpPr>
          <p:cNvPr id="15" name="Next">
            <a:extLst xmlns:a="http://schemas.openxmlformats.org/drawingml/2006/main">
              <a:ext uri="{FF2B5EF4-FFF2-40B4-BE49-F238E27FC236}">
                <a16:creationId xmlns:a16="http://schemas.microsoft.com/office/drawing/2014/main" id="{893B110D-0668-431B-851A-A2FD3CFE31B1}"/>
              </a:ext>
            </a:extLst>
          </p:cNvPr>
          <p:cNvSpPr>
            <a:spLocks xmlns:a="http://schemas.openxmlformats.org/drawingml/2006/main" noGrp="1"/>
          </p:cNvSpPr>
          <p:nvPr/>
        </p:nvSpPr>
        <p:spPr>
          <a:xfrm xmlns:a="http://schemas.openxmlformats.org/drawingml/2006/main">
            <a:off x="5010150" y="231457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3B4A"/>
                </a:solidFill>
                <a:latin typeface="Arial"/>
                <a:ea typeface="Arial"/>
                <a:cs typeface="Arial"/>
              </a:defRPr>
            </a:defPPr>
          </a:lstStyle>
          <a:p xmlns:a="http://schemas.openxmlformats.org/drawingml/2006/main">
            <a:pPr algn="l">
              <a:lnSpc>
                <a:spcPct val="105000"/>
              </a:lnSpc>
              <a:buNone/>
              <a:defRPr sz="1650" b="1">
                <a:solidFill>
                  <a:srgbClr val="173B4A"/>
                </a:solidFill>
                <a:latin typeface="Arial"/>
                <a:ea typeface="Arial"/>
                <a:cs typeface="Arial"/>
              </a:defRPr>
            </a:pPr>
            <a:r>
              <a:rPr sz="1650" b="1">
                <a:solidFill>
                  <a:srgbClr val="173B4A"/>
                </a:solidFill>
                <a:latin typeface="Arial"/>
                <a:ea typeface="Arial"/>
                <a:cs typeface="Arial"/>
              </a:rPr>
              <a:t>Next</a:t>
            </a:r>
          </a:p>
        </p:txBody>
      </p:sp>
      <p:sp>
        <p:nvSpPr>
          <p:cNvPr id="16" name="Stronger recommendation rule">
            <a:extLst xmlns:a="http://schemas.openxmlformats.org/drawingml/2006/main">
              <a:ext uri="{FF2B5EF4-FFF2-40B4-BE49-F238E27FC236}">
                <a16:creationId xmlns:a16="http://schemas.microsoft.com/office/drawing/2014/main" id="{E8C7CF67-ABEE-44A6-905A-DBA01C0FA3C5}"/>
              </a:ext>
            </a:extLst>
          </p:cNvPr>
          <p:cNvSpPr>
            <a:spLocks xmlns:a="http://schemas.openxmlformats.org/drawingml/2006/main" noGrp="1"/>
          </p:cNvSpPr>
          <p:nvPr/>
        </p:nvSpPr>
        <p:spPr>
          <a:xfrm xmlns:a="http://schemas.openxmlformats.org/drawingml/2006/main">
            <a:off x="5010150" y="2657475"/>
            <a:ext cx="2133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064"/>
          </a:bodyPr>
          <a:lstStyle xmlns:a="http://schemas.openxmlformats.org/drawingml/2006/main">
            <a:defPPr algn="l">
              <a:defRPr sz="1350" b="0">
                <a:solidFill>
                  <a:srgbClr val="536C74"/>
                </a:solidFill>
                <a:latin typeface="Arial"/>
                <a:ea typeface="Arial"/>
                <a:cs typeface="Arial"/>
              </a:defRPr>
            </a:defPPr>
          </a:lstStyle>
          <a:p xmlns:a="http://schemas.openxmlformats.org/drawingml/2006/main">
            <a:pPr algn="l">
              <a:lnSpc>
                <a:spcPct val="105000"/>
              </a:lnSpc>
              <a:buNone/>
              <a:defRPr sz="1350" b="0">
                <a:solidFill>
                  <a:srgbClr val="536C74"/>
                </a:solidFill>
                <a:latin typeface="Arial"/>
                <a:ea typeface="Arial"/>
                <a:cs typeface="Arial"/>
              </a:defRPr>
            </a:pPr>
            <a:r>
              <a:rPr sz="1350" b="0">
                <a:solidFill>
                  <a:srgbClr val="536C74"/>
                </a:solidFill>
                <a:latin typeface="Arial"/>
                <a:ea typeface="Arial"/>
                <a:cs typeface="Arial"/>
              </a:rPr>
              <a:t>Stronger recommendation rules</a:t>
            </a:r>
          </a:p>
          <a:p xmlns:a="http://schemas.openxmlformats.org/drawingml/2006/main">
            <a:pPr algn="l">
              <a:lnSpc>
                <a:spcPct val="105000"/>
              </a:lnSpc>
              <a:buNone/>
              <a:defRPr sz="1350" b="0">
                <a:solidFill>
                  <a:srgbClr val="536C74"/>
                </a:solidFill>
                <a:latin typeface="Arial"/>
                <a:ea typeface="Arial"/>
                <a:cs typeface="Arial"/>
              </a:defRPr>
            </a:pPr>
            <a:r>
              <a:rPr sz="1350" b="0">
                <a:solidFill>
                  <a:srgbClr val="536C74"/>
                </a:solidFill>
                <a:latin typeface="Arial"/>
                <a:ea typeface="Arial"/>
                <a:cs typeface="Arial"/>
              </a:rPr>
              <a:t>More explanation and evaluation</a:t>
            </a:r>
          </a:p>
        </p:txBody>
      </p:sp>
      <p:sp>
        <p:nvSpPr>
          <p:cNvPr id="17" name="Then">
            <a:extLst xmlns:a="http://schemas.openxmlformats.org/drawingml/2006/main">
              <a:ext uri="{FF2B5EF4-FFF2-40B4-BE49-F238E27FC236}">
                <a16:creationId xmlns:a16="http://schemas.microsoft.com/office/drawing/2014/main" id="{2C026897-1923-44A1-B48B-0088B327B0DB}"/>
              </a:ext>
            </a:extLst>
          </p:cNvPr>
          <p:cNvSpPr>
            <a:spLocks xmlns:a="http://schemas.openxmlformats.org/drawingml/2006/main" noGrp="1"/>
          </p:cNvSpPr>
          <p:nvPr/>
        </p:nvSpPr>
        <p:spPr>
          <a:xfrm xmlns:a="http://schemas.openxmlformats.org/drawingml/2006/main">
            <a:off x="5010150" y="35623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3B4A"/>
                </a:solidFill>
                <a:latin typeface="Arial"/>
                <a:ea typeface="Arial"/>
                <a:cs typeface="Arial"/>
              </a:defRPr>
            </a:defPPr>
          </a:lstStyle>
          <a:p xmlns:a="http://schemas.openxmlformats.org/drawingml/2006/main">
            <a:pPr algn="l">
              <a:lnSpc>
                <a:spcPct val="105000"/>
              </a:lnSpc>
              <a:buNone/>
              <a:defRPr sz="1650" b="1">
                <a:solidFill>
                  <a:srgbClr val="173B4A"/>
                </a:solidFill>
                <a:latin typeface="Arial"/>
                <a:ea typeface="Arial"/>
                <a:cs typeface="Arial"/>
              </a:defRPr>
            </a:pPr>
            <a:r>
              <a:rPr sz="1650" b="1">
                <a:solidFill>
                  <a:srgbClr val="173B4A"/>
                </a:solidFill>
                <a:latin typeface="Arial"/>
                <a:ea typeface="Arial"/>
                <a:cs typeface="Arial"/>
              </a:rPr>
              <a:t>Then</a:t>
            </a:r>
          </a:p>
        </p:txBody>
      </p:sp>
      <p:sp>
        <p:nvSpPr>
          <p:cNvPr id="18" name="Regional food coverage&#10;Multi">
            <a:extLst xmlns:a="http://schemas.openxmlformats.org/drawingml/2006/main">
              <a:ext uri="{FF2B5EF4-FFF2-40B4-BE49-F238E27FC236}">
                <a16:creationId xmlns:a16="http://schemas.microsoft.com/office/drawing/2014/main" id="{B519A97C-DA54-49F8-82F2-B2A5FED63E6E}"/>
              </a:ext>
            </a:extLst>
          </p:cNvPr>
          <p:cNvSpPr>
            <a:spLocks xmlns:a="http://schemas.openxmlformats.org/drawingml/2006/main" noGrp="1"/>
          </p:cNvSpPr>
          <p:nvPr/>
        </p:nvSpPr>
        <p:spPr>
          <a:xfrm xmlns:a="http://schemas.openxmlformats.org/drawingml/2006/main">
            <a:off x="5010150" y="3905250"/>
            <a:ext cx="21336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36C74"/>
                </a:solidFill>
                <a:latin typeface="Arial"/>
                <a:ea typeface="Arial"/>
                <a:cs typeface="Arial"/>
              </a:defRPr>
            </a:defPPr>
          </a:lstStyle>
          <a:p xmlns:a="http://schemas.openxmlformats.org/drawingml/2006/main">
            <a:pPr algn="l">
              <a:lnSpc>
                <a:spcPct val="105000"/>
              </a:lnSpc>
              <a:buNone/>
              <a:defRPr sz="1350" b="0">
                <a:solidFill>
                  <a:srgbClr val="536C74"/>
                </a:solidFill>
                <a:latin typeface="Arial"/>
                <a:ea typeface="Arial"/>
                <a:cs typeface="Arial"/>
              </a:defRPr>
            </a:pPr>
            <a:r>
              <a:rPr sz="1350" b="0">
                <a:solidFill>
                  <a:srgbClr val="536C74"/>
                </a:solidFill>
                <a:latin typeface="Arial"/>
                <a:ea typeface="Arial"/>
                <a:cs typeface="Arial"/>
              </a:rPr>
              <a:t>Regional food coverage</a:t>
            </a:r>
          </a:p>
          <a:p xmlns:a="http://schemas.openxmlformats.org/drawingml/2006/main">
            <a:pPr algn="l">
              <a:lnSpc>
                <a:spcPct val="105000"/>
              </a:lnSpc>
              <a:buNone/>
              <a:defRPr sz="1350" b="0">
                <a:solidFill>
                  <a:srgbClr val="536C74"/>
                </a:solidFill>
                <a:latin typeface="Arial"/>
                <a:ea typeface="Arial"/>
                <a:cs typeface="Arial"/>
              </a:defRPr>
            </a:pPr>
            <a:r>
              <a:rPr sz="1350" b="0">
                <a:solidFill>
                  <a:srgbClr val="536C74"/>
                </a:solidFill>
                <a:latin typeface="Arial"/>
                <a:ea typeface="Arial"/>
                <a:cs typeface="Arial"/>
              </a:rPr>
              <a:t>Multilingual support</a:t>
            </a:r>
          </a:p>
          <a:p xmlns:a="http://schemas.openxmlformats.org/drawingml/2006/main">
            <a:pPr algn="l">
              <a:lnSpc>
                <a:spcPct val="105000"/>
              </a:lnSpc>
              <a:buNone/>
              <a:defRPr sz="1350" b="0">
                <a:solidFill>
                  <a:srgbClr val="536C74"/>
                </a:solidFill>
                <a:latin typeface="Arial"/>
                <a:ea typeface="Arial"/>
                <a:cs typeface="Arial"/>
              </a:defRPr>
            </a:pPr>
            <a:r>
              <a:rPr sz="1350" b="0">
                <a:solidFill>
                  <a:srgbClr val="536C74"/>
                </a:solidFill>
                <a:latin typeface="Arial"/>
                <a:ea typeface="Arial"/>
                <a:cs typeface="Arial"/>
              </a:rPr>
              <a:t>Longitudinal trends</a:t>
            </a:r>
          </a:p>
        </p:txBody>
      </p:sp>
      <p:sp>
        <p:nvSpPr>
          <p:cNvPr id="19" name="Later">
            <a:extLst xmlns:a="http://schemas.openxmlformats.org/drawingml/2006/main">
              <a:ext uri="{FF2B5EF4-FFF2-40B4-BE49-F238E27FC236}">
                <a16:creationId xmlns:a16="http://schemas.microsoft.com/office/drawing/2014/main" id="{5AAE6A8B-B160-4246-A223-BEBCD2DECAC6}"/>
              </a:ext>
            </a:extLst>
          </p:cNvPr>
          <p:cNvSpPr>
            <a:spLocks xmlns:a="http://schemas.openxmlformats.org/drawingml/2006/main" noGrp="1"/>
          </p:cNvSpPr>
          <p:nvPr/>
        </p:nvSpPr>
        <p:spPr>
          <a:xfrm xmlns:a="http://schemas.openxmlformats.org/drawingml/2006/main">
            <a:off x="5010150" y="50482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73B4A"/>
                </a:solidFill>
                <a:latin typeface="Arial"/>
                <a:ea typeface="Arial"/>
                <a:cs typeface="Arial"/>
              </a:defRPr>
            </a:defPPr>
          </a:lstStyle>
          <a:p xmlns:a="http://schemas.openxmlformats.org/drawingml/2006/main">
            <a:pPr algn="l">
              <a:lnSpc>
                <a:spcPct val="105000"/>
              </a:lnSpc>
              <a:buNone/>
              <a:defRPr sz="1650" b="1">
                <a:solidFill>
                  <a:srgbClr val="173B4A"/>
                </a:solidFill>
                <a:latin typeface="Arial"/>
                <a:ea typeface="Arial"/>
                <a:cs typeface="Arial"/>
              </a:defRPr>
            </a:pPr>
            <a:r>
              <a:rPr sz="1650" b="1">
                <a:solidFill>
                  <a:srgbClr val="173B4A"/>
                </a:solidFill>
                <a:latin typeface="Arial"/>
                <a:ea typeface="Arial"/>
                <a:cs typeface="Arial"/>
              </a:rPr>
              <a:t>Later</a:t>
            </a:r>
          </a:p>
        </p:txBody>
      </p:sp>
      <p:sp>
        <p:nvSpPr>
          <p:cNvPr id="20" name="Privacy-preserving options a">
            <a:extLst xmlns:a="http://schemas.openxmlformats.org/drawingml/2006/main">
              <a:ext uri="{FF2B5EF4-FFF2-40B4-BE49-F238E27FC236}">
                <a16:creationId xmlns:a16="http://schemas.microsoft.com/office/drawing/2014/main" id="{215326DD-257A-4593-AB09-835BD7D3F847}"/>
              </a:ext>
            </a:extLst>
          </p:cNvPr>
          <p:cNvSpPr>
            <a:spLocks xmlns:a="http://schemas.openxmlformats.org/drawingml/2006/main" noGrp="1"/>
          </p:cNvSpPr>
          <p:nvPr/>
        </p:nvSpPr>
        <p:spPr>
          <a:xfrm xmlns:a="http://schemas.openxmlformats.org/drawingml/2006/main">
            <a:off x="5010150" y="5381625"/>
            <a:ext cx="2133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656"/>
          </a:bodyPr>
          <a:lstStyle xmlns:a="http://schemas.openxmlformats.org/drawingml/2006/main">
            <a:defPPr algn="l">
              <a:defRPr sz="1275" b="0">
                <a:solidFill>
                  <a:srgbClr val="536C74"/>
                </a:solidFill>
                <a:latin typeface="Arial"/>
                <a:ea typeface="Arial"/>
                <a:cs typeface="Arial"/>
              </a:defRPr>
            </a:defPPr>
          </a:lstStyle>
          <a:p xmlns:a="http://schemas.openxmlformats.org/drawingml/2006/main">
            <a:pPr algn="l">
              <a:lnSpc>
                <a:spcPct val="105000"/>
              </a:lnSpc>
              <a:buNone/>
              <a:defRPr sz="1275" b="0">
                <a:solidFill>
                  <a:srgbClr val="536C74"/>
                </a:solidFill>
                <a:latin typeface="Arial"/>
                <a:ea typeface="Arial"/>
                <a:cs typeface="Arial"/>
              </a:defRPr>
            </a:pPr>
            <a:r>
              <a:rPr sz="1275" b="0">
                <a:solidFill>
                  <a:srgbClr val="536C74"/>
                </a:solidFill>
                <a:latin typeface="Arial"/>
                <a:ea typeface="Arial"/>
                <a:cs typeface="Arial"/>
              </a:rPr>
              <a:t>Privacy-preserving options and partner integrations, where appropriate</a:t>
            </a:r>
          </a:p>
        </p:txBody>
      </p:sp>
      <p:sp>
        <p:nvSpPr>
          <p:cNvPr id="21" name="">
            <a:extLst xmlns:a="http://schemas.openxmlformats.org/drawingml/2006/main">
              <a:ext uri="{FF2B5EF4-FFF2-40B4-BE49-F238E27FC236}">
                <a16:creationId xmlns:a16="http://schemas.microsoft.com/office/drawing/2014/main" id="{4197933A-400B-490D-89EF-4C17505A71E0}"/>
              </a:ext>
            </a:extLst>
          </p:cNvPr>
          <p:cNvSpPr>
            <a:spLocks xmlns:a="http://schemas.openxmlformats.org/drawingml/2006/main" noGrp="1"/>
          </p:cNvSpPr>
          <p:nvPr/>
        </p:nvSpPr>
        <p:spPr>
          <a:xfrm xmlns:a="http://schemas.openxmlformats.org/drawingml/2006/main">
            <a:off x="7658100" y="1685925"/>
            <a:ext cx="3848100" cy="4171950"/>
          </a:xfrm>
          <a:prstGeom xmlns:a="http://schemas.openxmlformats.org/drawingml/2006/main" prst="rect">
            <a:avLst/>
          </a:prstGeom>
          <a:solidFill xmlns:a="http://schemas.openxmlformats.org/drawingml/2006/main">
            <a:srgbClr val="FFFFFF"/>
          </a:solidFill>
          <a:ln xmlns:a="http://schemas.openxmlformats.org/drawingml/2006/main" w="11430">
            <a:solidFill>
              <a:srgbClr val="D6E5E1"/>
            </a:solidFill>
            <a:prstDash val="solid"/>
          </a:ln>
        </p:spPr>
      </p:sp>
      <p:sp>
        <p:nvSpPr>
          <p:cNvPr id="22" name="REFERENCES &amp; PROJECT LINKS">
            <a:extLst xmlns:a="http://schemas.openxmlformats.org/drawingml/2006/main">
              <a:ext uri="{FF2B5EF4-FFF2-40B4-BE49-F238E27FC236}">
                <a16:creationId xmlns:a16="http://schemas.microsoft.com/office/drawing/2014/main" id="{4ABC47B3-39B5-49A2-B0BE-0E262CDF08F8}"/>
              </a:ext>
            </a:extLst>
          </p:cNvPr>
          <p:cNvSpPr>
            <a:spLocks xmlns:a="http://schemas.openxmlformats.org/drawingml/2006/main" noGrp="1"/>
          </p:cNvSpPr>
          <p:nvPr/>
        </p:nvSpPr>
        <p:spPr>
          <a:xfrm xmlns:a="http://schemas.openxmlformats.org/drawingml/2006/main">
            <a:off x="7867650" y="1885950"/>
            <a:ext cx="3381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176B65"/>
                </a:solidFill>
                <a:latin typeface="Arial"/>
                <a:ea typeface="Arial"/>
                <a:cs typeface="Arial"/>
              </a:defRPr>
            </a:defPPr>
          </a:lstStyle>
          <a:p xmlns:a="http://schemas.openxmlformats.org/drawingml/2006/main">
            <a:pPr algn="l">
              <a:lnSpc>
                <a:spcPct val="105000"/>
              </a:lnSpc>
              <a:buNone/>
              <a:defRPr sz="1125" b="1">
                <a:solidFill>
                  <a:srgbClr val="176B65"/>
                </a:solidFill>
                <a:latin typeface="Arial"/>
                <a:ea typeface="Arial"/>
                <a:cs typeface="Arial"/>
              </a:defRPr>
            </a:pPr>
            <a:r>
              <a:rPr sz="1125" b="1">
                <a:solidFill>
                  <a:srgbClr val="176B65"/>
                </a:solidFill>
                <a:latin typeface="Arial"/>
                <a:ea typeface="Arial"/>
                <a:cs typeface="Arial"/>
              </a:rPr>
              <a:t>REFERENCES &amp; PROJECT LINKS</a:t>
            </a:r>
          </a:p>
        </p:txBody>
      </p:sp>
      <p:sp>
        <p:nvSpPr>
          <p:cNvPr id="23" name="WHO: Healthy diet">
            <a:extLst xmlns:a="http://schemas.openxmlformats.org/drawingml/2006/main">
              <a:ext uri="{FF2B5EF4-FFF2-40B4-BE49-F238E27FC236}">
                <a16:creationId xmlns:a16="http://schemas.microsoft.com/office/drawing/2014/main" id="{5F2FDEF9-310E-4974-9F9B-2B6C2530A555}"/>
              </a:ext>
            </a:extLst>
          </p:cNvPr>
          <p:cNvSpPr>
            <a:spLocks xmlns:a="http://schemas.openxmlformats.org/drawingml/2006/main" noGrp="1"/>
          </p:cNvSpPr>
          <p:nvPr/>
        </p:nvSpPr>
        <p:spPr>
          <a:xfrm xmlns:a="http://schemas.openxmlformats.org/drawingml/2006/main">
            <a:off x="7867650" y="2314575"/>
            <a:ext cx="1638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76B65"/>
                </a:solidFill>
                <a:latin typeface="Arial"/>
                <a:ea typeface="Arial"/>
                <a:cs typeface="Arial"/>
              </a:defRPr>
            </a:defPPr>
          </a:lstStyle>
          <a:p xmlns:a="http://schemas.openxmlformats.org/drawingml/2006/main">
            <a:pPr algn="l">
              <a:defRPr sz="1200" b="0">
                <a:solidFill>
                  <a:srgbClr val="176B65"/>
                </a:solidFill>
                <a:latin typeface="Arial"/>
                <a:ea typeface="Arial"/>
                <a:cs typeface="Arial"/>
              </a:defRPr>
            </a:pPr>
            <a:r>
              <a:rPr sz="1200" u="sng">
                <a:solidFill>
                  <a:srgbClr val="176B65"/>
                </a:solidFill>
                <a:latin typeface="Arial"/>
                <a:ea typeface="Arial"/>
                <a:cs typeface="Arial"/>
                <a:hlinkClick xmlns:r="http://schemas.openxmlformats.org/officeDocument/2006/relationships" r:id="R6a1f5738904e435d"/>
              </a:rPr>
              <a:t>WHO: Healthy diet</a:t>
            </a:r>
          </a:p>
        </p:txBody>
      </p:sp>
      <p:sp>
        <p:nvSpPr>
          <p:cNvPr id="24" name="Yuka scanner">
            <a:extLst xmlns:a="http://schemas.openxmlformats.org/drawingml/2006/main">
              <a:ext uri="{FF2B5EF4-FFF2-40B4-BE49-F238E27FC236}">
                <a16:creationId xmlns:a16="http://schemas.microsoft.com/office/drawing/2014/main" id="{C92C24D5-B0CD-4723-B2B4-8333D4A177D0}"/>
              </a:ext>
            </a:extLst>
          </p:cNvPr>
          <p:cNvSpPr>
            <a:spLocks xmlns:a="http://schemas.openxmlformats.org/drawingml/2006/main" noGrp="1"/>
          </p:cNvSpPr>
          <p:nvPr/>
        </p:nvSpPr>
        <p:spPr>
          <a:xfrm xmlns:a="http://schemas.openxmlformats.org/drawingml/2006/main">
            <a:off x="9629775" y="2314575"/>
            <a:ext cx="1638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76B65"/>
                </a:solidFill>
                <a:latin typeface="Arial"/>
                <a:ea typeface="Arial"/>
                <a:cs typeface="Arial"/>
              </a:defRPr>
            </a:defPPr>
          </a:lstStyle>
          <a:p xmlns:a="http://schemas.openxmlformats.org/drawingml/2006/main">
            <a:pPr algn="l">
              <a:defRPr sz="1200" b="0">
                <a:solidFill>
                  <a:srgbClr val="176B65"/>
                </a:solidFill>
                <a:latin typeface="Arial"/>
                <a:ea typeface="Arial"/>
                <a:cs typeface="Arial"/>
              </a:defRPr>
            </a:pPr>
            <a:r>
              <a:rPr sz="1200" u="sng">
                <a:solidFill>
                  <a:srgbClr val="176B65"/>
                </a:solidFill>
                <a:latin typeface="Arial"/>
                <a:ea typeface="Arial"/>
                <a:cs typeface="Arial"/>
                <a:hlinkClick xmlns:r="http://schemas.openxmlformats.org/officeDocument/2006/relationships" r:id="Rb0360acda7974d29"/>
              </a:rPr>
              <a:t>Yuka scanner</a:t>
            </a:r>
          </a:p>
        </p:txBody>
      </p:sp>
      <p:sp>
        <p:nvSpPr>
          <p:cNvPr id="25" name="MyFitnessPal">
            <a:extLst xmlns:a="http://schemas.openxmlformats.org/drawingml/2006/main">
              <a:ext uri="{FF2B5EF4-FFF2-40B4-BE49-F238E27FC236}">
                <a16:creationId xmlns:a16="http://schemas.microsoft.com/office/drawing/2014/main" id="{8206696B-071E-4FCC-9257-3B100A1DF544}"/>
              </a:ext>
            </a:extLst>
          </p:cNvPr>
          <p:cNvSpPr>
            <a:spLocks xmlns:a="http://schemas.openxmlformats.org/drawingml/2006/main" noGrp="1"/>
          </p:cNvSpPr>
          <p:nvPr/>
        </p:nvSpPr>
        <p:spPr>
          <a:xfrm xmlns:a="http://schemas.openxmlformats.org/drawingml/2006/main">
            <a:off x="7867650" y="2924175"/>
            <a:ext cx="1638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76B65"/>
                </a:solidFill>
                <a:latin typeface="Arial"/>
                <a:ea typeface="Arial"/>
                <a:cs typeface="Arial"/>
              </a:defRPr>
            </a:defPPr>
          </a:lstStyle>
          <a:p xmlns:a="http://schemas.openxmlformats.org/drawingml/2006/main">
            <a:pPr algn="l">
              <a:defRPr sz="1200" b="0">
                <a:solidFill>
                  <a:srgbClr val="176B65"/>
                </a:solidFill>
                <a:latin typeface="Arial"/>
                <a:ea typeface="Arial"/>
                <a:cs typeface="Arial"/>
              </a:defRPr>
            </a:pPr>
            <a:r>
              <a:rPr sz="1200" u="sng">
                <a:solidFill>
                  <a:srgbClr val="176B65"/>
                </a:solidFill>
                <a:latin typeface="Arial"/>
                <a:ea typeface="Arial"/>
                <a:cs typeface="Arial"/>
                <a:hlinkClick xmlns:r="http://schemas.openxmlformats.org/officeDocument/2006/relationships" r:id="R5288dc5ac8134af0"/>
              </a:rPr>
              <a:t>MyFitnessPal</a:t>
            </a:r>
          </a:p>
        </p:txBody>
      </p:sp>
      <p:sp>
        <p:nvSpPr>
          <p:cNvPr id="26" name="Fodd scanner">
            <a:extLst xmlns:a="http://schemas.openxmlformats.org/drawingml/2006/main">
              <a:ext uri="{FF2B5EF4-FFF2-40B4-BE49-F238E27FC236}">
                <a16:creationId xmlns:a16="http://schemas.microsoft.com/office/drawing/2014/main" id="{F1EA5561-3BB8-4E8B-A341-63E5F9031FFA}"/>
              </a:ext>
            </a:extLst>
          </p:cNvPr>
          <p:cNvSpPr>
            <a:spLocks xmlns:a="http://schemas.openxmlformats.org/drawingml/2006/main" noGrp="1"/>
          </p:cNvSpPr>
          <p:nvPr/>
        </p:nvSpPr>
        <p:spPr>
          <a:xfrm xmlns:a="http://schemas.openxmlformats.org/drawingml/2006/main">
            <a:off x="9629775" y="2924175"/>
            <a:ext cx="1638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76B65"/>
                </a:solidFill>
                <a:latin typeface="Arial"/>
                <a:ea typeface="Arial"/>
                <a:cs typeface="Arial"/>
              </a:defRPr>
            </a:defPPr>
          </a:lstStyle>
          <a:p xmlns:a="http://schemas.openxmlformats.org/drawingml/2006/main">
            <a:pPr algn="l">
              <a:defRPr sz="1200" b="0">
                <a:solidFill>
                  <a:srgbClr val="176B65"/>
                </a:solidFill>
                <a:latin typeface="Arial"/>
                <a:ea typeface="Arial"/>
                <a:cs typeface="Arial"/>
              </a:defRPr>
            </a:pPr>
            <a:r>
              <a:rPr sz="1200" u="sng">
                <a:solidFill>
                  <a:srgbClr val="176B65"/>
                </a:solidFill>
                <a:latin typeface="Arial"/>
                <a:ea typeface="Arial"/>
                <a:cs typeface="Arial"/>
                <a:hlinkClick xmlns:r="http://schemas.openxmlformats.org/officeDocument/2006/relationships" r:id="Rc50cd582ddd04854"/>
              </a:rPr>
              <a:t>Fodd scanner</a:t>
            </a:r>
          </a:p>
        </p:txBody>
      </p:sp>
      <p:sp>
        <p:nvSpPr>
          <p:cNvPr id="27" name="Next.js docs">
            <a:extLst xmlns:a="http://schemas.openxmlformats.org/drawingml/2006/main">
              <a:ext uri="{FF2B5EF4-FFF2-40B4-BE49-F238E27FC236}">
                <a16:creationId xmlns:a16="http://schemas.microsoft.com/office/drawing/2014/main" id="{069EB7FF-B56F-4B69-815F-E622DF01431B}"/>
              </a:ext>
            </a:extLst>
          </p:cNvPr>
          <p:cNvSpPr>
            <a:spLocks xmlns:a="http://schemas.openxmlformats.org/drawingml/2006/main" noGrp="1"/>
          </p:cNvSpPr>
          <p:nvPr/>
        </p:nvSpPr>
        <p:spPr>
          <a:xfrm xmlns:a="http://schemas.openxmlformats.org/drawingml/2006/main">
            <a:off x="7867650" y="3533775"/>
            <a:ext cx="1638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76B65"/>
                </a:solidFill>
                <a:latin typeface="Arial"/>
                <a:ea typeface="Arial"/>
                <a:cs typeface="Arial"/>
              </a:defRPr>
            </a:defPPr>
          </a:lstStyle>
          <a:p xmlns:a="http://schemas.openxmlformats.org/drawingml/2006/main">
            <a:pPr algn="l">
              <a:defRPr sz="1200" b="0">
                <a:solidFill>
                  <a:srgbClr val="176B65"/>
                </a:solidFill>
                <a:latin typeface="Arial"/>
                <a:ea typeface="Arial"/>
                <a:cs typeface="Arial"/>
              </a:defRPr>
            </a:pPr>
            <a:r>
              <a:rPr sz="1200" u="sng">
                <a:solidFill>
                  <a:srgbClr val="176B65"/>
                </a:solidFill>
                <a:latin typeface="Arial"/>
                <a:ea typeface="Arial"/>
                <a:cs typeface="Arial"/>
                <a:hlinkClick xmlns:r="http://schemas.openxmlformats.org/officeDocument/2006/relationships" r:id="R22d4639107454ea3"/>
              </a:rPr>
              <a:t>Next.js docs</a:t>
            </a:r>
          </a:p>
        </p:txBody>
      </p:sp>
      <p:sp>
        <p:nvSpPr>
          <p:cNvPr id="28" name="FastAPI docs">
            <a:extLst xmlns:a="http://schemas.openxmlformats.org/drawingml/2006/main">
              <a:ext uri="{FF2B5EF4-FFF2-40B4-BE49-F238E27FC236}">
                <a16:creationId xmlns:a16="http://schemas.microsoft.com/office/drawing/2014/main" id="{BE55946B-D331-462D-9E88-35799D7D9ADE}"/>
              </a:ext>
            </a:extLst>
          </p:cNvPr>
          <p:cNvSpPr>
            <a:spLocks xmlns:a="http://schemas.openxmlformats.org/drawingml/2006/main" noGrp="1"/>
          </p:cNvSpPr>
          <p:nvPr/>
        </p:nvSpPr>
        <p:spPr>
          <a:xfrm xmlns:a="http://schemas.openxmlformats.org/drawingml/2006/main">
            <a:off x="9629775" y="3533775"/>
            <a:ext cx="1638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76B65"/>
                </a:solidFill>
                <a:latin typeface="Arial"/>
                <a:ea typeface="Arial"/>
                <a:cs typeface="Arial"/>
              </a:defRPr>
            </a:defPPr>
          </a:lstStyle>
          <a:p xmlns:a="http://schemas.openxmlformats.org/drawingml/2006/main">
            <a:pPr algn="l">
              <a:defRPr sz="1200" b="0">
                <a:solidFill>
                  <a:srgbClr val="176B65"/>
                </a:solidFill>
                <a:latin typeface="Arial"/>
                <a:ea typeface="Arial"/>
                <a:cs typeface="Arial"/>
              </a:defRPr>
            </a:pPr>
            <a:r>
              <a:rPr sz="1200" u="sng">
                <a:solidFill>
                  <a:srgbClr val="176B65"/>
                </a:solidFill>
                <a:latin typeface="Arial"/>
                <a:ea typeface="Arial"/>
                <a:cs typeface="Arial"/>
                <a:hlinkClick xmlns:r="http://schemas.openxmlformats.org/officeDocument/2006/relationships" r:id="Rcac60947d4104d0b"/>
              </a:rPr>
              <a:t>FastAPI docs</a:t>
            </a:r>
          </a:p>
        </p:txBody>
      </p:sp>
      <p:sp>
        <p:nvSpPr>
          <p:cNvPr id="29" name="scikit-learn docs">
            <a:extLst xmlns:a="http://schemas.openxmlformats.org/drawingml/2006/main">
              <a:ext uri="{FF2B5EF4-FFF2-40B4-BE49-F238E27FC236}">
                <a16:creationId xmlns:a16="http://schemas.microsoft.com/office/drawing/2014/main" id="{9E81E626-BC1B-467C-9F20-C766F37C8681}"/>
              </a:ext>
            </a:extLst>
          </p:cNvPr>
          <p:cNvSpPr>
            <a:spLocks xmlns:a="http://schemas.openxmlformats.org/drawingml/2006/main" noGrp="1"/>
          </p:cNvSpPr>
          <p:nvPr/>
        </p:nvSpPr>
        <p:spPr>
          <a:xfrm xmlns:a="http://schemas.openxmlformats.org/drawingml/2006/main">
            <a:off x="7867650" y="4143375"/>
            <a:ext cx="1638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76B65"/>
                </a:solidFill>
                <a:latin typeface="Arial"/>
                <a:ea typeface="Arial"/>
                <a:cs typeface="Arial"/>
              </a:defRPr>
            </a:defPPr>
          </a:lstStyle>
          <a:p xmlns:a="http://schemas.openxmlformats.org/drawingml/2006/main">
            <a:pPr algn="l">
              <a:defRPr sz="1200" b="0">
                <a:solidFill>
                  <a:srgbClr val="176B65"/>
                </a:solidFill>
                <a:latin typeface="Arial"/>
                <a:ea typeface="Arial"/>
                <a:cs typeface="Arial"/>
              </a:defRPr>
            </a:pPr>
            <a:r>
              <a:rPr sz="1200" u="sng">
                <a:solidFill>
                  <a:srgbClr val="176B65"/>
                </a:solidFill>
                <a:latin typeface="Arial"/>
                <a:ea typeface="Arial"/>
                <a:cs typeface="Arial"/>
                <a:hlinkClick xmlns:r="http://schemas.openxmlformats.org/officeDocument/2006/relationships" r:id="R69398d1b900b4c5e"/>
              </a:rPr>
              <a:t>scikit-learn docs</a:t>
            </a:r>
          </a:p>
        </p:txBody>
      </p:sp>
      <p:sp>
        <p:nvSpPr>
          <p:cNvPr id="30" name="Gemma docs">
            <a:extLst xmlns:a="http://schemas.openxmlformats.org/drawingml/2006/main">
              <a:ext uri="{FF2B5EF4-FFF2-40B4-BE49-F238E27FC236}">
                <a16:creationId xmlns:a16="http://schemas.microsoft.com/office/drawing/2014/main" id="{7E0A5F73-C3AB-4BBE-BD25-D912508E8A00}"/>
              </a:ext>
            </a:extLst>
          </p:cNvPr>
          <p:cNvSpPr>
            <a:spLocks xmlns:a="http://schemas.openxmlformats.org/drawingml/2006/main" noGrp="1"/>
          </p:cNvSpPr>
          <p:nvPr/>
        </p:nvSpPr>
        <p:spPr>
          <a:xfrm xmlns:a="http://schemas.openxmlformats.org/drawingml/2006/main">
            <a:off x="9629775" y="4143375"/>
            <a:ext cx="1638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76B65"/>
                </a:solidFill>
                <a:latin typeface="Arial"/>
                <a:ea typeface="Arial"/>
                <a:cs typeface="Arial"/>
              </a:defRPr>
            </a:defPPr>
          </a:lstStyle>
          <a:p xmlns:a="http://schemas.openxmlformats.org/drawingml/2006/main">
            <a:pPr algn="l">
              <a:defRPr sz="1200" b="0">
                <a:solidFill>
                  <a:srgbClr val="176B65"/>
                </a:solidFill>
                <a:latin typeface="Arial"/>
                <a:ea typeface="Arial"/>
                <a:cs typeface="Arial"/>
              </a:defRPr>
            </a:pPr>
            <a:r>
              <a:rPr sz="1200" u="sng">
                <a:solidFill>
                  <a:srgbClr val="176B65"/>
                </a:solidFill>
                <a:latin typeface="Arial"/>
                <a:ea typeface="Arial"/>
                <a:cs typeface="Arial"/>
                <a:hlinkClick xmlns:r="http://schemas.openxmlformats.org/officeDocument/2006/relationships" r:id="Rb64cbfd75d53460b"/>
              </a:rPr>
              <a:t>Gemma docs</a:t>
            </a:r>
          </a:p>
        </p:txBody>
      </p:sp>
      <p:sp>
        <p:nvSpPr>
          <p:cNvPr id="31" name="TorchXRayVision">
            <a:extLst xmlns:a="http://schemas.openxmlformats.org/drawingml/2006/main">
              <a:ext uri="{FF2B5EF4-FFF2-40B4-BE49-F238E27FC236}">
                <a16:creationId xmlns:a16="http://schemas.microsoft.com/office/drawing/2014/main" id="{036991F6-86DD-48A6-BE27-65AD37F5CDDA}"/>
              </a:ext>
            </a:extLst>
          </p:cNvPr>
          <p:cNvSpPr>
            <a:spLocks xmlns:a="http://schemas.openxmlformats.org/drawingml/2006/main" noGrp="1"/>
          </p:cNvSpPr>
          <p:nvPr/>
        </p:nvSpPr>
        <p:spPr>
          <a:xfrm xmlns:a="http://schemas.openxmlformats.org/drawingml/2006/main">
            <a:off x="7867650" y="4752975"/>
            <a:ext cx="1638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76B65"/>
                </a:solidFill>
                <a:latin typeface="Arial"/>
                <a:ea typeface="Arial"/>
                <a:cs typeface="Arial"/>
              </a:defRPr>
            </a:defPPr>
          </a:lstStyle>
          <a:p xmlns:a="http://schemas.openxmlformats.org/drawingml/2006/main">
            <a:pPr algn="l">
              <a:defRPr sz="1200" b="0">
                <a:solidFill>
                  <a:srgbClr val="176B65"/>
                </a:solidFill>
                <a:latin typeface="Arial"/>
                <a:ea typeface="Arial"/>
                <a:cs typeface="Arial"/>
              </a:defRPr>
            </a:pPr>
            <a:r>
              <a:rPr sz="1200" u="sng">
                <a:solidFill>
                  <a:srgbClr val="176B65"/>
                </a:solidFill>
                <a:latin typeface="Arial"/>
                <a:ea typeface="Arial"/>
                <a:cs typeface="Arial"/>
                <a:hlinkClick xmlns:r="http://schemas.openxmlformats.org/officeDocument/2006/relationships" r:id="R0058b263bbdc4862"/>
              </a:rPr>
              <a:t>TorchXRayVision</a:t>
            </a:r>
          </a:p>
        </p:txBody>
      </p:sp>
      <p:sp>
        <p:nvSpPr>
          <p:cNvPr id="32" name="VITALIS GitHub">
            <a:extLst xmlns:a="http://schemas.openxmlformats.org/drawingml/2006/main">
              <a:ext uri="{FF2B5EF4-FFF2-40B4-BE49-F238E27FC236}">
                <a16:creationId xmlns:a16="http://schemas.microsoft.com/office/drawing/2014/main" id="{F1C4BB48-ECCE-4685-8665-FCD12C063CDC}"/>
              </a:ext>
            </a:extLst>
          </p:cNvPr>
          <p:cNvSpPr>
            <a:spLocks xmlns:a="http://schemas.openxmlformats.org/drawingml/2006/main" noGrp="1"/>
          </p:cNvSpPr>
          <p:nvPr/>
        </p:nvSpPr>
        <p:spPr>
          <a:xfrm xmlns:a="http://schemas.openxmlformats.org/drawingml/2006/main">
            <a:off x="9629775" y="4752975"/>
            <a:ext cx="1638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76B65"/>
                </a:solidFill>
                <a:latin typeface="Arial"/>
                <a:ea typeface="Arial"/>
                <a:cs typeface="Arial"/>
              </a:defRPr>
            </a:defPPr>
          </a:lstStyle>
          <a:p xmlns:a="http://schemas.openxmlformats.org/drawingml/2006/main">
            <a:pPr algn="l">
              <a:defRPr sz="1200" b="0">
                <a:solidFill>
                  <a:srgbClr val="176B65"/>
                </a:solidFill>
                <a:latin typeface="Arial"/>
                <a:ea typeface="Arial"/>
                <a:cs typeface="Arial"/>
              </a:defRPr>
            </a:pPr>
            <a:r>
              <a:rPr sz="1200" u="sng">
                <a:solidFill>
                  <a:srgbClr val="176B65"/>
                </a:solidFill>
                <a:latin typeface="Arial"/>
                <a:ea typeface="Arial"/>
                <a:cs typeface="Arial"/>
                <a:hlinkClick xmlns:r="http://schemas.openxmlformats.org/officeDocument/2006/relationships" r:id="Rb962a23b06cb4568"/>
              </a:rPr>
              <a:t>VITALIS GitHub</a:t>
            </a:r>
          </a:p>
        </p:txBody>
      </p:sp>
      <p:sp>
        <p:nvSpPr>
          <p:cNvPr id="33" name="Understand the person. Under">
            <a:extLst xmlns:a="http://schemas.openxmlformats.org/drawingml/2006/main">
              <a:ext uri="{FF2B5EF4-FFF2-40B4-BE49-F238E27FC236}">
                <a16:creationId xmlns:a16="http://schemas.microsoft.com/office/drawing/2014/main" id="{78EB5BBD-3853-4A59-BA0E-4118A1FCF8D1}"/>
              </a:ext>
            </a:extLst>
          </p:cNvPr>
          <p:cNvSpPr>
            <a:spLocks xmlns:a="http://schemas.openxmlformats.org/drawingml/2006/main" noGrp="1"/>
          </p:cNvSpPr>
          <p:nvPr/>
        </p:nvSpPr>
        <p:spPr>
          <a:xfrm xmlns:a="http://schemas.openxmlformats.org/drawingml/2006/main">
            <a:off x="647700" y="6048375"/>
            <a:ext cx="108299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403"/>
          </a:bodyPr>
          <a:lstStyle xmlns:a="http://schemas.openxmlformats.org/drawingml/2006/main">
            <a:defPPr algn="ctr">
              <a:defRPr sz="1650" b="1">
                <a:solidFill>
                  <a:srgbClr val="176B65"/>
                </a:solidFill>
                <a:latin typeface="Arial"/>
                <a:ea typeface="Arial"/>
                <a:cs typeface="Arial"/>
              </a:defRPr>
            </a:defPPr>
          </a:lstStyle>
          <a:p xmlns:a="http://schemas.openxmlformats.org/drawingml/2006/main">
            <a:pPr algn="ctr">
              <a:lnSpc>
                <a:spcPct val="105000"/>
              </a:lnSpc>
              <a:buNone/>
              <a:defRPr sz="1650" b="1">
                <a:solidFill>
                  <a:srgbClr val="176B65"/>
                </a:solidFill>
                <a:latin typeface="Arial"/>
                <a:ea typeface="Arial"/>
                <a:cs typeface="Arial"/>
              </a:defRPr>
            </a:pPr>
            <a:r>
              <a:rPr sz="1650" b="1">
                <a:solidFill>
                  <a:srgbClr val="176B65"/>
                </a:solidFill>
                <a:latin typeface="Arial"/>
                <a:ea typeface="Arial"/>
                <a:cs typeface="Arial"/>
              </a:rPr>
              <a:t>Understand the person. Understand the food. Make guidance more personal.</a:t>
            </a:r>
          </a:p>
        </p:txBody>
      </p:sp>
    </p:spTree>
    <p:extLst>
      <p:ext uri="{BB962C8B-B14F-4D97-AF65-F5344CB8AC3E}">
        <p14:creationId xmlns:p14="http://schemas.microsoft.com/office/powerpoint/2010/main" val="16877934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2026-10-08T18:40:12.7790000Z</dcterms:created>
  <dcterms:modified xsi:type="dcterms:W3CDTF">2026-10-08T18:40:12.7790000Z</dcterms:modified>
</coreProperties>
</file>